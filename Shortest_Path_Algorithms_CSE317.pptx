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2.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0" i="0" u="none" strike="noStrike">
                <a:solidFill>
                  <a:srgbClr val="000000"/>
                </a:solidFill>
                <a:latin typeface="Arial"/>
              </a:defRPr>
            </a:pPr>
            <a:r>
              <a:rPr sz="1200" b="0" i="0" u="none" strike="noStrike">
                <a:solidFill>
                  <a:srgbClr val="000000"/>
                </a:solidFill>
                <a:latin typeface="Arial"/>
              </a:rPr>
              <a:t>Average Query Time (ms) by Graph Configuration</a:t>
            </a:r>
          </a:p>
        </c:rich>
      </c:tx>
      <c:layout/>
      <c:overlay val="0"/>
    </c:title>
    <c:autoTitleDeleted val="0"/>
    <c:plotArea>
      <c:layout/>
      <c:barChart>
        <c:barDir val="col"/>
        <c:grouping val="clustered"/>
        <c:varyColors val="0"/>
        <c:ser>
          <c:idx val="0"/>
          <c:order val="0"/>
          <c:tx>
            <c:strRef>
              <c:f>Sheet1!$B$1</c:f>
              <c:strCache>
                <c:ptCount val="1"/>
                <c:pt idx="0">
                  <c:v>BiDijkstra</c:v>
                </c:pt>
              </c:strCache>
            </c:strRef>
          </c:tx>
          <c:spPr>
            <a:solidFill>
              <a:srgbClr val="1E3A2F"/>
            </a:solidFill>
            <a:effectLst/>
          </c:spPr>
          <c:invertIfNegative val="0"/>
          <c:dLbls>
            <c:numFmt formatCode="#,##0" sourceLinked="0"/>
            <c:txPr>
              <a:bodyPr/>
              <a:lstStyle/>
              <a:p>
                <a:pPr>
                  <a:defRPr b="0" i="0" strike="noStrike" sz="1200" u="none">
                    <a:solidFill>
                      <a:srgbClr val="1E3A2F"/>
                    </a:solidFill>
                    <a:latin typeface="Arial"/>
                  </a:defRPr>
                </a:pPr>
              </a:p>
            </c:txPr>
            <c:showLegendKey val="0"/>
            <c:showVal val="0"/>
            <c:showCatName val="0"/>
            <c:showSerName val="0"/>
            <c:showPercent val="0"/>
            <c:showBubbleSize val="0"/>
            <c:showLeaderLines val="0"/>
          </c:dLbls>
          <c:cat>
            <c:multiLvlStrRef>
              <c:f>Sheet1!$A$2:$A$6</c:f>
              <c:multiLvlStrCache>
                <c:ptCount val="5"/>
                <c:lvl>
                  <c:pt idx="0">
                    <c:v>Small Sparse</c:v>
                  </c:pt>
                  <c:pt idx="1">
                    <c:v>Small Dense</c:v>
                  </c:pt>
                  <c:pt idx="2">
                    <c:v>Med Sparse</c:v>
                  </c:pt>
                  <c:pt idx="3">
                    <c:v>Med Dense</c:v>
                  </c:pt>
                  <c:pt idx="4">
                    <c:v>Large Sparse</c:v>
                  </c:pt>
                </c:lvl>
              </c:multiLvlStrCache>
            </c:multiLvlStrRef>
          </c:cat>
          <c:val>
            <c:numRef>
              <c:f>Sheet1!$B$2:$B$6</c:f>
              <c:numCache>
                <c:formatCode>General</c:formatCode>
                <c:ptCount val="5"/>
                <c:pt idx="0">
                  <c:v>0.05</c:v>
                </c:pt>
                <c:pt idx="1">
                  <c:v>0.092</c:v>
                </c:pt>
                <c:pt idx="2">
                  <c:v>0.336</c:v>
                </c:pt>
                <c:pt idx="3">
                  <c:v>0.976</c:v>
                </c:pt>
                <c:pt idx="4">
                  <c:v>1.238</c:v>
                </c:pt>
              </c:numCache>
            </c:numRef>
          </c:val>
        </c:ser>
        <c:ser>
          <c:idx val="1"/>
          <c:order val="1"/>
          <c:tx>
            <c:strRef>
              <c:f>Sheet1!$C$1</c:f>
              <c:strCache>
                <c:ptCount val="1"/>
                <c:pt idx="0">
                  <c:v>A*</c:v>
                </c:pt>
              </c:strCache>
            </c:strRef>
          </c:tx>
          <c:spPr>
            <a:solidFill>
              <a:srgbClr val="D4A017"/>
            </a:solidFill>
            <a:effectLst/>
          </c:spPr>
          <c:invertIfNegative val="0"/>
          <c:dLbls>
            <c:numFmt formatCode="#,##0" sourceLinked="0"/>
            <c:txPr>
              <a:bodyPr/>
              <a:lstStyle/>
              <a:p>
                <a:pPr>
                  <a:defRPr b="0" i="0" strike="noStrike" sz="1200" u="none">
                    <a:solidFill>
                      <a:srgbClr val="1E3A2F"/>
                    </a:solidFill>
                    <a:latin typeface="Arial"/>
                  </a:defRPr>
                </a:pPr>
              </a:p>
            </c:txPr>
            <c:showLegendKey val="0"/>
            <c:showVal val="0"/>
            <c:showCatName val="0"/>
            <c:showSerName val="0"/>
            <c:showPercent val="0"/>
            <c:showBubbleSize val="0"/>
            <c:showLeaderLines val="0"/>
          </c:dLbls>
          <c:cat>
            <c:multiLvlStrRef>
              <c:f>Sheet1!$A$2:$A$6</c:f>
              <c:multiLvlStrCache>
                <c:ptCount val="5"/>
                <c:lvl>
                  <c:pt idx="0">
                    <c:v>Small Sparse</c:v>
                  </c:pt>
                  <c:pt idx="1">
                    <c:v>Small Dense</c:v>
                  </c:pt>
                  <c:pt idx="2">
                    <c:v>Med Sparse</c:v>
                  </c:pt>
                  <c:pt idx="3">
                    <c:v>Med Dense</c:v>
                  </c:pt>
                  <c:pt idx="4">
                    <c:v>Large Sparse</c:v>
                  </c:pt>
                </c:lvl>
              </c:multiLvlStrCache>
            </c:multiLvlStrRef>
          </c:cat>
          <c:val>
            <c:numRef>
              <c:f>Sheet1!$C$2:$C$6</c:f>
              <c:numCache>
                <c:formatCode>General</c:formatCode>
                <c:ptCount val="5"/>
                <c:pt idx="0">
                  <c:v>0.023</c:v>
                </c:pt>
                <c:pt idx="1">
                  <c:v>0.05</c:v>
                </c:pt>
                <c:pt idx="2">
                  <c:v>0.323</c:v>
                </c:pt>
                <c:pt idx="3">
                  <c:v>0.99</c:v>
                </c:pt>
                <c:pt idx="4">
                  <c:v>1.836</c:v>
                </c:pt>
              </c:numCache>
            </c:numRef>
          </c:val>
        </c:ser>
        <c:ser>
          <c:idx val="2"/>
          <c:order val="2"/>
          <c:tx>
            <c:strRef>
              <c:f>Sheet1!$D$1</c:f>
              <c:strCache>
                <c:ptCount val="1"/>
                <c:pt idx="0">
                  <c:v>CH</c:v>
                </c:pt>
              </c:strCache>
            </c:strRef>
          </c:tx>
          <c:spPr>
            <a:solidFill>
              <a:srgbClr val="6B8E4E"/>
            </a:solidFill>
            <a:effectLst/>
          </c:spPr>
          <c:invertIfNegative val="0"/>
          <c:dLbls>
            <c:numFmt formatCode="#,##0" sourceLinked="0"/>
            <c:txPr>
              <a:bodyPr/>
              <a:lstStyle/>
              <a:p>
                <a:pPr>
                  <a:defRPr b="0" i="0" strike="noStrike" sz="1200" u="none">
                    <a:solidFill>
                      <a:srgbClr val="1E3A2F"/>
                    </a:solidFill>
                    <a:latin typeface="Arial"/>
                  </a:defRPr>
                </a:pPr>
              </a:p>
            </c:txPr>
            <c:showLegendKey val="0"/>
            <c:showVal val="0"/>
            <c:showCatName val="0"/>
            <c:showSerName val="0"/>
            <c:showPercent val="0"/>
            <c:showBubbleSize val="0"/>
            <c:showLeaderLines val="0"/>
          </c:dLbls>
          <c:cat>
            <c:multiLvlStrRef>
              <c:f>Sheet1!$A$2:$A$6</c:f>
              <c:multiLvlStrCache>
                <c:ptCount val="5"/>
                <c:lvl>
                  <c:pt idx="0">
                    <c:v>Small Sparse</c:v>
                  </c:pt>
                  <c:pt idx="1">
                    <c:v>Small Dense</c:v>
                  </c:pt>
                  <c:pt idx="2">
                    <c:v>Med Sparse</c:v>
                  </c:pt>
                  <c:pt idx="3">
                    <c:v>Med Dense</c:v>
                  </c:pt>
                  <c:pt idx="4">
                    <c:v>Large Sparse</c:v>
                  </c:pt>
                </c:lvl>
              </c:multiLvlStrCache>
            </c:multiLvlStrRef>
          </c:cat>
          <c:val>
            <c:numRef>
              <c:f>Sheet1!$D$2:$D$6</c:f>
              <c:numCache>
                <c:formatCode>General</c:formatCode>
                <c:ptCount val="5"/>
                <c:pt idx="0">
                  <c:v>0.038</c:v>
                </c:pt>
                <c:pt idx="1">
                  <c:v>0.108</c:v>
                </c:pt>
                <c:pt idx="2">
                  <c:v>0.285</c:v>
                </c:pt>
                <c:pt idx="3">
                  <c:v>0.918</c:v>
                </c:pt>
                <c:pt idx="4">
                  <c:v>1.1</c:v>
                </c:pt>
              </c:numCache>
            </c:numRef>
          </c:val>
        </c:ser>
        <c:ser>
          <c:idx val="3"/>
          <c:order val="3"/>
          <c:tx>
            <c:strRef>
              <c:f>Sheet1!$E$1</c:f>
              <c:strCache>
                <c:ptCount val="1"/>
                <c:pt idx="0">
                  <c:v>JPS</c:v>
                </c:pt>
              </c:strCache>
            </c:strRef>
          </c:tx>
          <c:spPr>
            <a:solidFill>
              <a:srgbClr val="8B5E3C"/>
            </a:solidFill>
            <a:effectLst/>
          </c:spPr>
          <c:invertIfNegative val="0"/>
          <c:dLbls>
            <c:numFmt formatCode="#,##0" sourceLinked="0"/>
            <c:txPr>
              <a:bodyPr/>
              <a:lstStyle/>
              <a:p>
                <a:pPr>
                  <a:defRPr b="0" i="0" strike="noStrike" sz="1200" u="none">
                    <a:solidFill>
                      <a:srgbClr val="1E3A2F"/>
                    </a:solidFill>
                    <a:latin typeface="Arial"/>
                  </a:defRPr>
                </a:pPr>
              </a:p>
            </c:txPr>
            <c:showLegendKey val="0"/>
            <c:showVal val="0"/>
            <c:showCatName val="0"/>
            <c:showSerName val="0"/>
            <c:showPercent val="0"/>
            <c:showBubbleSize val="0"/>
            <c:showLeaderLines val="0"/>
          </c:dLbls>
          <c:cat>
            <c:multiLvlStrRef>
              <c:f>Sheet1!$A$2:$A$6</c:f>
              <c:multiLvlStrCache>
                <c:ptCount val="5"/>
                <c:lvl>
                  <c:pt idx="0">
                    <c:v>Small Sparse</c:v>
                  </c:pt>
                  <c:pt idx="1">
                    <c:v>Small Dense</c:v>
                  </c:pt>
                  <c:pt idx="2">
                    <c:v>Med Sparse</c:v>
                  </c:pt>
                  <c:pt idx="3">
                    <c:v>Med Dense</c:v>
                  </c:pt>
                  <c:pt idx="4">
                    <c:v>Large Sparse</c:v>
                  </c:pt>
                </c:lvl>
              </c:multiLvlStrCache>
            </c:multiLvlStrRef>
          </c:cat>
          <c:val>
            <c:numRef>
              <c:f>Sheet1!$E$2:$E$6</c:f>
              <c:numCache>
                <c:formatCode>General</c:formatCode>
                <c:ptCount val="5"/>
                <c:pt idx="0">
                  <c:v>0.043</c:v>
                </c:pt>
                <c:pt idx="1">
                  <c:v>0.338</c:v>
                </c:pt>
                <c:pt idx="2">
                  <c:v>0.416</c:v>
                </c:pt>
                <c:pt idx="3">
                  <c:v>9.664</c:v>
                </c:pt>
                <c:pt idx="4">
                  <c:v>1.555</c:v>
                </c:pt>
              </c:numCache>
            </c:numRef>
          </c:val>
        </c:ser>
        <c:dLbls>
          <c:numFmt formatCode="#,##0" sourceLinked="0"/>
          <c:txPr>
            <a:bodyPr/>
            <a:lstStyle/>
            <a:p>
              <a:pPr>
                <a:defRPr b="0" i="0" strike="noStrike" sz="1200" u="none">
                  <a:solidFill>
                    <a:srgbClr val="1E3A2F"/>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504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8D0BC"/>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504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0" i="0" u="none" strike="noStrike">
                <a:solidFill>
                  <a:srgbClr val="000000"/>
                </a:solidFill>
                <a:latin typeface="Arial"/>
              </a:defRPr>
            </a:pPr>
            <a:r>
              <a:rPr sz="1200" b="0" i="0" u="none" strike="noStrike">
                <a:solidFill>
                  <a:srgbClr val="000000"/>
                </a:solidFill>
                <a:latin typeface="Arial"/>
              </a:rPr>
              <a:t>Average Operations Count by Graph Configuration</a:t>
            </a:r>
          </a:p>
        </c:rich>
      </c:tx>
      <c:layout/>
      <c:overlay val="0"/>
    </c:title>
    <c:autoTitleDeleted val="0"/>
    <c:plotArea>
      <c:layout/>
      <c:barChart>
        <c:barDir val="col"/>
        <c:grouping val="clustered"/>
        <c:varyColors val="0"/>
        <c:ser>
          <c:idx val="0"/>
          <c:order val="0"/>
          <c:tx>
            <c:strRef>
              <c:f>Sheet1!$B$1</c:f>
              <c:strCache>
                <c:ptCount val="1"/>
                <c:pt idx="0">
                  <c:v>Avg Operations</c:v>
                </c:pt>
              </c:strCache>
            </c:strRef>
          </c:tx>
          <c:spPr>
            <a:solidFill>
              <a:srgbClr val="1E3A2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Small Sparse</c:v>
                  </c:pt>
                  <c:pt idx="1">
                    <c:v>Small Dense</c:v>
                  </c:pt>
                  <c:pt idx="2">
                    <c:v>Med Sparse</c:v>
                  </c:pt>
                  <c:pt idx="3">
                    <c:v>Med Dense</c:v>
                  </c:pt>
                  <c:pt idx="4">
                    <c:v>Large Sparse</c:v>
                  </c:pt>
                </c:lvl>
              </c:multiLvlStrCache>
            </c:multiLvlStrRef>
          </c:cat>
          <c:val>
            <c:numRef>
              <c:f>Sheet1!$B$2:$B$6</c:f>
              <c:numCache>
                <c:formatCode>General</c:formatCode>
                <c:ptCount val="5"/>
                <c:pt idx="0">
                  <c:v>146</c:v>
                </c:pt>
                <c:pt idx="1">
                  <c:v>471</c:v>
                </c:pt>
                <c:pt idx="2">
                  <c:v>1135</c:v>
                </c:pt>
                <c:pt idx="3">
                  <c:v>5805</c:v>
                </c:pt>
                <c:pt idx="4">
                  <c:v>4189</c:v>
                </c:pt>
              </c:numCache>
            </c:numRef>
          </c:val>
        </c:ser>
        <c:ser>
          <c:idx val="1"/>
          <c:order val="1"/>
          <c:tx>
            <c:strRef>
              <c:f>Sheet1!$C$1</c:f>
              <c:strCache>
                <c:ptCount val="1"/>
                <c:pt idx="0">
                  <c:v>A* Ops</c:v>
                </c:pt>
              </c:strCache>
            </c:strRef>
          </c:tx>
          <c:spPr>
            <a:solidFill>
              <a:srgbClr val="D4A01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Small Sparse</c:v>
                  </c:pt>
                  <c:pt idx="1">
                    <c:v>Small Dense</c:v>
                  </c:pt>
                  <c:pt idx="2">
                    <c:v>Med Sparse</c:v>
                  </c:pt>
                  <c:pt idx="3">
                    <c:v>Med Dense</c:v>
                  </c:pt>
                  <c:pt idx="4">
                    <c:v>Large Sparse</c:v>
                  </c:pt>
                </c:lvl>
              </c:multiLvlStrCache>
            </c:multiLvlStrRef>
          </c:cat>
          <c:val>
            <c:numRef>
              <c:f>Sheet1!$C$2:$C$6</c:f>
              <c:numCache>
                <c:formatCode>General</c:formatCode>
                <c:ptCount val="5"/>
                <c:pt idx="0">
                  <c:v>126</c:v>
                </c:pt>
                <c:pt idx="1">
                  <c:v>257</c:v>
                </c:pt>
                <c:pt idx="2">
                  <c:v>845</c:v>
                </c:pt>
                <c:pt idx="3">
                  <c:v>2712</c:v>
                </c:pt>
                <c:pt idx="4">
                  <c:v>2122</c:v>
                </c:pt>
              </c:numCache>
            </c:numRef>
          </c:val>
        </c:ser>
        <c:ser>
          <c:idx val="2"/>
          <c:order val="2"/>
          <c:tx>
            <c:strRef>
              <c:f>Sheet1!$D$1</c:f>
              <c:strCache>
                <c:ptCount val="1"/>
                <c:pt idx="0">
                  <c:v>CH Ops</c:v>
                </c:pt>
              </c:strCache>
            </c:strRef>
          </c:tx>
          <c:spPr>
            <a:solidFill>
              <a:srgbClr val="6B8E4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Small Sparse</c:v>
                  </c:pt>
                  <c:pt idx="1">
                    <c:v>Small Dense</c:v>
                  </c:pt>
                  <c:pt idx="2">
                    <c:v>Med Sparse</c:v>
                  </c:pt>
                  <c:pt idx="3">
                    <c:v>Med Dense</c:v>
                  </c:pt>
                  <c:pt idx="4">
                    <c:v>Large Sparse</c:v>
                  </c:pt>
                </c:lvl>
              </c:multiLvlStrCache>
            </c:multiLvlStrRef>
          </c:cat>
          <c:val>
            <c:numRef>
              <c:f>Sheet1!$D$2:$D$6</c:f>
              <c:numCache>
                <c:formatCode>General</c:formatCode>
                <c:ptCount val="5"/>
                <c:pt idx="0">
                  <c:v>165</c:v>
                </c:pt>
                <c:pt idx="1">
                  <c:v>306</c:v>
                </c:pt>
                <c:pt idx="2">
                  <c:v>1065</c:v>
                </c:pt>
                <c:pt idx="3">
                  <c:v>2194</c:v>
                </c:pt>
                <c:pt idx="4">
                  <c:v>3533</c:v>
                </c:pt>
              </c:numCache>
            </c:numRef>
          </c:val>
        </c:ser>
        <c:ser>
          <c:idx val="3"/>
          <c:order val="3"/>
          <c:tx>
            <c:strRef>
              <c:f>Sheet1!$E$1</c:f>
              <c:strCache>
                <c:ptCount val="1"/>
                <c:pt idx="0">
                  <c:v>JPS Ops</c:v>
                </c:pt>
              </c:strCache>
            </c:strRef>
          </c:tx>
          <c:spPr>
            <a:solidFill>
              <a:srgbClr val="8B5E3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Small Sparse</c:v>
                  </c:pt>
                  <c:pt idx="1">
                    <c:v>Small Dense</c:v>
                  </c:pt>
                  <c:pt idx="2">
                    <c:v>Med Sparse</c:v>
                  </c:pt>
                  <c:pt idx="3">
                    <c:v>Med Dense</c:v>
                  </c:pt>
                  <c:pt idx="4">
                    <c:v>Large Sparse</c:v>
                  </c:pt>
                </c:lvl>
              </c:multiLvlStrCache>
            </c:multiLvlStrRef>
          </c:cat>
          <c:val>
            <c:numRef>
              <c:f>Sheet1!$E$2:$E$6</c:f>
              <c:numCache>
                <c:formatCode>General</c:formatCode>
                <c:ptCount val="5"/>
                <c:pt idx="0">
                  <c:v>83</c:v>
                </c:pt>
                <c:pt idx="1">
                  <c:v>212</c:v>
                </c:pt>
                <c:pt idx="2">
                  <c:v>540</c:v>
                </c:pt>
                <c:pt idx="3">
                  <c:v>2030</c:v>
                </c:pt>
                <c:pt idx="4">
                  <c:v>1657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504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8D0B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504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2F"/>
        </a:solidFill>
      </p:bgPr>
    </p:bg>
    <p:spTree>
      <p:nvGrpSpPr>
        <p:cNvPr id="1" name=""/>
        <p:cNvGrpSpPr/>
        <p:nvPr/>
      </p:nvGrpSpPr>
      <p:grpSpPr>
        <a:xfrm>
          <a:off x="0" y="0"/>
          <a:ext cx="0" cy="0"/>
          <a:chOff x="0" y="0"/>
          <a:chExt cx="0" cy="0"/>
        </a:xfrm>
      </p:grpSpPr>
      <p:sp>
        <p:nvSpPr>
          <p:cNvPr id="2" name="Text 0"/>
          <p:cNvSpPr/>
          <p:nvPr/>
        </p:nvSpPr>
        <p:spPr>
          <a:xfrm>
            <a:off x="137160" y="91440"/>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3" name="Text 1"/>
          <p:cNvSpPr/>
          <p:nvPr/>
        </p:nvSpPr>
        <p:spPr>
          <a:xfrm>
            <a:off x="137160" y="292608"/>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4" name="Text 2"/>
          <p:cNvSpPr/>
          <p:nvPr/>
        </p:nvSpPr>
        <p:spPr>
          <a:xfrm>
            <a:off x="7909560" y="4754880"/>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5" name="Text 3"/>
          <p:cNvSpPr/>
          <p:nvPr/>
        </p:nvSpPr>
        <p:spPr>
          <a:xfrm>
            <a:off x="7909560" y="4956048"/>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6" name="Shape 4"/>
          <p:cNvSpPr/>
          <p:nvPr/>
        </p:nvSpPr>
        <p:spPr>
          <a:xfrm>
            <a:off x="8138160" y="-502920"/>
            <a:ext cx="1828800" cy="1828800"/>
          </a:xfrm>
          <a:prstGeom prst="ellipse">
            <a:avLst/>
          </a:prstGeom>
          <a:ln w="101600">
            <a:solidFill>
              <a:srgbClr val="FFFFFF"/>
            </a:solidFill>
            <a:prstDash val="solid"/>
          </a:ln>
        </p:spPr>
      </p:sp>
      <p:sp>
        <p:nvSpPr>
          <p:cNvPr id="7" name="Shape 5"/>
          <p:cNvSpPr/>
          <p:nvPr/>
        </p:nvSpPr>
        <p:spPr>
          <a:xfrm>
            <a:off x="-640080" y="3749040"/>
            <a:ext cx="1828800" cy="1828800"/>
          </a:xfrm>
          <a:prstGeom prst="ellipse">
            <a:avLst/>
          </a:prstGeom>
          <a:ln w="101600">
            <a:solidFill>
              <a:srgbClr val="FFFFFF"/>
            </a:solidFill>
            <a:prstDash val="solid"/>
          </a:ln>
        </p:spPr>
      </p:sp>
      <p:sp>
        <p:nvSpPr>
          <p:cNvPr id="8" name="Text 6"/>
          <p:cNvSpPr/>
          <p:nvPr/>
        </p:nvSpPr>
        <p:spPr>
          <a:xfrm>
            <a:off x="274320" y="822960"/>
            <a:ext cx="8595360" cy="1005840"/>
          </a:xfrm>
          <a:prstGeom prst="rect">
            <a:avLst/>
          </a:prstGeom>
          <a:noFill/>
          <a:ln/>
        </p:spPr>
        <p:txBody>
          <a:bodyPr wrap="square" lIns="0" tIns="0" rIns="0" bIns="0" rtlCol="0" anchor="ctr"/>
          <a:lstStyle/>
          <a:p>
            <a:pPr algn="ctr" indent="0" marL="0">
              <a:buNone/>
            </a:pPr>
            <a:r>
              <a:rPr lang="en-US" sz="6000" b="1" dirty="0">
                <a:solidFill>
                  <a:srgbClr val="D4A017"/>
                </a:solidFill>
                <a:latin typeface="Arial Black" pitchFamily="34" charset="0"/>
                <a:ea typeface="Arial Black" pitchFamily="34" charset="-122"/>
                <a:cs typeface="Arial Black" pitchFamily="34" charset="-120"/>
              </a:rPr>
              <a:t>SHORTEST PATH</a:t>
            </a:r>
            <a:endParaRPr lang="en-US" sz="6000" dirty="0"/>
          </a:p>
        </p:txBody>
      </p:sp>
      <p:sp>
        <p:nvSpPr>
          <p:cNvPr id="9" name="Text 7"/>
          <p:cNvSpPr/>
          <p:nvPr/>
        </p:nvSpPr>
        <p:spPr>
          <a:xfrm>
            <a:off x="274320" y="1783080"/>
            <a:ext cx="8595360" cy="914400"/>
          </a:xfrm>
          <a:prstGeom prst="rect">
            <a:avLst/>
          </a:prstGeom>
          <a:noFill/>
          <a:ln/>
        </p:spPr>
        <p:txBody>
          <a:bodyPr wrap="square" lIns="0" tIns="0" rIns="0" bIns="0" rtlCol="0" anchor="ctr"/>
          <a:lstStyle/>
          <a:p>
            <a:pPr algn="ctr" indent="0" marL="0">
              <a:buNone/>
            </a:pPr>
            <a:r>
              <a:rPr lang="en-US" sz="6000" b="1" dirty="0">
                <a:solidFill>
                  <a:srgbClr val="D4A017"/>
                </a:solidFill>
                <a:latin typeface="Arial Black" pitchFamily="34" charset="0"/>
                <a:ea typeface="Arial Black" pitchFamily="34" charset="-122"/>
                <a:cs typeface="Arial Black" pitchFamily="34" charset="-120"/>
              </a:rPr>
              <a:t>ALGORITHMS</a:t>
            </a:r>
            <a:endParaRPr lang="en-US" sz="6000" dirty="0"/>
          </a:p>
        </p:txBody>
      </p:sp>
      <p:sp>
        <p:nvSpPr>
          <p:cNvPr id="10" name="Shape 8"/>
          <p:cNvSpPr/>
          <p:nvPr/>
        </p:nvSpPr>
        <p:spPr>
          <a:xfrm>
            <a:off x="731520" y="2880360"/>
            <a:ext cx="7680960" cy="0"/>
          </a:xfrm>
          <a:prstGeom prst="line">
            <a:avLst/>
          </a:prstGeom>
          <a:noFill/>
          <a:ln w="12700">
            <a:solidFill>
              <a:srgbClr val="C8C0A8"/>
            </a:solidFill>
            <a:prstDash val="solid"/>
          </a:ln>
        </p:spPr>
      </p:sp>
      <p:sp>
        <p:nvSpPr>
          <p:cNvPr id="11" name="Text 9"/>
          <p:cNvSpPr/>
          <p:nvPr/>
        </p:nvSpPr>
        <p:spPr>
          <a:xfrm>
            <a:off x="731520" y="3063240"/>
            <a:ext cx="7680960" cy="365760"/>
          </a:xfrm>
          <a:prstGeom prst="rect">
            <a:avLst/>
          </a:prstGeom>
          <a:noFill/>
          <a:ln/>
        </p:spPr>
        <p:txBody>
          <a:bodyPr wrap="square" lIns="0" tIns="0" rIns="0" bIns="0" rtlCol="0" anchor="ctr"/>
          <a:lstStyle/>
          <a:p>
            <a:pPr algn="ctr" indent="0" marL="0">
              <a:buNone/>
            </a:pPr>
            <a:r>
              <a:rPr lang="en-US" sz="1300" dirty="0">
                <a:solidFill>
                  <a:srgbClr val="C8C0A8"/>
                </a:solidFill>
                <a:latin typeface="Calibri" pitchFamily="34" charset="0"/>
                <a:ea typeface="Calibri" pitchFamily="34" charset="-122"/>
                <a:cs typeface="Calibri" pitchFamily="34" charset="-120"/>
              </a:rPr>
              <a:t>Bidirectional Dijkstra  ·  A* Search  ·  Jump Point Search  ·  Contraction Hierarchies</a:t>
            </a:r>
            <a:endParaRPr lang="en-US" sz="1300" dirty="0"/>
          </a:p>
        </p:txBody>
      </p:sp>
      <p:sp>
        <p:nvSpPr>
          <p:cNvPr id="12" name="Text 10"/>
          <p:cNvSpPr/>
          <p:nvPr/>
        </p:nvSpPr>
        <p:spPr>
          <a:xfrm>
            <a:off x="731520" y="4480560"/>
            <a:ext cx="7680960" cy="274320"/>
          </a:xfrm>
          <a:prstGeom prst="rect">
            <a:avLst/>
          </a:prstGeom>
          <a:noFill/>
          <a:ln/>
        </p:spPr>
        <p:txBody>
          <a:bodyPr wrap="square" lIns="0" tIns="0" rIns="0" bIns="0" rtlCol="0" anchor="ctr"/>
          <a:lstStyle/>
          <a:p>
            <a:pPr algn="ctr" indent="0" marL="0">
              <a:buNone/>
            </a:pPr>
            <a:r>
              <a:rPr lang="en-US" sz="1000" dirty="0">
                <a:solidFill>
                  <a:srgbClr val="C8C0A8"/>
                </a:solidFill>
                <a:latin typeface="Calibri" pitchFamily="34" charset="0"/>
                <a:ea typeface="Calibri" pitchFamily="34" charset="-122"/>
                <a:cs typeface="Calibri" pitchFamily="34" charset="-120"/>
              </a:rPr>
              <a:t>CSE 317: Design and Analysis of Algorithms  |  Spring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EAD6"/>
        </a:solidFill>
      </p:bgPr>
    </p:bg>
    <p:spTree>
      <p:nvGrpSpPr>
        <p:cNvPr id="1" name=""/>
        <p:cNvGrpSpPr/>
        <p:nvPr/>
      </p:nvGrpSpPr>
      <p:grpSpPr>
        <a:xfrm>
          <a:off x="0" y="0"/>
          <a:ext cx="0" cy="0"/>
          <a:chOff x="0" y="0"/>
          <a:chExt cx="0" cy="0"/>
        </a:xfrm>
      </p:grpSpPr>
      <p:sp>
        <p:nvSpPr>
          <p:cNvPr id="2" name="Text 0"/>
          <p:cNvSpPr/>
          <p:nvPr/>
        </p:nvSpPr>
        <p:spPr>
          <a:xfrm>
            <a:off x="109728" y="73152"/>
            <a:ext cx="1097280" cy="182880"/>
          </a:xfrm>
          <a:prstGeom prst="rect">
            <a:avLst/>
          </a:prstGeom>
          <a:noFill/>
          <a:ln/>
        </p:spPr>
        <p:txBody>
          <a:bodyPr wrap="square" lIns="0" tIns="0" rIns="0" bIns="0" rtlCol="0" anchor="ctr"/>
          <a:lstStyle/>
          <a:p>
            <a:pPr indent="0" marL="0">
              <a:buNone/>
            </a:pPr>
            <a:r>
              <a:rPr lang="en-US" sz="1100" b="1" spc="200" kern="0" dirty="0">
                <a:solidFill>
                  <a:srgbClr val="8A8070"/>
                </a:solidFill>
                <a:latin typeface="Calibri" pitchFamily="34" charset="0"/>
                <a:ea typeface="Calibri" pitchFamily="34" charset="-122"/>
                <a:cs typeface="Calibri" pitchFamily="34" charset="-120"/>
              </a:rPr>
              <a:t>\\\\\\</a:t>
            </a:r>
            <a:endParaRPr lang="en-US" sz="1100" dirty="0"/>
          </a:p>
        </p:txBody>
      </p:sp>
      <p:sp>
        <p:nvSpPr>
          <p:cNvPr id="3" name="Text 1"/>
          <p:cNvSpPr/>
          <p:nvPr/>
        </p:nvSpPr>
        <p:spPr>
          <a:xfrm>
            <a:off x="109728" y="274320"/>
            <a:ext cx="1097280" cy="182880"/>
          </a:xfrm>
          <a:prstGeom prst="rect">
            <a:avLst/>
          </a:prstGeom>
          <a:noFill/>
          <a:ln/>
        </p:spPr>
        <p:txBody>
          <a:bodyPr wrap="square" lIns="0" tIns="0" rIns="0" bIns="0" rtlCol="0" anchor="ctr"/>
          <a:lstStyle/>
          <a:p>
            <a:pPr indent="0" marL="0">
              <a:buNone/>
            </a:pPr>
            <a:r>
              <a:rPr lang="en-US" sz="1100" b="1" spc="200" kern="0" dirty="0">
                <a:solidFill>
                  <a:srgbClr val="8A8070"/>
                </a:solidFill>
                <a:latin typeface="Calibri" pitchFamily="34" charset="0"/>
                <a:ea typeface="Calibri" pitchFamily="34" charset="-122"/>
                <a:cs typeface="Calibri" pitchFamily="34" charset="-120"/>
              </a:rPr>
              <a:t>\\\\\\</a:t>
            </a:r>
            <a:endParaRPr lang="en-US" sz="1100" dirty="0"/>
          </a:p>
        </p:txBody>
      </p:sp>
      <p:sp>
        <p:nvSpPr>
          <p:cNvPr id="4" name="Text 2"/>
          <p:cNvSpPr/>
          <p:nvPr/>
        </p:nvSpPr>
        <p:spPr>
          <a:xfrm>
            <a:off x="7772400" y="4773168"/>
            <a:ext cx="1371600" cy="182880"/>
          </a:xfrm>
          <a:prstGeom prst="rect">
            <a:avLst/>
          </a:prstGeom>
          <a:noFill/>
          <a:ln/>
        </p:spPr>
        <p:txBody>
          <a:bodyPr wrap="square" lIns="0" tIns="0" rIns="0" bIns="0" rtlCol="0" anchor="ctr"/>
          <a:lstStyle/>
          <a:p>
            <a:pPr indent="0" marL="0">
              <a:buNone/>
            </a:pPr>
            <a:r>
              <a:rPr lang="en-US" sz="900" spc="300" kern="0" dirty="0">
                <a:solidFill>
                  <a:srgbClr val="8A8070"/>
                </a:solidFill>
                <a:latin typeface="Calibri" pitchFamily="34" charset="0"/>
                <a:ea typeface="Calibri" pitchFamily="34" charset="-122"/>
                <a:cs typeface="Calibri" pitchFamily="34" charset="-120"/>
              </a:rPr>
              <a:t>× × × ×</a:t>
            </a:r>
            <a:endParaRPr lang="en-US" sz="900" dirty="0"/>
          </a:p>
        </p:txBody>
      </p:sp>
      <p:sp>
        <p:nvSpPr>
          <p:cNvPr id="5" name="Text 3"/>
          <p:cNvSpPr/>
          <p:nvPr/>
        </p:nvSpPr>
        <p:spPr>
          <a:xfrm>
            <a:off x="7772400" y="4956048"/>
            <a:ext cx="1371600" cy="182880"/>
          </a:xfrm>
          <a:prstGeom prst="rect">
            <a:avLst/>
          </a:prstGeom>
          <a:noFill/>
          <a:ln/>
        </p:spPr>
        <p:txBody>
          <a:bodyPr wrap="square" lIns="0" tIns="0" rIns="0" bIns="0" rtlCol="0" anchor="ctr"/>
          <a:lstStyle/>
          <a:p>
            <a:pPr indent="0" marL="0">
              <a:buNone/>
            </a:pPr>
            <a:r>
              <a:rPr lang="en-US" sz="900" spc="300" kern="0" dirty="0">
                <a:solidFill>
                  <a:srgbClr val="8A8070"/>
                </a:solidFill>
                <a:latin typeface="Calibri" pitchFamily="34" charset="0"/>
                <a:ea typeface="Calibri" pitchFamily="34" charset="-122"/>
                <a:cs typeface="Calibri" pitchFamily="34" charset="-120"/>
              </a:rPr>
              <a:t>× × × ×</a:t>
            </a:r>
            <a:endParaRPr lang="en-US" sz="900" dirty="0"/>
          </a:p>
        </p:txBody>
      </p:sp>
      <p:sp>
        <p:nvSpPr>
          <p:cNvPr id="6" name="Text 4"/>
          <p:cNvSpPr/>
          <p:nvPr/>
        </p:nvSpPr>
        <p:spPr>
          <a:xfrm>
            <a:off x="457200" y="201168"/>
            <a:ext cx="8229600" cy="594360"/>
          </a:xfrm>
          <a:prstGeom prst="rect">
            <a:avLst/>
          </a:prstGeom>
          <a:noFill/>
          <a:ln/>
        </p:spPr>
        <p:txBody>
          <a:bodyPr wrap="square" lIns="0" tIns="0" rIns="0" bIns="0" rtlCol="0" anchor="ctr"/>
          <a:lstStyle/>
          <a:p>
            <a:pPr algn="ctr" indent="0" marL="0">
              <a:buNone/>
            </a:pPr>
            <a:r>
              <a:rPr lang="en-US" sz="2600" b="1" dirty="0">
                <a:solidFill>
                  <a:srgbClr val="1E3A2F"/>
                </a:solidFill>
                <a:latin typeface="Calibri" pitchFamily="34" charset="0"/>
                <a:ea typeface="Calibri" pitchFamily="34" charset="-122"/>
                <a:cs typeface="Calibri" pitchFamily="34" charset="-120"/>
              </a:rPr>
              <a:t>CONTENTS</a:t>
            </a:r>
            <a:endParaRPr lang="en-US" sz="2600" dirty="0"/>
          </a:p>
        </p:txBody>
      </p:sp>
      <p:sp>
        <p:nvSpPr>
          <p:cNvPr id="7" name="Shape 5"/>
          <p:cNvSpPr/>
          <p:nvPr/>
        </p:nvSpPr>
        <p:spPr>
          <a:xfrm>
            <a:off x="411480" y="868680"/>
            <a:ext cx="8321040" cy="731520"/>
          </a:xfrm>
          <a:prstGeom prst="rect">
            <a:avLst/>
          </a:prstGeom>
          <a:solidFill>
            <a:srgbClr val="D8D0BC"/>
          </a:solidFill>
          <a:ln w="12700">
            <a:solidFill>
              <a:srgbClr val="B8B0A0"/>
            </a:solidFill>
            <a:prstDash val="solid"/>
          </a:ln>
          <a:effectLst>
            <a:outerShdw sx="100000" sy="100000" kx="0" ky="0" algn="bl" rotWithShape="0" blurRad="50800" dist="25400" dir="8100000">
              <a:srgbClr val="000000">
                <a:alpha val="8000"/>
              </a:srgbClr>
            </a:outerShdw>
          </a:effectLst>
        </p:spPr>
      </p:sp>
      <p:sp>
        <p:nvSpPr>
          <p:cNvPr id="8" name="Shape 6"/>
          <p:cNvSpPr/>
          <p:nvPr/>
        </p:nvSpPr>
        <p:spPr>
          <a:xfrm>
            <a:off x="548640" y="960120"/>
            <a:ext cx="548640" cy="548640"/>
          </a:xfrm>
          <a:prstGeom prst="ellipse">
            <a:avLst/>
          </a:prstGeom>
          <a:solidFill>
            <a:srgbClr val="D4A017"/>
          </a:solidFill>
          <a:ln w="12700">
            <a:solidFill>
              <a:srgbClr val="D4A017"/>
            </a:solidFill>
            <a:prstDash val="solid"/>
          </a:ln>
        </p:spPr>
      </p:sp>
      <p:sp>
        <p:nvSpPr>
          <p:cNvPr id="9" name="Text 7"/>
          <p:cNvSpPr/>
          <p:nvPr/>
        </p:nvSpPr>
        <p:spPr>
          <a:xfrm>
            <a:off x="548640" y="960120"/>
            <a:ext cx="548640" cy="548640"/>
          </a:xfrm>
          <a:prstGeom prst="rect">
            <a:avLst/>
          </a:prstGeom>
          <a:noFill/>
          <a:ln/>
        </p:spPr>
        <p:txBody>
          <a:bodyPr wrap="square" lIns="0" tIns="0" rIns="0" bIns="0" rtlCol="0" anchor="ctr"/>
          <a:lstStyle/>
          <a:p>
            <a:pPr algn="ctr" indent="0" marL="0">
              <a:buNone/>
            </a:pPr>
            <a:r>
              <a:rPr lang="en-US" sz="1400" b="1" dirty="0">
                <a:solidFill>
                  <a:srgbClr val="1E3A2F"/>
                </a:solidFill>
              </a:rPr>
              <a:t>01</a:t>
            </a:r>
            <a:endParaRPr lang="en-US" sz="1400" dirty="0"/>
          </a:p>
        </p:txBody>
      </p:sp>
      <p:sp>
        <p:nvSpPr>
          <p:cNvPr id="10" name="Text 8"/>
          <p:cNvSpPr/>
          <p:nvPr/>
        </p:nvSpPr>
        <p:spPr>
          <a:xfrm>
            <a:off x="1234440" y="941832"/>
            <a:ext cx="7360920" cy="274320"/>
          </a:xfrm>
          <a:prstGeom prst="rect">
            <a:avLst/>
          </a:prstGeom>
          <a:noFill/>
          <a:ln/>
        </p:spPr>
        <p:txBody>
          <a:bodyPr wrap="square" lIns="0" tIns="0" rIns="0" bIns="0" rtlCol="0" anchor="ctr"/>
          <a:lstStyle/>
          <a:p>
            <a:pPr indent="0" marL="0">
              <a:buNone/>
            </a:pPr>
            <a:r>
              <a:rPr lang="en-US" sz="1300" b="1" dirty="0">
                <a:solidFill>
                  <a:srgbClr val="1E3A2F"/>
                </a:solidFill>
                <a:latin typeface="Calibri" pitchFamily="34" charset="0"/>
                <a:ea typeface="Calibri" pitchFamily="34" charset="-122"/>
                <a:cs typeface="Calibri" pitchFamily="34" charset="-120"/>
              </a:rPr>
              <a:t>Bidirectional Dijkstra</a:t>
            </a:r>
            <a:endParaRPr lang="en-US" sz="1300" dirty="0"/>
          </a:p>
        </p:txBody>
      </p:sp>
      <p:sp>
        <p:nvSpPr>
          <p:cNvPr id="11" name="Text 9"/>
          <p:cNvSpPr/>
          <p:nvPr/>
        </p:nvSpPr>
        <p:spPr>
          <a:xfrm>
            <a:off x="1234440" y="1188720"/>
            <a:ext cx="7360920" cy="274320"/>
          </a:xfrm>
          <a:prstGeom prst="rect">
            <a:avLst/>
          </a:prstGeom>
          <a:noFill/>
          <a:ln/>
        </p:spPr>
        <p:txBody>
          <a:bodyPr wrap="square" lIns="0" tIns="0" rIns="0" bIns="0" rtlCol="0" anchor="ctr"/>
          <a:lstStyle/>
          <a:p>
            <a:pPr indent="0" marL="0">
              <a:buNone/>
            </a:pPr>
            <a:r>
              <a:rPr lang="en-US" sz="1000" dirty="0">
                <a:solidFill>
                  <a:srgbClr val="5A5040"/>
                </a:solidFill>
                <a:latin typeface="Calibri" pitchFamily="34" charset="0"/>
                <a:ea typeface="Calibri" pitchFamily="34" charset="-122"/>
                <a:cs typeface="Calibri" pitchFamily="34" charset="-120"/>
              </a:rPr>
              <a:t>Meet-in-the-middle, O((V+E)log V)</a:t>
            </a:r>
            <a:endParaRPr lang="en-US" sz="1000" dirty="0"/>
          </a:p>
        </p:txBody>
      </p:sp>
      <p:sp>
        <p:nvSpPr>
          <p:cNvPr id="12" name="Shape 10"/>
          <p:cNvSpPr/>
          <p:nvPr/>
        </p:nvSpPr>
        <p:spPr>
          <a:xfrm>
            <a:off x="411480" y="1673352"/>
            <a:ext cx="8321040" cy="731520"/>
          </a:xfrm>
          <a:prstGeom prst="rect">
            <a:avLst/>
          </a:prstGeom>
          <a:solidFill>
            <a:srgbClr val="D8D0BC"/>
          </a:solidFill>
          <a:ln w="12700">
            <a:solidFill>
              <a:srgbClr val="B8B0A0"/>
            </a:solidFill>
            <a:prstDash val="solid"/>
          </a:ln>
          <a:effectLst>
            <a:outerShdw sx="100000" sy="100000" kx="0" ky="0" algn="bl" rotWithShape="0" blurRad="50800" dist="25400" dir="8100000">
              <a:srgbClr val="000000">
                <a:alpha val="8000"/>
              </a:srgbClr>
            </a:outerShdw>
          </a:effectLst>
        </p:spPr>
      </p:sp>
      <p:sp>
        <p:nvSpPr>
          <p:cNvPr id="13" name="Shape 11"/>
          <p:cNvSpPr/>
          <p:nvPr/>
        </p:nvSpPr>
        <p:spPr>
          <a:xfrm>
            <a:off x="548640" y="1764792"/>
            <a:ext cx="548640" cy="548640"/>
          </a:xfrm>
          <a:prstGeom prst="ellipse">
            <a:avLst/>
          </a:prstGeom>
          <a:solidFill>
            <a:srgbClr val="D4A017"/>
          </a:solidFill>
          <a:ln w="12700">
            <a:solidFill>
              <a:srgbClr val="D4A017"/>
            </a:solidFill>
            <a:prstDash val="solid"/>
          </a:ln>
        </p:spPr>
      </p:sp>
      <p:sp>
        <p:nvSpPr>
          <p:cNvPr id="14" name="Text 12"/>
          <p:cNvSpPr/>
          <p:nvPr/>
        </p:nvSpPr>
        <p:spPr>
          <a:xfrm>
            <a:off x="548640" y="1764792"/>
            <a:ext cx="548640" cy="548640"/>
          </a:xfrm>
          <a:prstGeom prst="rect">
            <a:avLst/>
          </a:prstGeom>
          <a:noFill/>
          <a:ln/>
        </p:spPr>
        <p:txBody>
          <a:bodyPr wrap="square" lIns="0" tIns="0" rIns="0" bIns="0" rtlCol="0" anchor="ctr"/>
          <a:lstStyle/>
          <a:p>
            <a:pPr algn="ctr" indent="0" marL="0">
              <a:buNone/>
            </a:pPr>
            <a:r>
              <a:rPr lang="en-US" sz="1400" b="1" dirty="0">
                <a:solidFill>
                  <a:srgbClr val="1E3A2F"/>
                </a:solidFill>
              </a:rPr>
              <a:t>02</a:t>
            </a:r>
            <a:endParaRPr lang="en-US" sz="1400" dirty="0"/>
          </a:p>
        </p:txBody>
      </p:sp>
      <p:sp>
        <p:nvSpPr>
          <p:cNvPr id="15" name="Text 13"/>
          <p:cNvSpPr/>
          <p:nvPr/>
        </p:nvSpPr>
        <p:spPr>
          <a:xfrm>
            <a:off x="1234440" y="1746504"/>
            <a:ext cx="7360920" cy="274320"/>
          </a:xfrm>
          <a:prstGeom prst="rect">
            <a:avLst/>
          </a:prstGeom>
          <a:noFill/>
          <a:ln/>
        </p:spPr>
        <p:txBody>
          <a:bodyPr wrap="square" lIns="0" tIns="0" rIns="0" bIns="0" rtlCol="0" anchor="ctr"/>
          <a:lstStyle/>
          <a:p>
            <a:pPr indent="0" marL="0">
              <a:buNone/>
            </a:pPr>
            <a:r>
              <a:rPr lang="en-US" sz="1300" b="1" dirty="0">
                <a:solidFill>
                  <a:srgbClr val="1E3A2F"/>
                </a:solidFill>
                <a:latin typeface="Calibri" pitchFamily="34" charset="0"/>
                <a:ea typeface="Calibri" pitchFamily="34" charset="-122"/>
                <a:cs typeface="Calibri" pitchFamily="34" charset="-120"/>
              </a:rPr>
              <a:t>A* Search Algorithm</a:t>
            </a:r>
            <a:endParaRPr lang="en-US" sz="1300" dirty="0"/>
          </a:p>
        </p:txBody>
      </p:sp>
      <p:sp>
        <p:nvSpPr>
          <p:cNvPr id="16" name="Text 14"/>
          <p:cNvSpPr/>
          <p:nvPr/>
        </p:nvSpPr>
        <p:spPr>
          <a:xfrm>
            <a:off x="1234440" y="1993392"/>
            <a:ext cx="7360920" cy="274320"/>
          </a:xfrm>
          <a:prstGeom prst="rect">
            <a:avLst/>
          </a:prstGeom>
          <a:noFill/>
          <a:ln/>
        </p:spPr>
        <p:txBody>
          <a:bodyPr wrap="square" lIns="0" tIns="0" rIns="0" bIns="0" rtlCol="0" anchor="ctr"/>
          <a:lstStyle/>
          <a:p>
            <a:pPr indent="0" marL="0">
              <a:buNone/>
            </a:pPr>
            <a:r>
              <a:rPr lang="en-US" sz="1000" dirty="0">
                <a:solidFill>
                  <a:srgbClr val="5A5040"/>
                </a:solidFill>
                <a:latin typeface="Calibri" pitchFamily="34" charset="0"/>
                <a:ea typeface="Calibri" pitchFamily="34" charset="-122"/>
                <a:cs typeface="Calibri" pitchFamily="34" charset="-120"/>
              </a:rPr>
              <a:t>Heuristic-guided search, f(n)=g(n)+h(n)</a:t>
            </a:r>
            <a:endParaRPr lang="en-US" sz="1000" dirty="0"/>
          </a:p>
        </p:txBody>
      </p:sp>
      <p:sp>
        <p:nvSpPr>
          <p:cNvPr id="17" name="Shape 15"/>
          <p:cNvSpPr/>
          <p:nvPr/>
        </p:nvSpPr>
        <p:spPr>
          <a:xfrm>
            <a:off x="411480" y="2478024"/>
            <a:ext cx="8321040" cy="731520"/>
          </a:xfrm>
          <a:prstGeom prst="rect">
            <a:avLst/>
          </a:prstGeom>
          <a:solidFill>
            <a:srgbClr val="D8D0BC"/>
          </a:solidFill>
          <a:ln w="12700">
            <a:solidFill>
              <a:srgbClr val="B8B0A0"/>
            </a:solidFill>
            <a:prstDash val="solid"/>
          </a:ln>
          <a:effectLst>
            <a:outerShdw sx="100000" sy="100000" kx="0" ky="0" algn="bl" rotWithShape="0" blurRad="50800" dist="25400" dir="8100000">
              <a:srgbClr val="000000">
                <a:alpha val="8000"/>
              </a:srgbClr>
            </a:outerShdw>
          </a:effectLst>
        </p:spPr>
      </p:sp>
      <p:sp>
        <p:nvSpPr>
          <p:cNvPr id="18" name="Shape 16"/>
          <p:cNvSpPr/>
          <p:nvPr/>
        </p:nvSpPr>
        <p:spPr>
          <a:xfrm>
            <a:off x="548640" y="2569464"/>
            <a:ext cx="548640" cy="548640"/>
          </a:xfrm>
          <a:prstGeom prst="ellipse">
            <a:avLst/>
          </a:prstGeom>
          <a:solidFill>
            <a:srgbClr val="D4A017"/>
          </a:solidFill>
          <a:ln w="12700">
            <a:solidFill>
              <a:srgbClr val="D4A017"/>
            </a:solidFill>
            <a:prstDash val="solid"/>
          </a:ln>
        </p:spPr>
      </p:sp>
      <p:sp>
        <p:nvSpPr>
          <p:cNvPr id="19" name="Text 17"/>
          <p:cNvSpPr/>
          <p:nvPr/>
        </p:nvSpPr>
        <p:spPr>
          <a:xfrm>
            <a:off x="548640" y="2569464"/>
            <a:ext cx="548640" cy="548640"/>
          </a:xfrm>
          <a:prstGeom prst="rect">
            <a:avLst/>
          </a:prstGeom>
          <a:noFill/>
          <a:ln/>
        </p:spPr>
        <p:txBody>
          <a:bodyPr wrap="square" lIns="0" tIns="0" rIns="0" bIns="0" rtlCol="0" anchor="ctr"/>
          <a:lstStyle/>
          <a:p>
            <a:pPr algn="ctr" indent="0" marL="0">
              <a:buNone/>
            </a:pPr>
            <a:r>
              <a:rPr lang="en-US" sz="1400" b="1" dirty="0">
                <a:solidFill>
                  <a:srgbClr val="1E3A2F"/>
                </a:solidFill>
              </a:rPr>
              <a:t>03</a:t>
            </a:r>
            <a:endParaRPr lang="en-US" sz="1400" dirty="0"/>
          </a:p>
        </p:txBody>
      </p:sp>
      <p:sp>
        <p:nvSpPr>
          <p:cNvPr id="20" name="Text 18"/>
          <p:cNvSpPr/>
          <p:nvPr/>
        </p:nvSpPr>
        <p:spPr>
          <a:xfrm>
            <a:off x="1234440" y="2551176"/>
            <a:ext cx="7360920" cy="274320"/>
          </a:xfrm>
          <a:prstGeom prst="rect">
            <a:avLst/>
          </a:prstGeom>
          <a:noFill/>
          <a:ln/>
        </p:spPr>
        <p:txBody>
          <a:bodyPr wrap="square" lIns="0" tIns="0" rIns="0" bIns="0" rtlCol="0" anchor="ctr"/>
          <a:lstStyle/>
          <a:p>
            <a:pPr indent="0" marL="0">
              <a:buNone/>
            </a:pPr>
            <a:r>
              <a:rPr lang="en-US" sz="1300" b="1" dirty="0">
                <a:solidFill>
                  <a:srgbClr val="1E3A2F"/>
                </a:solidFill>
                <a:latin typeface="Calibri" pitchFamily="34" charset="0"/>
                <a:ea typeface="Calibri" pitchFamily="34" charset="-122"/>
                <a:cs typeface="Calibri" pitchFamily="34" charset="-120"/>
              </a:rPr>
              <a:t>Jump Point Search</a:t>
            </a:r>
            <a:endParaRPr lang="en-US" sz="1300" dirty="0"/>
          </a:p>
        </p:txBody>
      </p:sp>
      <p:sp>
        <p:nvSpPr>
          <p:cNvPr id="21" name="Text 19"/>
          <p:cNvSpPr/>
          <p:nvPr/>
        </p:nvSpPr>
        <p:spPr>
          <a:xfrm>
            <a:off x="1234440" y="2798064"/>
            <a:ext cx="7360920" cy="274320"/>
          </a:xfrm>
          <a:prstGeom prst="rect">
            <a:avLst/>
          </a:prstGeom>
          <a:noFill/>
          <a:ln/>
        </p:spPr>
        <p:txBody>
          <a:bodyPr wrap="square" lIns="0" tIns="0" rIns="0" bIns="0" rtlCol="0" anchor="ctr"/>
          <a:lstStyle/>
          <a:p>
            <a:pPr indent="0" marL="0">
              <a:buNone/>
            </a:pPr>
            <a:r>
              <a:rPr lang="en-US" sz="1000" dirty="0">
                <a:solidFill>
                  <a:srgbClr val="5A5040"/>
                </a:solidFill>
                <a:latin typeface="Calibri" pitchFamily="34" charset="0"/>
                <a:ea typeface="Calibri" pitchFamily="34" charset="-122"/>
                <a:cs typeface="Calibri" pitchFamily="34" charset="-120"/>
              </a:rPr>
              <a:t>Grid optimization, O(√V) best case</a:t>
            </a:r>
            <a:endParaRPr lang="en-US" sz="1000" dirty="0"/>
          </a:p>
        </p:txBody>
      </p:sp>
      <p:sp>
        <p:nvSpPr>
          <p:cNvPr id="22" name="Shape 20"/>
          <p:cNvSpPr/>
          <p:nvPr/>
        </p:nvSpPr>
        <p:spPr>
          <a:xfrm>
            <a:off x="411480" y="3282696"/>
            <a:ext cx="8321040" cy="731520"/>
          </a:xfrm>
          <a:prstGeom prst="rect">
            <a:avLst/>
          </a:prstGeom>
          <a:solidFill>
            <a:srgbClr val="D8D0BC"/>
          </a:solidFill>
          <a:ln w="12700">
            <a:solidFill>
              <a:srgbClr val="B8B0A0"/>
            </a:solidFill>
            <a:prstDash val="solid"/>
          </a:ln>
          <a:effectLst>
            <a:outerShdw sx="100000" sy="100000" kx="0" ky="0" algn="bl" rotWithShape="0" blurRad="50800" dist="25400" dir="8100000">
              <a:srgbClr val="000000">
                <a:alpha val="8000"/>
              </a:srgbClr>
            </a:outerShdw>
          </a:effectLst>
        </p:spPr>
      </p:sp>
      <p:sp>
        <p:nvSpPr>
          <p:cNvPr id="23" name="Shape 21"/>
          <p:cNvSpPr/>
          <p:nvPr/>
        </p:nvSpPr>
        <p:spPr>
          <a:xfrm>
            <a:off x="548640" y="3374136"/>
            <a:ext cx="548640" cy="548640"/>
          </a:xfrm>
          <a:prstGeom prst="ellipse">
            <a:avLst/>
          </a:prstGeom>
          <a:solidFill>
            <a:srgbClr val="D4A017"/>
          </a:solidFill>
          <a:ln w="12700">
            <a:solidFill>
              <a:srgbClr val="D4A017"/>
            </a:solidFill>
            <a:prstDash val="solid"/>
          </a:ln>
        </p:spPr>
      </p:sp>
      <p:sp>
        <p:nvSpPr>
          <p:cNvPr id="24" name="Text 22"/>
          <p:cNvSpPr/>
          <p:nvPr/>
        </p:nvSpPr>
        <p:spPr>
          <a:xfrm>
            <a:off x="548640" y="3374136"/>
            <a:ext cx="548640" cy="548640"/>
          </a:xfrm>
          <a:prstGeom prst="rect">
            <a:avLst/>
          </a:prstGeom>
          <a:noFill/>
          <a:ln/>
        </p:spPr>
        <p:txBody>
          <a:bodyPr wrap="square" lIns="0" tIns="0" rIns="0" bIns="0" rtlCol="0" anchor="ctr"/>
          <a:lstStyle/>
          <a:p>
            <a:pPr algn="ctr" indent="0" marL="0">
              <a:buNone/>
            </a:pPr>
            <a:r>
              <a:rPr lang="en-US" sz="1400" b="1" dirty="0">
                <a:solidFill>
                  <a:srgbClr val="1E3A2F"/>
                </a:solidFill>
              </a:rPr>
              <a:t>04</a:t>
            </a:r>
            <a:endParaRPr lang="en-US" sz="1400" dirty="0"/>
          </a:p>
        </p:txBody>
      </p:sp>
      <p:sp>
        <p:nvSpPr>
          <p:cNvPr id="25" name="Text 23"/>
          <p:cNvSpPr/>
          <p:nvPr/>
        </p:nvSpPr>
        <p:spPr>
          <a:xfrm>
            <a:off x="1234440" y="3355848"/>
            <a:ext cx="7360920" cy="274320"/>
          </a:xfrm>
          <a:prstGeom prst="rect">
            <a:avLst/>
          </a:prstGeom>
          <a:noFill/>
          <a:ln/>
        </p:spPr>
        <p:txBody>
          <a:bodyPr wrap="square" lIns="0" tIns="0" rIns="0" bIns="0" rtlCol="0" anchor="ctr"/>
          <a:lstStyle/>
          <a:p>
            <a:pPr indent="0" marL="0">
              <a:buNone/>
            </a:pPr>
            <a:r>
              <a:rPr lang="en-US" sz="1300" b="1" dirty="0">
                <a:solidFill>
                  <a:srgbClr val="1E3A2F"/>
                </a:solidFill>
                <a:latin typeface="Calibri" pitchFamily="34" charset="0"/>
                <a:ea typeface="Calibri" pitchFamily="34" charset="-122"/>
                <a:cs typeface="Calibri" pitchFamily="34" charset="-120"/>
              </a:rPr>
              <a:t>Contraction Hierarchies</a:t>
            </a:r>
            <a:endParaRPr lang="en-US" sz="1300" dirty="0"/>
          </a:p>
        </p:txBody>
      </p:sp>
      <p:sp>
        <p:nvSpPr>
          <p:cNvPr id="26" name="Text 24"/>
          <p:cNvSpPr/>
          <p:nvPr/>
        </p:nvSpPr>
        <p:spPr>
          <a:xfrm>
            <a:off x="1234440" y="3602736"/>
            <a:ext cx="7360920" cy="274320"/>
          </a:xfrm>
          <a:prstGeom prst="rect">
            <a:avLst/>
          </a:prstGeom>
          <a:noFill/>
          <a:ln/>
        </p:spPr>
        <p:txBody>
          <a:bodyPr wrap="square" lIns="0" tIns="0" rIns="0" bIns="0" rtlCol="0" anchor="ctr"/>
          <a:lstStyle/>
          <a:p>
            <a:pPr indent="0" marL="0">
              <a:buNone/>
            </a:pPr>
            <a:r>
              <a:rPr lang="en-US" sz="1000" dirty="0">
                <a:solidFill>
                  <a:srgbClr val="5A5040"/>
                </a:solidFill>
                <a:latin typeface="Calibri" pitchFamily="34" charset="0"/>
                <a:ea typeface="Calibri" pitchFamily="34" charset="-122"/>
                <a:cs typeface="Calibri" pitchFamily="34" charset="-120"/>
              </a:rPr>
              <a:t>Preprocessing shortcuts, near O(log V) queries</a:t>
            </a:r>
            <a:endParaRPr lang="en-US" sz="1000" dirty="0"/>
          </a:p>
        </p:txBody>
      </p:sp>
      <p:sp>
        <p:nvSpPr>
          <p:cNvPr id="27" name="Shape 25"/>
          <p:cNvSpPr/>
          <p:nvPr/>
        </p:nvSpPr>
        <p:spPr>
          <a:xfrm>
            <a:off x="411480" y="4087368"/>
            <a:ext cx="8321040" cy="731520"/>
          </a:xfrm>
          <a:prstGeom prst="rect">
            <a:avLst/>
          </a:prstGeom>
          <a:solidFill>
            <a:srgbClr val="D8D0BC"/>
          </a:solidFill>
          <a:ln w="12700">
            <a:solidFill>
              <a:srgbClr val="B8B0A0"/>
            </a:solidFill>
            <a:prstDash val="solid"/>
          </a:ln>
          <a:effectLst>
            <a:outerShdw sx="100000" sy="100000" kx="0" ky="0" algn="bl" rotWithShape="0" blurRad="50800" dist="25400" dir="8100000">
              <a:srgbClr val="000000">
                <a:alpha val="8000"/>
              </a:srgbClr>
            </a:outerShdw>
          </a:effectLst>
        </p:spPr>
      </p:sp>
      <p:sp>
        <p:nvSpPr>
          <p:cNvPr id="28" name="Shape 26"/>
          <p:cNvSpPr/>
          <p:nvPr/>
        </p:nvSpPr>
        <p:spPr>
          <a:xfrm>
            <a:off x="548640" y="4178808"/>
            <a:ext cx="548640" cy="548640"/>
          </a:xfrm>
          <a:prstGeom prst="ellipse">
            <a:avLst/>
          </a:prstGeom>
          <a:solidFill>
            <a:srgbClr val="D4A017"/>
          </a:solidFill>
          <a:ln w="12700">
            <a:solidFill>
              <a:srgbClr val="D4A017"/>
            </a:solidFill>
            <a:prstDash val="solid"/>
          </a:ln>
        </p:spPr>
      </p:sp>
      <p:sp>
        <p:nvSpPr>
          <p:cNvPr id="29" name="Text 27"/>
          <p:cNvSpPr/>
          <p:nvPr/>
        </p:nvSpPr>
        <p:spPr>
          <a:xfrm>
            <a:off x="548640" y="4178808"/>
            <a:ext cx="548640" cy="548640"/>
          </a:xfrm>
          <a:prstGeom prst="rect">
            <a:avLst/>
          </a:prstGeom>
          <a:noFill/>
          <a:ln/>
        </p:spPr>
        <p:txBody>
          <a:bodyPr wrap="square" lIns="0" tIns="0" rIns="0" bIns="0" rtlCol="0" anchor="ctr"/>
          <a:lstStyle/>
          <a:p>
            <a:pPr algn="ctr" indent="0" marL="0">
              <a:buNone/>
            </a:pPr>
            <a:r>
              <a:rPr lang="en-US" sz="1400" b="1" dirty="0">
                <a:solidFill>
                  <a:srgbClr val="1E3A2F"/>
                </a:solidFill>
              </a:rPr>
              <a:t>05</a:t>
            </a:r>
            <a:endParaRPr lang="en-US" sz="1400" dirty="0"/>
          </a:p>
        </p:txBody>
      </p:sp>
      <p:sp>
        <p:nvSpPr>
          <p:cNvPr id="30" name="Text 28"/>
          <p:cNvSpPr/>
          <p:nvPr/>
        </p:nvSpPr>
        <p:spPr>
          <a:xfrm>
            <a:off x="1234440" y="4160520"/>
            <a:ext cx="7360920" cy="274320"/>
          </a:xfrm>
          <a:prstGeom prst="rect">
            <a:avLst/>
          </a:prstGeom>
          <a:noFill/>
          <a:ln/>
        </p:spPr>
        <p:txBody>
          <a:bodyPr wrap="square" lIns="0" tIns="0" rIns="0" bIns="0" rtlCol="0" anchor="ctr"/>
          <a:lstStyle/>
          <a:p>
            <a:pPr indent="0" marL="0">
              <a:buNone/>
            </a:pPr>
            <a:r>
              <a:rPr lang="en-US" sz="1300" b="1" dirty="0">
                <a:solidFill>
                  <a:srgbClr val="1E3A2F"/>
                </a:solidFill>
                <a:latin typeface="Calibri" pitchFamily="34" charset="0"/>
                <a:ea typeface="Calibri" pitchFamily="34" charset="-122"/>
                <a:cs typeface="Calibri" pitchFamily="34" charset="-120"/>
              </a:rPr>
              <a:t>Comparative Analysis</a:t>
            </a:r>
            <a:endParaRPr lang="en-US" sz="1300" dirty="0"/>
          </a:p>
        </p:txBody>
      </p:sp>
      <p:sp>
        <p:nvSpPr>
          <p:cNvPr id="31" name="Text 29"/>
          <p:cNvSpPr/>
          <p:nvPr/>
        </p:nvSpPr>
        <p:spPr>
          <a:xfrm>
            <a:off x="1234440" y="4407408"/>
            <a:ext cx="7360920" cy="274320"/>
          </a:xfrm>
          <a:prstGeom prst="rect">
            <a:avLst/>
          </a:prstGeom>
          <a:noFill/>
          <a:ln/>
        </p:spPr>
        <p:txBody>
          <a:bodyPr wrap="square" lIns="0" tIns="0" rIns="0" bIns="0" rtlCol="0" anchor="ctr"/>
          <a:lstStyle/>
          <a:p>
            <a:pPr indent="0" marL="0">
              <a:buNone/>
            </a:pPr>
            <a:r>
              <a:rPr lang="en-US" sz="1000" dirty="0">
                <a:solidFill>
                  <a:srgbClr val="5A5040"/>
                </a:solidFill>
                <a:latin typeface="Calibri" pitchFamily="34" charset="0"/>
                <a:ea typeface="Calibri" pitchFamily="34" charset="-122"/>
                <a:cs typeface="Calibri" pitchFamily="34" charset="-120"/>
              </a:rPr>
              <a:t>Benchmarks, complexity &amp; algorithm selection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3A2F"/>
        </a:solidFill>
      </p:bgPr>
    </p:bg>
    <p:spTree>
      <p:nvGrpSpPr>
        <p:cNvPr id="1" name=""/>
        <p:cNvGrpSpPr/>
        <p:nvPr/>
      </p:nvGrpSpPr>
      <p:grpSpPr>
        <a:xfrm>
          <a:off x="0" y="0"/>
          <a:ext cx="0" cy="0"/>
          <a:chOff x="0" y="0"/>
          <a:chExt cx="0" cy="0"/>
        </a:xfrm>
      </p:grpSpPr>
      <p:sp>
        <p:nvSpPr>
          <p:cNvPr id="2" name="Text 0"/>
          <p:cNvSpPr/>
          <p:nvPr/>
        </p:nvSpPr>
        <p:spPr>
          <a:xfrm>
            <a:off x="7772400" y="7315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3" name="Text 1"/>
          <p:cNvSpPr/>
          <p:nvPr/>
        </p:nvSpPr>
        <p:spPr>
          <a:xfrm>
            <a:off x="7772400" y="25603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4" name="Text 2"/>
          <p:cNvSpPr/>
          <p:nvPr/>
        </p:nvSpPr>
        <p:spPr>
          <a:xfrm>
            <a:off x="7772400" y="484632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5" name="Text 3"/>
          <p:cNvSpPr/>
          <p:nvPr/>
        </p:nvSpPr>
        <p:spPr>
          <a:xfrm>
            <a:off x="7772400" y="502920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6" name="Shape 4"/>
          <p:cNvSpPr/>
          <p:nvPr/>
        </p:nvSpPr>
        <p:spPr>
          <a:xfrm>
            <a:off x="457200" y="4754880"/>
            <a:ext cx="8229600" cy="0"/>
          </a:xfrm>
          <a:prstGeom prst="line">
            <a:avLst/>
          </a:prstGeom>
          <a:noFill/>
          <a:ln w="12700">
            <a:solidFill>
              <a:srgbClr val="D4A017"/>
            </a:solidFill>
            <a:prstDash val="solid"/>
          </a:ln>
        </p:spPr>
      </p:sp>
      <p:sp>
        <p:nvSpPr>
          <p:cNvPr id="7" name="Text 5"/>
          <p:cNvSpPr/>
          <p:nvPr/>
        </p:nvSpPr>
        <p:spPr>
          <a:xfrm>
            <a:off x="457200" y="201168"/>
            <a:ext cx="73152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PROJECT OVERVIEW</a:t>
            </a:r>
            <a:endParaRPr lang="en-US" sz="2600" dirty="0"/>
          </a:p>
        </p:txBody>
      </p:sp>
      <p:sp>
        <p:nvSpPr>
          <p:cNvPr id="8" name="Text 6"/>
          <p:cNvSpPr/>
          <p:nvPr/>
        </p:nvSpPr>
        <p:spPr>
          <a:xfrm>
            <a:off x="457200" y="822960"/>
            <a:ext cx="3840480" cy="320040"/>
          </a:xfrm>
          <a:prstGeom prst="rect">
            <a:avLst/>
          </a:prstGeom>
          <a:noFill/>
          <a:ln/>
        </p:spPr>
        <p:txBody>
          <a:bodyPr wrap="square" lIns="0" tIns="0" rIns="0" bIns="0" rtlCol="0" anchor="ctr"/>
          <a:lstStyle/>
          <a:p>
            <a:pPr indent="0" marL="0">
              <a:buNone/>
            </a:pPr>
            <a:r>
              <a:rPr lang="en-US" sz="1400" b="1" dirty="0">
                <a:solidFill>
                  <a:srgbClr val="D4A017"/>
                </a:solidFill>
                <a:latin typeface="Calibri" pitchFamily="34" charset="0"/>
                <a:ea typeface="Calibri" pitchFamily="34" charset="-122"/>
                <a:cs typeface="Calibri" pitchFamily="34" charset="-120"/>
              </a:rPr>
              <a:t>Team Members</a:t>
            </a:r>
            <a:endParaRPr lang="en-US" sz="1400" dirty="0"/>
          </a:p>
        </p:txBody>
      </p:sp>
      <p:sp>
        <p:nvSpPr>
          <p:cNvPr id="9" name="Text 7"/>
          <p:cNvSpPr/>
          <p:nvPr/>
        </p:nvSpPr>
        <p:spPr>
          <a:xfrm>
            <a:off x="548640" y="1188720"/>
            <a:ext cx="36576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Arhum Ali Kaleem (29288)</a:t>
            </a:r>
            <a:endParaRPr lang="en-US" sz="1200" dirty="0"/>
          </a:p>
        </p:txBody>
      </p:sp>
      <p:sp>
        <p:nvSpPr>
          <p:cNvPr id="10" name="Text 8"/>
          <p:cNvSpPr/>
          <p:nvPr/>
        </p:nvSpPr>
        <p:spPr>
          <a:xfrm>
            <a:off x="548640" y="1572768"/>
            <a:ext cx="36576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Ammar Khan (29296)</a:t>
            </a:r>
            <a:endParaRPr lang="en-US" sz="1200" dirty="0"/>
          </a:p>
        </p:txBody>
      </p:sp>
      <p:sp>
        <p:nvSpPr>
          <p:cNvPr id="11" name="Text 9"/>
          <p:cNvSpPr/>
          <p:nvPr/>
        </p:nvSpPr>
        <p:spPr>
          <a:xfrm>
            <a:off x="548640" y="1956816"/>
            <a:ext cx="36576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Sumaiya Batool (29295)</a:t>
            </a:r>
            <a:endParaRPr lang="en-US" sz="1200" dirty="0"/>
          </a:p>
        </p:txBody>
      </p:sp>
      <p:sp>
        <p:nvSpPr>
          <p:cNvPr id="12" name="Text 10"/>
          <p:cNvSpPr/>
          <p:nvPr/>
        </p:nvSpPr>
        <p:spPr>
          <a:xfrm>
            <a:off x="548640" y="2340864"/>
            <a:ext cx="36576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Fatima Irfan (29294)</a:t>
            </a:r>
            <a:endParaRPr lang="en-US" sz="1200" dirty="0"/>
          </a:p>
        </p:txBody>
      </p:sp>
      <p:sp>
        <p:nvSpPr>
          <p:cNvPr id="13" name="Text 11"/>
          <p:cNvSpPr/>
          <p:nvPr/>
        </p:nvSpPr>
        <p:spPr>
          <a:xfrm>
            <a:off x="548640" y="2724912"/>
            <a:ext cx="3657600" cy="347472"/>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 Zainab Irfan Ansari (29091)</a:t>
            </a:r>
            <a:endParaRPr lang="en-US" sz="1200" dirty="0"/>
          </a:p>
        </p:txBody>
      </p:sp>
      <p:sp>
        <p:nvSpPr>
          <p:cNvPr id="14" name="Text 12"/>
          <p:cNvSpPr/>
          <p:nvPr/>
        </p:nvSpPr>
        <p:spPr>
          <a:xfrm>
            <a:off x="4754880" y="822960"/>
            <a:ext cx="3840480" cy="320040"/>
          </a:xfrm>
          <a:prstGeom prst="rect">
            <a:avLst/>
          </a:prstGeom>
          <a:noFill/>
          <a:ln/>
        </p:spPr>
        <p:txBody>
          <a:bodyPr wrap="square" lIns="0" tIns="0" rIns="0" bIns="0" rtlCol="0" anchor="ctr"/>
          <a:lstStyle/>
          <a:p>
            <a:pPr indent="0" marL="0">
              <a:buNone/>
            </a:pPr>
            <a:r>
              <a:rPr lang="en-US" sz="1400" b="1" dirty="0">
                <a:solidFill>
                  <a:srgbClr val="D4A017"/>
                </a:solidFill>
                <a:latin typeface="Calibri" pitchFamily="34" charset="0"/>
                <a:ea typeface="Calibri" pitchFamily="34" charset="-122"/>
                <a:cs typeface="Calibri" pitchFamily="34" charset="-120"/>
              </a:rPr>
              <a:t>Project Goal</a:t>
            </a:r>
            <a:endParaRPr lang="en-US" sz="1400" dirty="0"/>
          </a:p>
        </p:txBody>
      </p:sp>
      <p:sp>
        <p:nvSpPr>
          <p:cNvPr id="15" name="Text 13"/>
          <p:cNvSpPr/>
          <p:nvPr/>
        </p:nvSpPr>
        <p:spPr>
          <a:xfrm>
            <a:off x="4754880" y="1188720"/>
            <a:ext cx="3931920" cy="13716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Implement, benchmark and compare four advanced shortest-path algorithms on synthetic graphs of varying sizes and densities. Validate empirical performance against theoretical complexity bounds.</a:t>
            </a:r>
            <a:endParaRPr lang="en-US" sz="1150" dirty="0"/>
          </a:p>
        </p:txBody>
      </p:sp>
      <p:sp>
        <p:nvSpPr>
          <p:cNvPr id="16" name="Text 14"/>
          <p:cNvSpPr/>
          <p:nvPr/>
        </p:nvSpPr>
        <p:spPr>
          <a:xfrm>
            <a:off x="4754880" y="2697480"/>
            <a:ext cx="3840480" cy="320040"/>
          </a:xfrm>
          <a:prstGeom prst="rect">
            <a:avLst/>
          </a:prstGeom>
          <a:noFill/>
          <a:ln/>
        </p:spPr>
        <p:txBody>
          <a:bodyPr wrap="square" lIns="0" tIns="0" rIns="0" bIns="0" rtlCol="0" anchor="ctr"/>
          <a:lstStyle/>
          <a:p>
            <a:pPr indent="0" marL="0">
              <a:buNone/>
            </a:pPr>
            <a:r>
              <a:rPr lang="en-US" sz="1400" b="1" dirty="0">
                <a:solidFill>
                  <a:srgbClr val="D4A017"/>
                </a:solidFill>
                <a:latin typeface="Calibri" pitchFamily="34" charset="0"/>
                <a:ea typeface="Calibri" pitchFamily="34" charset="-122"/>
                <a:cs typeface="Calibri" pitchFamily="34" charset="-120"/>
              </a:rPr>
              <a:t>Applications</a:t>
            </a:r>
            <a:endParaRPr lang="en-US" sz="1400" dirty="0"/>
          </a:p>
        </p:txBody>
      </p:sp>
      <p:sp>
        <p:nvSpPr>
          <p:cNvPr id="17" name="Text 15"/>
          <p:cNvSpPr/>
          <p:nvPr/>
        </p:nvSpPr>
        <p:spPr>
          <a:xfrm>
            <a:off x="4846320" y="3063240"/>
            <a:ext cx="3840480" cy="30175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GPS Navigation &amp; Routing</a:t>
            </a:r>
            <a:endParaRPr lang="en-US" sz="1150" dirty="0"/>
          </a:p>
        </p:txBody>
      </p:sp>
      <p:sp>
        <p:nvSpPr>
          <p:cNvPr id="18" name="Text 16"/>
          <p:cNvSpPr/>
          <p:nvPr/>
        </p:nvSpPr>
        <p:spPr>
          <a:xfrm>
            <a:off x="4846320" y="3401568"/>
            <a:ext cx="3840480" cy="30175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Game AI Pathfinding</a:t>
            </a:r>
            <a:endParaRPr lang="en-US" sz="1150" dirty="0"/>
          </a:p>
        </p:txBody>
      </p:sp>
      <p:sp>
        <p:nvSpPr>
          <p:cNvPr id="19" name="Text 17"/>
          <p:cNvSpPr/>
          <p:nvPr/>
        </p:nvSpPr>
        <p:spPr>
          <a:xfrm>
            <a:off x="4846320" y="3739896"/>
            <a:ext cx="3840480" cy="30175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Network Infrastructure</a:t>
            </a:r>
            <a:endParaRPr lang="en-US" sz="1150" dirty="0"/>
          </a:p>
        </p:txBody>
      </p:sp>
      <p:sp>
        <p:nvSpPr>
          <p:cNvPr id="20" name="Text 18"/>
          <p:cNvSpPr/>
          <p:nvPr/>
        </p:nvSpPr>
        <p:spPr>
          <a:xfrm>
            <a:off x="4846320" y="4078224"/>
            <a:ext cx="3840480" cy="30175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Social Network Analysis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3A2F"/>
        </a:solidFill>
      </p:bgPr>
    </p:bg>
    <p:spTree>
      <p:nvGrpSpPr>
        <p:cNvPr id="1" name=""/>
        <p:cNvGrpSpPr/>
        <p:nvPr/>
      </p:nvGrpSpPr>
      <p:grpSpPr>
        <a:xfrm>
          <a:off x="0" y="0"/>
          <a:ext cx="0" cy="0"/>
          <a:chOff x="0" y="0"/>
          <a:chExt cx="0" cy="0"/>
        </a:xfrm>
      </p:grpSpPr>
      <p:sp>
        <p:nvSpPr>
          <p:cNvPr id="2" name="Text 0"/>
          <p:cNvSpPr/>
          <p:nvPr/>
        </p:nvSpPr>
        <p:spPr>
          <a:xfrm>
            <a:off x="137160" y="91440"/>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3" name="Text 1"/>
          <p:cNvSpPr/>
          <p:nvPr/>
        </p:nvSpPr>
        <p:spPr>
          <a:xfrm>
            <a:off x="137160" y="292608"/>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4" name="Text 2"/>
          <p:cNvSpPr/>
          <p:nvPr/>
        </p:nvSpPr>
        <p:spPr>
          <a:xfrm>
            <a:off x="7909560" y="4754880"/>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5" name="Text 3"/>
          <p:cNvSpPr/>
          <p:nvPr/>
        </p:nvSpPr>
        <p:spPr>
          <a:xfrm>
            <a:off x="7909560" y="4956048"/>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6" name="Shape 4"/>
          <p:cNvSpPr/>
          <p:nvPr/>
        </p:nvSpPr>
        <p:spPr>
          <a:xfrm>
            <a:off x="8229600" y="-457200"/>
            <a:ext cx="1645920" cy="1645920"/>
          </a:xfrm>
          <a:prstGeom prst="ellipse">
            <a:avLst/>
          </a:prstGeom>
          <a:ln w="101600">
            <a:solidFill>
              <a:srgbClr val="FFFFFF"/>
            </a:solidFill>
            <a:prstDash val="solid"/>
          </a:ln>
        </p:spPr>
      </p:sp>
      <p:sp>
        <p:nvSpPr>
          <p:cNvPr id="7" name="Shape 5"/>
          <p:cNvSpPr/>
          <p:nvPr/>
        </p:nvSpPr>
        <p:spPr>
          <a:xfrm>
            <a:off x="-548640" y="3840480"/>
            <a:ext cx="1645920" cy="1645920"/>
          </a:xfrm>
          <a:prstGeom prst="ellipse">
            <a:avLst/>
          </a:prstGeom>
          <a:ln w="101600">
            <a:solidFill>
              <a:srgbClr val="FFFFFF"/>
            </a:solidFill>
            <a:prstDash val="solid"/>
          </a:ln>
        </p:spPr>
      </p:sp>
      <p:sp>
        <p:nvSpPr>
          <p:cNvPr id="8" name="Shape 6"/>
          <p:cNvSpPr/>
          <p:nvPr/>
        </p:nvSpPr>
        <p:spPr>
          <a:xfrm>
            <a:off x="4229100" y="640080"/>
            <a:ext cx="685800" cy="685800"/>
          </a:xfrm>
          <a:prstGeom prst="ellipse">
            <a:avLst/>
          </a:prstGeom>
          <a:solidFill>
            <a:srgbClr val="D4A017"/>
          </a:solidFill>
          <a:ln w="12700">
            <a:solidFill>
              <a:srgbClr val="D4A017"/>
            </a:solidFill>
            <a:prstDash val="solid"/>
          </a:ln>
        </p:spPr>
      </p:sp>
      <p:sp>
        <p:nvSpPr>
          <p:cNvPr id="9" name="Text 7"/>
          <p:cNvSpPr/>
          <p:nvPr/>
        </p:nvSpPr>
        <p:spPr>
          <a:xfrm>
            <a:off x="4229100" y="640080"/>
            <a:ext cx="685800" cy="685800"/>
          </a:xfrm>
          <a:prstGeom prst="rect">
            <a:avLst/>
          </a:prstGeom>
          <a:noFill/>
          <a:ln/>
        </p:spPr>
        <p:txBody>
          <a:bodyPr wrap="square" lIns="0" tIns="0" rIns="0" bIns="0" rtlCol="0" anchor="ctr"/>
          <a:lstStyle/>
          <a:p>
            <a:pPr algn="ctr" indent="0" marL="0">
              <a:buNone/>
            </a:pPr>
            <a:r>
              <a:rPr lang="en-US" sz="2000" b="1" dirty="0">
                <a:solidFill>
                  <a:srgbClr val="1E3A2F"/>
                </a:solidFill>
              </a:rPr>
              <a:t>01</a:t>
            </a:r>
            <a:endParaRPr lang="en-US" sz="2000" dirty="0"/>
          </a:p>
        </p:txBody>
      </p:sp>
      <p:sp>
        <p:nvSpPr>
          <p:cNvPr id="10" name="Text 8"/>
          <p:cNvSpPr/>
          <p:nvPr/>
        </p:nvSpPr>
        <p:spPr>
          <a:xfrm>
            <a:off x="457200" y="1554480"/>
            <a:ext cx="8229600" cy="777240"/>
          </a:xfrm>
          <a:prstGeom prst="rect">
            <a:avLst/>
          </a:prstGeom>
          <a:noFill/>
          <a:ln/>
        </p:spPr>
        <p:txBody>
          <a:bodyPr wrap="square" lIns="0" tIns="0" rIns="0" bIns="0" rtlCol="0" anchor="ctr"/>
          <a:lstStyle/>
          <a:p>
            <a:pPr algn="ctr" indent="0" marL="0">
              <a:buNone/>
            </a:pPr>
            <a:r>
              <a:rPr lang="en-US" sz="4400" b="1" dirty="0">
                <a:solidFill>
                  <a:srgbClr val="D4A017"/>
                </a:solidFill>
                <a:latin typeface="Arial Black" pitchFamily="34" charset="0"/>
                <a:ea typeface="Arial Black" pitchFamily="34" charset="-122"/>
                <a:cs typeface="Arial Black" pitchFamily="34" charset="-120"/>
              </a:rPr>
              <a:t>BIDIRECTIONAL</a:t>
            </a:r>
            <a:endParaRPr lang="en-US" sz="4400" dirty="0"/>
          </a:p>
        </p:txBody>
      </p:sp>
      <p:sp>
        <p:nvSpPr>
          <p:cNvPr id="11" name="Text 9"/>
          <p:cNvSpPr/>
          <p:nvPr/>
        </p:nvSpPr>
        <p:spPr>
          <a:xfrm>
            <a:off x="457200" y="2331720"/>
            <a:ext cx="8229600" cy="685800"/>
          </a:xfrm>
          <a:prstGeom prst="rect">
            <a:avLst/>
          </a:prstGeom>
          <a:noFill/>
          <a:ln/>
        </p:spPr>
        <p:txBody>
          <a:bodyPr wrap="square" lIns="0" tIns="0" rIns="0" bIns="0" rtlCol="0" anchor="ctr"/>
          <a:lstStyle/>
          <a:p>
            <a:pPr algn="ctr" indent="0" marL="0">
              <a:buNone/>
            </a:pPr>
            <a:r>
              <a:rPr lang="en-US" sz="3600" b="1" spc="500" kern="0" dirty="0">
                <a:solidFill>
                  <a:srgbClr val="FFFFFF"/>
                </a:solidFill>
                <a:latin typeface="Arial Black" pitchFamily="34" charset="0"/>
                <a:ea typeface="Arial Black" pitchFamily="34" charset="-122"/>
                <a:cs typeface="Arial Black" pitchFamily="34" charset="-120"/>
              </a:rPr>
              <a:t>DIJKSTRA</a:t>
            </a:r>
            <a:endParaRPr lang="en-US" sz="3600" dirty="0"/>
          </a:p>
        </p:txBody>
      </p:sp>
      <p:sp>
        <p:nvSpPr>
          <p:cNvPr id="12" name="Text 10"/>
          <p:cNvSpPr/>
          <p:nvPr/>
        </p:nvSpPr>
        <p:spPr>
          <a:xfrm>
            <a:off x="1371600" y="3657600"/>
            <a:ext cx="6400800" cy="365760"/>
          </a:xfrm>
          <a:prstGeom prst="rect">
            <a:avLst/>
          </a:prstGeom>
          <a:noFill/>
          <a:ln/>
        </p:spPr>
        <p:txBody>
          <a:bodyPr wrap="square" lIns="0" tIns="0" rIns="0" bIns="0" rtlCol="0" anchor="ctr"/>
          <a:lstStyle/>
          <a:p>
            <a:pPr algn="ctr" indent="0" marL="0">
              <a:buNone/>
            </a:pPr>
            <a:r>
              <a:rPr lang="en-US" sz="1300" dirty="0">
                <a:solidFill>
                  <a:srgbClr val="C8C0A8"/>
                </a:solidFill>
                <a:latin typeface="Calibri" pitchFamily="34" charset="0"/>
                <a:ea typeface="Calibri" pitchFamily="34" charset="-122"/>
                <a:cs typeface="Calibri" pitchFamily="34" charset="-120"/>
              </a:rPr>
              <a:t>Meet-in-the-middle  ·  O((V+E)log V)  ·  Linear space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3A2F"/>
        </a:solidFill>
      </p:bgPr>
    </p:bg>
    <p:spTree>
      <p:nvGrpSpPr>
        <p:cNvPr id="1" name=""/>
        <p:cNvGrpSpPr/>
        <p:nvPr/>
      </p:nvGrpSpPr>
      <p:grpSpPr>
        <a:xfrm>
          <a:off x="0" y="0"/>
          <a:ext cx="0" cy="0"/>
          <a:chOff x="0" y="0"/>
          <a:chExt cx="0" cy="0"/>
        </a:xfrm>
      </p:grpSpPr>
      <p:sp>
        <p:nvSpPr>
          <p:cNvPr id="2" name="Text 0"/>
          <p:cNvSpPr/>
          <p:nvPr/>
        </p:nvSpPr>
        <p:spPr>
          <a:xfrm>
            <a:off x="7772400" y="7315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3" name="Text 1"/>
          <p:cNvSpPr/>
          <p:nvPr/>
        </p:nvSpPr>
        <p:spPr>
          <a:xfrm>
            <a:off x="7772400" y="25603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4" name="Text 2"/>
          <p:cNvSpPr/>
          <p:nvPr/>
        </p:nvSpPr>
        <p:spPr>
          <a:xfrm>
            <a:off x="7772400" y="484632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5" name="Text 3"/>
          <p:cNvSpPr/>
          <p:nvPr/>
        </p:nvSpPr>
        <p:spPr>
          <a:xfrm>
            <a:off x="7772400" y="502920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6" name="Shape 4"/>
          <p:cNvSpPr/>
          <p:nvPr/>
        </p:nvSpPr>
        <p:spPr>
          <a:xfrm>
            <a:off x="457200" y="4754880"/>
            <a:ext cx="8229600" cy="0"/>
          </a:xfrm>
          <a:prstGeom prst="line">
            <a:avLst/>
          </a:prstGeom>
          <a:noFill/>
          <a:ln w="12700">
            <a:solidFill>
              <a:srgbClr val="D4A017"/>
            </a:solidFill>
            <a:prstDash val="solid"/>
          </a:ln>
        </p:spPr>
      </p:sp>
      <p:sp>
        <p:nvSpPr>
          <p:cNvPr id="7" name="Text 5"/>
          <p:cNvSpPr/>
          <p:nvPr/>
        </p:nvSpPr>
        <p:spPr>
          <a:xfrm>
            <a:off x="457200" y="201168"/>
            <a:ext cx="73152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IS BIDIRECTIONAL DIJKSTRA?</a:t>
            </a:r>
            <a:endParaRPr lang="en-US" sz="2600" dirty="0"/>
          </a:p>
        </p:txBody>
      </p:sp>
      <p:sp>
        <p:nvSpPr>
          <p:cNvPr id="8" name="Shape 6"/>
          <p:cNvSpPr/>
          <p:nvPr/>
        </p:nvSpPr>
        <p:spPr>
          <a:xfrm>
            <a:off x="274320" y="1371600"/>
            <a:ext cx="640080" cy="640080"/>
          </a:xfrm>
          <a:prstGeom prst="ellipse">
            <a:avLst/>
          </a:prstGeom>
          <a:solidFill>
            <a:srgbClr val="D4A017"/>
          </a:solidFill>
          <a:ln w="12700">
            <a:solidFill>
              <a:srgbClr val="D4A017"/>
            </a:solidFill>
            <a:prstDash val="solid"/>
          </a:ln>
        </p:spPr>
      </p:sp>
      <p:sp>
        <p:nvSpPr>
          <p:cNvPr id="9" name="Text 7"/>
          <p:cNvSpPr/>
          <p:nvPr/>
        </p:nvSpPr>
        <p:spPr>
          <a:xfrm>
            <a:off x="274320" y="1371600"/>
            <a:ext cx="640080" cy="640080"/>
          </a:xfrm>
          <a:prstGeom prst="rect">
            <a:avLst/>
          </a:prstGeom>
          <a:noFill/>
          <a:ln/>
        </p:spPr>
        <p:txBody>
          <a:bodyPr wrap="square" lIns="0" tIns="0" rIns="0" bIns="0" rtlCol="0" anchor="ctr"/>
          <a:lstStyle/>
          <a:p>
            <a:pPr algn="ctr" indent="0" marL="0">
              <a:buNone/>
            </a:pPr>
            <a:r>
              <a:rPr lang="en-US" sz="1600" b="1" dirty="0">
                <a:solidFill>
                  <a:srgbClr val="1E3A2F"/>
                </a:solidFill>
              </a:rPr>
              <a:t>01</a:t>
            </a:r>
            <a:endParaRPr lang="en-US" sz="1600" dirty="0"/>
          </a:p>
        </p:txBody>
      </p:sp>
      <p:sp>
        <p:nvSpPr>
          <p:cNvPr id="10" name="Text 8"/>
          <p:cNvSpPr/>
          <p:nvPr/>
        </p:nvSpPr>
        <p:spPr>
          <a:xfrm>
            <a:off x="1051560" y="1005840"/>
            <a:ext cx="7680960" cy="1097280"/>
          </a:xfrm>
          <a:prstGeom prst="rect">
            <a:avLst/>
          </a:prstGeom>
          <a:noFill/>
          <a:ln/>
        </p:spPr>
        <p:txBody>
          <a:bodyPr wrap="square" lIns="0" tIns="0" rIns="0" bIns="0" rtlCol="0" anchor="ctr"/>
          <a:lstStyle/>
          <a:p>
            <a:pPr algn="just" indent="0" marL="0">
              <a:buNone/>
            </a:pPr>
            <a:r>
              <a:rPr lang="en-US" sz="1300" dirty="0">
                <a:solidFill>
                  <a:srgbClr val="FFFFFF"/>
                </a:solidFill>
                <a:latin typeface="Calibri" pitchFamily="34" charset="0"/>
                <a:ea typeface="Calibri" pitchFamily="34" charset="-122"/>
                <a:cs typeface="Calibri" pitchFamily="34" charset="-120"/>
              </a:rPr>
              <a:t>Bidirectional Dijkstra runs two simultaneous Dijkstra searches — one forward from the source and one backward from the destination. When the two search frontiers meet, the shortest path is reconstructed through the meeting point, typically halving the number of nodes explored.</a:t>
            </a:r>
            <a:endParaRPr lang="en-US" sz="1300" dirty="0"/>
          </a:p>
        </p:txBody>
      </p:sp>
      <p:sp>
        <p:nvSpPr>
          <p:cNvPr id="11" name="Shape 9"/>
          <p:cNvSpPr/>
          <p:nvPr/>
        </p:nvSpPr>
        <p:spPr>
          <a:xfrm>
            <a:off x="1051560" y="2331720"/>
            <a:ext cx="256032" cy="256032"/>
          </a:xfrm>
          <a:prstGeom prst="ellipse">
            <a:avLst/>
          </a:prstGeom>
          <a:solidFill>
            <a:srgbClr val="D4A017"/>
          </a:solidFill>
          <a:ln w="12700">
            <a:solidFill>
              <a:srgbClr val="D4A017"/>
            </a:solidFill>
            <a:prstDash val="solid"/>
          </a:ln>
        </p:spPr>
      </p:sp>
      <p:sp>
        <p:nvSpPr>
          <p:cNvPr id="12" name="Text 10"/>
          <p:cNvSpPr/>
          <p:nvPr/>
        </p:nvSpPr>
        <p:spPr>
          <a:xfrm>
            <a:off x="1051560" y="2331720"/>
            <a:ext cx="256032" cy="256032"/>
          </a:xfrm>
          <a:prstGeom prst="rect">
            <a:avLst/>
          </a:prstGeom>
          <a:noFill/>
          <a:ln/>
        </p:spPr>
        <p:txBody>
          <a:bodyPr wrap="square" lIns="0" tIns="0" rIns="0" bIns="0" rtlCol="0" anchor="ctr"/>
          <a:lstStyle/>
          <a:p>
            <a:pPr algn="ctr" indent="0" marL="0">
              <a:buNone/>
            </a:pPr>
            <a:r>
              <a:rPr lang="en-US" sz="900" b="1" dirty="0">
                <a:solidFill>
                  <a:srgbClr val="1E3A2F"/>
                </a:solidFill>
              </a:rPr>
              <a:t>✓</a:t>
            </a:r>
            <a:endParaRPr lang="en-US" sz="900" dirty="0"/>
          </a:p>
        </p:txBody>
      </p:sp>
      <p:sp>
        <p:nvSpPr>
          <p:cNvPr id="13" name="Text 11"/>
          <p:cNvSpPr/>
          <p:nvPr/>
        </p:nvSpPr>
        <p:spPr>
          <a:xfrm>
            <a:off x="1399032" y="2331720"/>
            <a:ext cx="7315200" cy="2560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Searches from both source and destination simultaneously</a:t>
            </a:r>
            <a:endParaRPr lang="en-US" sz="1400" dirty="0"/>
          </a:p>
        </p:txBody>
      </p:sp>
      <p:sp>
        <p:nvSpPr>
          <p:cNvPr id="14" name="Shape 12"/>
          <p:cNvSpPr/>
          <p:nvPr/>
        </p:nvSpPr>
        <p:spPr>
          <a:xfrm>
            <a:off x="1051560" y="2807208"/>
            <a:ext cx="256032" cy="256032"/>
          </a:xfrm>
          <a:prstGeom prst="ellipse">
            <a:avLst/>
          </a:prstGeom>
          <a:solidFill>
            <a:srgbClr val="D4A017"/>
          </a:solidFill>
          <a:ln w="12700">
            <a:solidFill>
              <a:srgbClr val="D4A017"/>
            </a:solidFill>
            <a:prstDash val="solid"/>
          </a:ln>
        </p:spPr>
      </p:sp>
      <p:sp>
        <p:nvSpPr>
          <p:cNvPr id="15" name="Text 13"/>
          <p:cNvSpPr/>
          <p:nvPr/>
        </p:nvSpPr>
        <p:spPr>
          <a:xfrm>
            <a:off x="1051560" y="2807208"/>
            <a:ext cx="256032" cy="256032"/>
          </a:xfrm>
          <a:prstGeom prst="rect">
            <a:avLst/>
          </a:prstGeom>
          <a:noFill/>
          <a:ln/>
        </p:spPr>
        <p:txBody>
          <a:bodyPr wrap="square" lIns="0" tIns="0" rIns="0" bIns="0" rtlCol="0" anchor="ctr"/>
          <a:lstStyle/>
          <a:p>
            <a:pPr algn="ctr" indent="0" marL="0">
              <a:buNone/>
            </a:pPr>
            <a:r>
              <a:rPr lang="en-US" sz="900" b="1" dirty="0">
                <a:solidFill>
                  <a:srgbClr val="1E3A2F"/>
                </a:solidFill>
              </a:rPr>
              <a:t>✓</a:t>
            </a:r>
            <a:endParaRPr lang="en-US" sz="900" dirty="0"/>
          </a:p>
        </p:txBody>
      </p:sp>
      <p:sp>
        <p:nvSpPr>
          <p:cNvPr id="16" name="Text 14"/>
          <p:cNvSpPr/>
          <p:nvPr/>
        </p:nvSpPr>
        <p:spPr>
          <a:xfrm>
            <a:off x="1399032" y="2807208"/>
            <a:ext cx="7315200" cy="2560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Stops when frontiers meet — dramatically fewer expansions</a:t>
            </a:r>
            <a:endParaRPr lang="en-US" sz="1400" dirty="0"/>
          </a:p>
        </p:txBody>
      </p:sp>
      <p:sp>
        <p:nvSpPr>
          <p:cNvPr id="17" name="Shape 15"/>
          <p:cNvSpPr/>
          <p:nvPr/>
        </p:nvSpPr>
        <p:spPr>
          <a:xfrm>
            <a:off x="1051560" y="3282696"/>
            <a:ext cx="256032" cy="256032"/>
          </a:xfrm>
          <a:prstGeom prst="ellipse">
            <a:avLst/>
          </a:prstGeom>
          <a:solidFill>
            <a:srgbClr val="D4A017"/>
          </a:solidFill>
          <a:ln w="12700">
            <a:solidFill>
              <a:srgbClr val="D4A017"/>
            </a:solidFill>
            <a:prstDash val="solid"/>
          </a:ln>
        </p:spPr>
      </p:sp>
      <p:sp>
        <p:nvSpPr>
          <p:cNvPr id="18" name="Text 16"/>
          <p:cNvSpPr/>
          <p:nvPr/>
        </p:nvSpPr>
        <p:spPr>
          <a:xfrm>
            <a:off x="1051560" y="3282696"/>
            <a:ext cx="256032" cy="256032"/>
          </a:xfrm>
          <a:prstGeom prst="rect">
            <a:avLst/>
          </a:prstGeom>
          <a:noFill/>
          <a:ln/>
        </p:spPr>
        <p:txBody>
          <a:bodyPr wrap="square" lIns="0" tIns="0" rIns="0" bIns="0" rtlCol="0" anchor="ctr"/>
          <a:lstStyle/>
          <a:p>
            <a:pPr algn="ctr" indent="0" marL="0">
              <a:buNone/>
            </a:pPr>
            <a:r>
              <a:rPr lang="en-US" sz="900" b="1" dirty="0">
                <a:solidFill>
                  <a:srgbClr val="1E3A2F"/>
                </a:solidFill>
              </a:rPr>
              <a:t>✓</a:t>
            </a:r>
            <a:endParaRPr lang="en-US" sz="900" dirty="0"/>
          </a:p>
        </p:txBody>
      </p:sp>
      <p:sp>
        <p:nvSpPr>
          <p:cNvPr id="19" name="Text 17"/>
          <p:cNvSpPr/>
          <p:nvPr/>
        </p:nvSpPr>
        <p:spPr>
          <a:xfrm>
            <a:off x="1399032" y="3282696"/>
            <a:ext cx="7315200" cy="2560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~2–4× faster than unidirectional Dijkstra in practice</a:t>
            </a:r>
            <a:endParaRPr lang="en-US" sz="1400" dirty="0"/>
          </a:p>
        </p:txBody>
      </p:sp>
      <p:sp>
        <p:nvSpPr>
          <p:cNvPr id="20" name="Shape 18"/>
          <p:cNvSpPr/>
          <p:nvPr/>
        </p:nvSpPr>
        <p:spPr>
          <a:xfrm>
            <a:off x="1051560" y="3758184"/>
            <a:ext cx="256032" cy="256032"/>
          </a:xfrm>
          <a:prstGeom prst="ellipse">
            <a:avLst/>
          </a:prstGeom>
          <a:solidFill>
            <a:srgbClr val="D4A017"/>
          </a:solidFill>
          <a:ln w="12700">
            <a:solidFill>
              <a:srgbClr val="D4A017"/>
            </a:solidFill>
            <a:prstDash val="solid"/>
          </a:ln>
        </p:spPr>
      </p:sp>
      <p:sp>
        <p:nvSpPr>
          <p:cNvPr id="21" name="Text 19"/>
          <p:cNvSpPr/>
          <p:nvPr/>
        </p:nvSpPr>
        <p:spPr>
          <a:xfrm>
            <a:off x="1051560" y="3758184"/>
            <a:ext cx="256032" cy="256032"/>
          </a:xfrm>
          <a:prstGeom prst="rect">
            <a:avLst/>
          </a:prstGeom>
          <a:noFill/>
          <a:ln/>
        </p:spPr>
        <p:txBody>
          <a:bodyPr wrap="square" lIns="0" tIns="0" rIns="0" bIns="0" rtlCol="0" anchor="ctr"/>
          <a:lstStyle/>
          <a:p>
            <a:pPr algn="ctr" indent="0" marL="0">
              <a:buNone/>
            </a:pPr>
            <a:r>
              <a:rPr lang="en-US" sz="900" b="1" dirty="0">
                <a:solidFill>
                  <a:srgbClr val="1E3A2F"/>
                </a:solidFill>
              </a:rPr>
              <a:t>✓</a:t>
            </a:r>
            <a:endParaRPr lang="en-US" sz="900" dirty="0"/>
          </a:p>
        </p:txBody>
      </p:sp>
      <p:sp>
        <p:nvSpPr>
          <p:cNvPr id="22" name="Text 20"/>
          <p:cNvSpPr/>
          <p:nvPr/>
        </p:nvSpPr>
        <p:spPr>
          <a:xfrm>
            <a:off x="1399032" y="3758184"/>
            <a:ext cx="7315200" cy="2560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Same asymptotic complexity O((V+E)log V), better constants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3A2F"/>
        </a:solidFill>
      </p:bgPr>
    </p:bg>
    <p:spTree>
      <p:nvGrpSpPr>
        <p:cNvPr id="1" name=""/>
        <p:cNvGrpSpPr/>
        <p:nvPr/>
      </p:nvGrpSpPr>
      <p:grpSpPr>
        <a:xfrm>
          <a:off x="0" y="0"/>
          <a:ext cx="0" cy="0"/>
          <a:chOff x="0" y="0"/>
          <a:chExt cx="0" cy="0"/>
        </a:xfrm>
      </p:grpSpPr>
      <p:sp>
        <p:nvSpPr>
          <p:cNvPr id="2" name="Text 0"/>
          <p:cNvSpPr/>
          <p:nvPr/>
        </p:nvSpPr>
        <p:spPr>
          <a:xfrm>
            <a:off x="7772400" y="7315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3" name="Text 1"/>
          <p:cNvSpPr/>
          <p:nvPr/>
        </p:nvSpPr>
        <p:spPr>
          <a:xfrm>
            <a:off x="7772400" y="25603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4" name="Text 2"/>
          <p:cNvSpPr/>
          <p:nvPr/>
        </p:nvSpPr>
        <p:spPr>
          <a:xfrm>
            <a:off x="7772400" y="484632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5" name="Text 3"/>
          <p:cNvSpPr/>
          <p:nvPr/>
        </p:nvSpPr>
        <p:spPr>
          <a:xfrm>
            <a:off x="7772400" y="502920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6" name="Shape 4"/>
          <p:cNvSpPr/>
          <p:nvPr/>
        </p:nvSpPr>
        <p:spPr>
          <a:xfrm>
            <a:off x="457200" y="4754880"/>
            <a:ext cx="8229600" cy="0"/>
          </a:xfrm>
          <a:prstGeom prst="line">
            <a:avLst/>
          </a:prstGeom>
          <a:noFill/>
          <a:ln w="12700">
            <a:solidFill>
              <a:srgbClr val="D4A017"/>
            </a:solidFill>
            <a:prstDash val="solid"/>
          </a:ln>
        </p:spPr>
      </p:sp>
      <p:sp>
        <p:nvSpPr>
          <p:cNvPr id="7" name="Text 5"/>
          <p:cNvSpPr/>
          <p:nvPr/>
        </p:nvSpPr>
        <p:spPr>
          <a:xfrm>
            <a:off x="457200" y="201168"/>
            <a:ext cx="73152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BIDIRECTIONAL DIJKSTRA — PSEUDOCODE</a:t>
            </a:r>
            <a:endParaRPr lang="en-US" sz="2600" dirty="0"/>
          </a:p>
        </p:txBody>
      </p:sp>
      <p:sp>
        <p:nvSpPr>
          <p:cNvPr id="8" name="Shape 6"/>
          <p:cNvSpPr/>
          <p:nvPr/>
        </p:nvSpPr>
        <p:spPr>
          <a:xfrm>
            <a:off x="274320" y="1371600"/>
            <a:ext cx="640080" cy="640080"/>
          </a:xfrm>
          <a:prstGeom prst="ellipse">
            <a:avLst/>
          </a:prstGeom>
          <a:solidFill>
            <a:srgbClr val="D4A017"/>
          </a:solidFill>
          <a:ln w="12700">
            <a:solidFill>
              <a:srgbClr val="D4A017"/>
            </a:solidFill>
            <a:prstDash val="solid"/>
          </a:ln>
        </p:spPr>
      </p:sp>
      <p:sp>
        <p:nvSpPr>
          <p:cNvPr id="9" name="Text 7"/>
          <p:cNvSpPr/>
          <p:nvPr/>
        </p:nvSpPr>
        <p:spPr>
          <a:xfrm>
            <a:off x="274320" y="1371600"/>
            <a:ext cx="640080" cy="640080"/>
          </a:xfrm>
          <a:prstGeom prst="rect">
            <a:avLst/>
          </a:prstGeom>
          <a:noFill/>
          <a:ln/>
        </p:spPr>
        <p:txBody>
          <a:bodyPr wrap="square" lIns="0" tIns="0" rIns="0" bIns="0" rtlCol="0" anchor="ctr"/>
          <a:lstStyle/>
          <a:p>
            <a:pPr algn="ctr" indent="0" marL="0">
              <a:buNone/>
            </a:pPr>
            <a:r>
              <a:rPr lang="en-US" sz="1600" b="1" dirty="0">
                <a:solidFill>
                  <a:srgbClr val="1E3A2F"/>
                </a:solidFill>
              </a:rPr>
              <a:t>02</a:t>
            </a:r>
            <a:endParaRPr lang="en-US" sz="1600" dirty="0"/>
          </a:p>
        </p:txBody>
      </p:sp>
      <p:sp>
        <p:nvSpPr>
          <p:cNvPr id="10" name="Shape 8"/>
          <p:cNvSpPr/>
          <p:nvPr/>
        </p:nvSpPr>
        <p:spPr>
          <a:xfrm>
            <a:off x="1051560" y="868680"/>
            <a:ext cx="7635240" cy="3749040"/>
          </a:xfrm>
          <a:prstGeom prst="rect">
            <a:avLst/>
          </a:prstGeom>
          <a:solidFill>
            <a:srgbClr val="162D22"/>
          </a:solidFill>
          <a:ln w="12700">
            <a:solidFill>
              <a:srgbClr val="D4A017"/>
            </a:solidFill>
            <a:prstDash val="solid"/>
          </a:ln>
        </p:spPr>
      </p:sp>
      <p:sp>
        <p:nvSpPr>
          <p:cNvPr id="11" name="Text 9"/>
          <p:cNvSpPr/>
          <p:nvPr/>
        </p:nvSpPr>
        <p:spPr>
          <a:xfrm>
            <a:off x="1188720" y="978408"/>
            <a:ext cx="7360920" cy="3529584"/>
          </a:xfrm>
          <a:prstGeom prst="rect">
            <a:avLst/>
          </a:prstGeom>
          <a:noFill/>
          <a:ln/>
        </p:spPr>
        <p:txBody>
          <a:bodyPr wrap="square" lIns="0" tIns="0" rIns="0" bIns="0" rtlCol="0" anchor="t"/>
          <a:lstStyle/>
          <a:p>
            <a:pPr indent="0" marL="0">
              <a:buNone/>
            </a:pPr>
            <a:r>
              <a:rPr lang="en-US" sz="920" dirty="0">
                <a:solidFill>
                  <a:srgbClr val="A8D5A2"/>
                </a:solidFill>
                <a:latin typeface="Consolas" pitchFamily="34" charset="0"/>
                <a:ea typeface="Consolas" pitchFamily="34" charset="-122"/>
                <a:cs typeface="Consolas" pitchFamily="34" charset="-120"/>
              </a:rPr>
              <a:t>BIDIJKSTRA(G, source, destination):</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forward_dist[source] ← 0;  forward_dist[all others] ← ∞</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backward_dist[dest]  ← 0;  backward_dist[all others] ← ∞</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forward_heap ← {(0, source)};  backward_heap ← {(0, dest)}</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best_dist ← ∞;  meeting_point ← null</a:t>
            </a:r>
            <a:endParaRPr lang="en-US" sz="920" dirty="0"/>
          </a:p>
          <a:p>
            <a:pPr indent="0" marL="0">
              <a:buNone/>
            </a:pP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WHILE forward_heap AND backward_heap:</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u_f ← EXTRACT-MIN(forward_heap)</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IF u_f in backward_dist:</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candidate ← forward_dist[u_f] + backward_dist[u_f]</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IF candidate &lt; best_dist: best_dist ← candidate; meeting_point ← u_f</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FOR (v, w) in Adj(u_f):</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IF forward_dist[u_f] + w &lt; forward_dist[v]:</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forward_dist[v] ← forward_dist[u_f] + w</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INSERT (forward_dist[v], v) into forward_heap</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[Repeat symmetric step for backward_heap]</a:t>
            </a:r>
            <a:endParaRPr lang="en-US" sz="920" dirty="0"/>
          </a:p>
          <a:p>
            <a:pPr indent="0" marL="0">
              <a:buNone/>
            </a:pP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RETURN (best_dist, ReconstructPath(meeting_point))</a:t>
            </a:r>
            <a:endParaRPr lang="en-US" sz="9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3A2F"/>
        </a:solidFill>
      </p:bgPr>
    </p:bg>
    <p:spTree>
      <p:nvGrpSpPr>
        <p:cNvPr id="1" name=""/>
        <p:cNvGrpSpPr/>
        <p:nvPr/>
      </p:nvGrpSpPr>
      <p:grpSpPr>
        <a:xfrm>
          <a:off x="0" y="0"/>
          <a:ext cx="0" cy="0"/>
          <a:chOff x="0" y="0"/>
          <a:chExt cx="0" cy="0"/>
        </a:xfrm>
      </p:grpSpPr>
      <p:sp>
        <p:nvSpPr>
          <p:cNvPr id="2" name="Text 0"/>
          <p:cNvSpPr/>
          <p:nvPr/>
        </p:nvSpPr>
        <p:spPr>
          <a:xfrm>
            <a:off x="7772400" y="7315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3" name="Text 1"/>
          <p:cNvSpPr/>
          <p:nvPr/>
        </p:nvSpPr>
        <p:spPr>
          <a:xfrm>
            <a:off x="7772400" y="25603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4" name="Text 2"/>
          <p:cNvSpPr/>
          <p:nvPr/>
        </p:nvSpPr>
        <p:spPr>
          <a:xfrm>
            <a:off x="7772400" y="484632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5" name="Text 3"/>
          <p:cNvSpPr/>
          <p:nvPr/>
        </p:nvSpPr>
        <p:spPr>
          <a:xfrm>
            <a:off x="7772400" y="502920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6" name="Shape 4"/>
          <p:cNvSpPr/>
          <p:nvPr/>
        </p:nvSpPr>
        <p:spPr>
          <a:xfrm>
            <a:off x="457200" y="4754880"/>
            <a:ext cx="8229600" cy="0"/>
          </a:xfrm>
          <a:prstGeom prst="line">
            <a:avLst/>
          </a:prstGeom>
          <a:noFill/>
          <a:ln w="12700">
            <a:solidFill>
              <a:srgbClr val="D4A017"/>
            </a:solidFill>
            <a:prstDash val="solid"/>
          </a:ln>
        </p:spPr>
      </p:sp>
      <p:sp>
        <p:nvSpPr>
          <p:cNvPr id="7" name="Text 5"/>
          <p:cNvSpPr/>
          <p:nvPr/>
        </p:nvSpPr>
        <p:spPr>
          <a:xfrm>
            <a:off x="457200" y="201168"/>
            <a:ext cx="73152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BIDIRECTIONAL DIJKSTRA — COMPLEXITY</a:t>
            </a:r>
            <a:endParaRPr lang="en-US" sz="2600" dirty="0"/>
          </a:p>
        </p:txBody>
      </p:sp>
      <p:sp>
        <p:nvSpPr>
          <p:cNvPr id="8" name="Shape 6"/>
          <p:cNvSpPr/>
          <p:nvPr/>
        </p:nvSpPr>
        <p:spPr>
          <a:xfrm>
            <a:off x="274320" y="1371600"/>
            <a:ext cx="640080" cy="640080"/>
          </a:xfrm>
          <a:prstGeom prst="ellipse">
            <a:avLst/>
          </a:prstGeom>
          <a:solidFill>
            <a:srgbClr val="D4A017"/>
          </a:solidFill>
          <a:ln w="12700">
            <a:solidFill>
              <a:srgbClr val="D4A017"/>
            </a:solidFill>
            <a:prstDash val="solid"/>
          </a:ln>
        </p:spPr>
      </p:sp>
      <p:sp>
        <p:nvSpPr>
          <p:cNvPr id="9" name="Text 7"/>
          <p:cNvSpPr/>
          <p:nvPr/>
        </p:nvSpPr>
        <p:spPr>
          <a:xfrm>
            <a:off x="274320" y="1371600"/>
            <a:ext cx="640080" cy="640080"/>
          </a:xfrm>
          <a:prstGeom prst="rect">
            <a:avLst/>
          </a:prstGeom>
          <a:noFill/>
          <a:ln/>
        </p:spPr>
        <p:txBody>
          <a:bodyPr wrap="square" lIns="0" tIns="0" rIns="0" bIns="0" rtlCol="0" anchor="ctr"/>
          <a:lstStyle/>
          <a:p>
            <a:pPr algn="ctr" indent="0" marL="0">
              <a:buNone/>
            </a:pPr>
            <a:r>
              <a:rPr lang="en-US" sz="1600" b="1" dirty="0">
                <a:solidFill>
                  <a:srgbClr val="1E3A2F"/>
                </a:solidFill>
              </a:rPr>
              <a:t>03</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896112"/>
          <a:ext cx="8229600" cy="3749040"/>
        </p:xfrm>
        <a:graphic>
          <a:graphicData uri="http://schemas.openxmlformats.org/drawingml/2006/table">
            <a:tbl>
              <a:tblPr/>
              <a:tblGrid>
                <a:gridCol w="2286000"/>
                <a:gridCol w="2743200"/>
                <a:gridCol w="3200400"/>
              </a:tblGrid>
              <a:tr h="624840">
                <a:tc>
                  <a:txBody>
                    <a:bodyPr/>
                    <a:lstStyle/>
                    <a:p>
                      <a:pPr algn="l" indent="0" marL="0">
                        <a:buNone/>
                      </a:pPr>
                      <a:r>
                        <a:rPr lang="en-US" sz="1200" b="1" dirty="0">
                          <a:solidFill>
                            <a:srgbClr val="1E3A2F"/>
                          </a:solidFill>
                        </a:rPr>
                        <a:t>Metric</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4A017"/>
                    </a:solidFill>
                  </a:tcPr>
                </a:tc>
                <a:tc>
                  <a:txBody>
                    <a:bodyPr/>
                    <a:lstStyle/>
                    <a:p>
                      <a:pPr algn="ctr" indent="0" marL="0">
                        <a:buNone/>
                      </a:pPr>
                      <a:r>
                        <a:rPr lang="en-US" sz="1200" b="1" dirty="0">
                          <a:solidFill>
                            <a:srgbClr val="1E3A2F"/>
                          </a:solidFill>
                        </a:rPr>
                        <a:t>Value</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4A017"/>
                    </a:solidFill>
                  </a:tcPr>
                </a:tc>
                <a:tc>
                  <a:txBody>
                    <a:bodyPr/>
                    <a:lstStyle/>
                    <a:p>
                      <a:pPr algn="ctr" indent="0" marL="0">
                        <a:buNone/>
                      </a:pPr>
                      <a:r>
                        <a:rPr lang="en-US" sz="1200" b="1" dirty="0">
                          <a:solidFill>
                            <a:srgbClr val="1E3A2F"/>
                          </a:solidFill>
                        </a:rPr>
                        <a:t>Notes</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4A017"/>
                    </a:solidFill>
                  </a:tcPr>
                </a:tc>
              </a:tr>
              <a:tr h="624840">
                <a:tc>
                  <a:txBody>
                    <a:bodyPr/>
                    <a:lstStyle/>
                    <a:p>
                      <a:pPr algn="l" indent="0" marL="0">
                        <a:buNone/>
                      </a:pPr>
                      <a:r>
                        <a:rPr lang="en-US" sz="1200" dirty="0">
                          <a:solidFill>
                            <a:srgbClr val="1E3A2F"/>
                          </a:solidFill>
                        </a:rPr>
                        <a:t>Time Complexity</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C0B8A0"/>
                    </a:solidFill>
                  </a:tcPr>
                </a:tc>
                <a:tc>
                  <a:txBody>
                    <a:bodyPr/>
                    <a:lstStyle/>
                    <a:p>
                      <a:pPr algn="ctr" indent="0" marL="0">
                        <a:buNone/>
                      </a:pPr>
                      <a:r>
                        <a:rPr lang="en-US" sz="1200" dirty="0">
                          <a:solidFill>
                            <a:srgbClr val="1E3A2F"/>
                          </a:solidFill>
                        </a:rPr>
                        <a:t>O((V+E) log V)</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C0B8A0"/>
                    </a:solidFill>
                  </a:tcPr>
                </a:tc>
                <a:tc>
                  <a:txBody>
                    <a:bodyPr/>
                    <a:lstStyle/>
                    <a:p>
                      <a:pPr algn="ctr" indent="0" marL="0">
                        <a:buNone/>
                      </a:pPr>
                      <a:r>
                        <a:rPr lang="en-US" sz="1200" dirty="0">
                          <a:solidFill>
                            <a:srgbClr val="1E3A2F"/>
                          </a:solidFill>
                        </a:rPr>
                        <a:t>Same as Dijkstra, better avg. constant</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C0B8A0"/>
                    </a:solidFill>
                  </a:tcPr>
                </a:tc>
              </a:tr>
              <a:tr h="624840">
                <a:tc>
                  <a:txBody>
                    <a:bodyPr/>
                    <a:lstStyle/>
                    <a:p>
                      <a:pPr algn="l" indent="0" marL="0">
                        <a:buNone/>
                      </a:pPr>
                      <a:r>
                        <a:rPr lang="en-US" sz="1200" dirty="0">
                          <a:solidFill>
                            <a:srgbClr val="1E3A2F"/>
                          </a:solidFill>
                        </a:rPr>
                        <a:t>Space Complexity</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0C8B0"/>
                    </a:solidFill>
                  </a:tcPr>
                </a:tc>
                <a:tc>
                  <a:txBody>
                    <a:bodyPr/>
                    <a:lstStyle/>
                    <a:p>
                      <a:pPr algn="ctr" indent="0" marL="0">
                        <a:buNone/>
                      </a:pPr>
                      <a:r>
                        <a:rPr lang="en-US" sz="1200" dirty="0">
                          <a:solidFill>
                            <a:srgbClr val="1E3A2F"/>
                          </a:solidFill>
                        </a:rPr>
                        <a:t>O(V)</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0C8B0"/>
                    </a:solidFill>
                  </a:tcPr>
                </a:tc>
                <a:tc>
                  <a:txBody>
                    <a:bodyPr/>
                    <a:lstStyle/>
                    <a:p>
                      <a:pPr algn="ctr" indent="0" marL="0">
                        <a:buNone/>
                      </a:pPr>
                      <a:r>
                        <a:rPr lang="en-US" sz="1200" dirty="0">
                          <a:solidFill>
                            <a:srgbClr val="1E3A2F"/>
                          </a:solidFill>
                        </a:rPr>
                        <a:t>Two distance arrays + two heaps</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0C8B0"/>
                    </a:solidFill>
                  </a:tcPr>
                </a:tc>
              </a:tr>
              <a:tr h="624840">
                <a:tc>
                  <a:txBody>
                    <a:bodyPr/>
                    <a:lstStyle/>
                    <a:p>
                      <a:pPr algn="l" indent="0" marL="0">
                        <a:buNone/>
                      </a:pPr>
                      <a:r>
                        <a:rPr lang="en-US" sz="1200" dirty="0">
                          <a:solidFill>
                            <a:srgbClr val="1E3A2F"/>
                          </a:solidFill>
                        </a:rPr>
                        <a:t>Best Case Speedup</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C0B8A0"/>
                    </a:solidFill>
                  </a:tcPr>
                </a:tc>
                <a:tc>
                  <a:txBody>
                    <a:bodyPr/>
                    <a:lstStyle/>
                    <a:p>
                      <a:pPr algn="ctr" indent="0" marL="0">
                        <a:buNone/>
                      </a:pPr>
                      <a:r>
                        <a:rPr lang="en-US" sz="1200" dirty="0">
                          <a:solidFill>
                            <a:srgbClr val="1E3A2F"/>
                          </a:solidFill>
                        </a:rPr>
                        <a:t>~2–4×</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C0B8A0"/>
                    </a:solidFill>
                  </a:tcPr>
                </a:tc>
                <a:tc>
                  <a:txBody>
                    <a:bodyPr/>
                    <a:lstStyle/>
                    <a:p>
                      <a:pPr algn="ctr" indent="0" marL="0">
                        <a:buNone/>
                      </a:pPr>
                      <a:r>
                        <a:rPr lang="en-US" sz="1200" dirty="0">
                          <a:solidFill>
                            <a:srgbClr val="1E3A2F"/>
                          </a:solidFill>
                        </a:rPr>
                        <a:t>Meets in middle of search space</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C0B8A0"/>
                    </a:solidFill>
                  </a:tcPr>
                </a:tc>
              </a:tr>
              <a:tr h="624840">
                <a:tc>
                  <a:txBody>
                    <a:bodyPr/>
                    <a:lstStyle/>
                    <a:p>
                      <a:pPr algn="l" indent="0" marL="0">
                        <a:buNone/>
                      </a:pPr>
                      <a:r>
                        <a:rPr lang="en-US" sz="1200" dirty="0">
                          <a:solidFill>
                            <a:srgbClr val="1E3A2F"/>
                          </a:solidFill>
                        </a:rPr>
                        <a:t>Heap Operations</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0C8B0"/>
                    </a:solidFill>
                  </a:tcPr>
                </a:tc>
                <a:tc>
                  <a:txBody>
                    <a:bodyPr/>
                    <a:lstStyle/>
                    <a:p>
                      <a:pPr algn="ctr" indent="0" marL="0">
                        <a:buNone/>
                      </a:pPr>
                      <a:r>
                        <a:rPr lang="en-US" sz="1200" dirty="0">
                          <a:solidFill>
                            <a:srgbClr val="1E3A2F"/>
                          </a:solidFill>
                        </a:rPr>
                        <a:t>O(E log V)</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0C8B0"/>
                    </a:solidFill>
                  </a:tcPr>
                </a:tc>
                <a:tc>
                  <a:txBody>
                    <a:bodyPr/>
                    <a:lstStyle/>
                    <a:p>
                      <a:pPr algn="ctr" indent="0" marL="0">
                        <a:buNone/>
                      </a:pPr>
                      <a:r>
                        <a:rPr lang="en-US" sz="1200" dirty="0">
                          <a:solidFill>
                            <a:srgbClr val="1E3A2F"/>
                          </a:solidFill>
                        </a:rPr>
                        <a:t>Per direction</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0C8B0"/>
                    </a:solidFill>
                  </a:tcPr>
                </a:tc>
              </a:tr>
              <a:tr h="624840">
                <a:tc>
                  <a:txBody>
                    <a:bodyPr/>
                    <a:lstStyle/>
                    <a:p>
                      <a:pPr algn="l" indent="0" marL="0">
                        <a:buNone/>
                      </a:pPr>
                      <a:r>
                        <a:rPr lang="en-US" sz="1200" dirty="0">
                          <a:solidFill>
                            <a:srgbClr val="1E3A2F"/>
                          </a:solidFill>
                        </a:rPr>
                        <a:t>Negative Weights</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C0B8A0"/>
                    </a:solidFill>
                  </a:tcPr>
                </a:tc>
                <a:tc>
                  <a:txBody>
                    <a:bodyPr/>
                    <a:lstStyle/>
                    <a:p>
                      <a:pPr algn="ctr" indent="0" marL="0">
                        <a:buNone/>
                      </a:pPr>
                      <a:r>
                        <a:rPr lang="en-US" sz="1200" dirty="0">
                          <a:solidFill>
                            <a:srgbClr val="1E3A2F"/>
                          </a:solidFill>
                        </a:rPr>
                        <a:t>Not supported</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C0B8A0"/>
                    </a:solidFill>
                  </a:tcPr>
                </a:tc>
                <a:tc>
                  <a:txBody>
                    <a:bodyPr/>
                    <a:lstStyle/>
                    <a:p>
                      <a:pPr algn="ctr" indent="0" marL="0">
                        <a:buNone/>
                      </a:pPr>
                      <a:r>
                        <a:rPr lang="en-US" sz="1200" dirty="0">
                          <a:solidFill>
                            <a:srgbClr val="1E3A2F"/>
                          </a:solidFill>
                        </a:rPr>
                        <a:t>Requires non-negative edge weights</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C0B8A0"/>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3A2F"/>
        </a:solidFill>
      </p:bgPr>
    </p:bg>
    <p:spTree>
      <p:nvGrpSpPr>
        <p:cNvPr id="1" name=""/>
        <p:cNvGrpSpPr/>
        <p:nvPr/>
      </p:nvGrpSpPr>
      <p:grpSpPr>
        <a:xfrm>
          <a:off x="0" y="0"/>
          <a:ext cx="0" cy="0"/>
          <a:chOff x="0" y="0"/>
          <a:chExt cx="0" cy="0"/>
        </a:xfrm>
      </p:grpSpPr>
      <p:sp>
        <p:nvSpPr>
          <p:cNvPr id="2" name="Text 0"/>
          <p:cNvSpPr/>
          <p:nvPr/>
        </p:nvSpPr>
        <p:spPr>
          <a:xfrm>
            <a:off x="137160" y="91440"/>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3" name="Text 1"/>
          <p:cNvSpPr/>
          <p:nvPr/>
        </p:nvSpPr>
        <p:spPr>
          <a:xfrm>
            <a:off x="137160" y="292608"/>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4" name="Text 2"/>
          <p:cNvSpPr/>
          <p:nvPr/>
        </p:nvSpPr>
        <p:spPr>
          <a:xfrm>
            <a:off x="7909560" y="4754880"/>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5" name="Text 3"/>
          <p:cNvSpPr/>
          <p:nvPr/>
        </p:nvSpPr>
        <p:spPr>
          <a:xfrm>
            <a:off x="7909560" y="4956048"/>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6" name="Shape 4"/>
          <p:cNvSpPr/>
          <p:nvPr/>
        </p:nvSpPr>
        <p:spPr>
          <a:xfrm>
            <a:off x="8229600" y="-457200"/>
            <a:ext cx="1645920" cy="1645920"/>
          </a:xfrm>
          <a:prstGeom prst="ellipse">
            <a:avLst/>
          </a:prstGeom>
          <a:ln w="101600">
            <a:solidFill>
              <a:srgbClr val="FFFFFF"/>
            </a:solidFill>
            <a:prstDash val="solid"/>
          </a:ln>
        </p:spPr>
      </p:sp>
      <p:sp>
        <p:nvSpPr>
          <p:cNvPr id="7" name="Shape 5"/>
          <p:cNvSpPr/>
          <p:nvPr/>
        </p:nvSpPr>
        <p:spPr>
          <a:xfrm>
            <a:off x="-548640" y="3840480"/>
            <a:ext cx="1645920" cy="1645920"/>
          </a:xfrm>
          <a:prstGeom prst="ellipse">
            <a:avLst/>
          </a:prstGeom>
          <a:ln w="101600">
            <a:solidFill>
              <a:srgbClr val="FFFFFF"/>
            </a:solidFill>
            <a:prstDash val="solid"/>
          </a:ln>
        </p:spPr>
      </p:sp>
      <p:sp>
        <p:nvSpPr>
          <p:cNvPr id="8" name="Shape 6"/>
          <p:cNvSpPr/>
          <p:nvPr/>
        </p:nvSpPr>
        <p:spPr>
          <a:xfrm>
            <a:off x="4229100" y="640080"/>
            <a:ext cx="685800" cy="685800"/>
          </a:xfrm>
          <a:prstGeom prst="ellipse">
            <a:avLst/>
          </a:prstGeom>
          <a:solidFill>
            <a:srgbClr val="D4A017"/>
          </a:solidFill>
          <a:ln w="12700">
            <a:solidFill>
              <a:srgbClr val="D4A017"/>
            </a:solidFill>
            <a:prstDash val="solid"/>
          </a:ln>
        </p:spPr>
      </p:sp>
      <p:sp>
        <p:nvSpPr>
          <p:cNvPr id="9" name="Text 7"/>
          <p:cNvSpPr/>
          <p:nvPr/>
        </p:nvSpPr>
        <p:spPr>
          <a:xfrm>
            <a:off x="4229100" y="640080"/>
            <a:ext cx="685800" cy="685800"/>
          </a:xfrm>
          <a:prstGeom prst="rect">
            <a:avLst/>
          </a:prstGeom>
          <a:noFill/>
          <a:ln/>
        </p:spPr>
        <p:txBody>
          <a:bodyPr wrap="square" lIns="0" tIns="0" rIns="0" bIns="0" rtlCol="0" anchor="ctr"/>
          <a:lstStyle/>
          <a:p>
            <a:pPr algn="ctr" indent="0" marL="0">
              <a:buNone/>
            </a:pPr>
            <a:r>
              <a:rPr lang="en-US" sz="2000" b="1" dirty="0">
                <a:solidFill>
                  <a:srgbClr val="1E3A2F"/>
                </a:solidFill>
              </a:rPr>
              <a:t>02</a:t>
            </a:r>
            <a:endParaRPr lang="en-US" sz="2000" dirty="0"/>
          </a:p>
        </p:txBody>
      </p:sp>
      <p:sp>
        <p:nvSpPr>
          <p:cNvPr id="10" name="Text 8"/>
          <p:cNvSpPr/>
          <p:nvPr/>
        </p:nvSpPr>
        <p:spPr>
          <a:xfrm>
            <a:off x="457200" y="1554480"/>
            <a:ext cx="8229600" cy="777240"/>
          </a:xfrm>
          <a:prstGeom prst="rect">
            <a:avLst/>
          </a:prstGeom>
          <a:noFill/>
          <a:ln/>
        </p:spPr>
        <p:txBody>
          <a:bodyPr wrap="square" lIns="0" tIns="0" rIns="0" bIns="0" rtlCol="0" anchor="ctr"/>
          <a:lstStyle/>
          <a:p>
            <a:pPr algn="ctr" indent="0" marL="0">
              <a:buNone/>
            </a:pPr>
            <a:r>
              <a:rPr lang="en-US" sz="4400" b="1" dirty="0">
                <a:solidFill>
                  <a:srgbClr val="D4A017"/>
                </a:solidFill>
                <a:latin typeface="Arial Black" pitchFamily="34" charset="0"/>
                <a:ea typeface="Arial Black" pitchFamily="34" charset="-122"/>
                <a:cs typeface="Arial Black" pitchFamily="34" charset="-120"/>
              </a:rPr>
              <a:t>A* SEARCH</a:t>
            </a:r>
            <a:endParaRPr lang="en-US" sz="4400" dirty="0"/>
          </a:p>
        </p:txBody>
      </p:sp>
      <p:sp>
        <p:nvSpPr>
          <p:cNvPr id="11" name="Text 9"/>
          <p:cNvSpPr/>
          <p:nvPr/>
        </p:nvSpPr>
        <p:spPr>
          <a:xfrm>
            <a:off x="457200" y="2331720"/>
            <a:ext cx="8229600" cy="685800"/>
          </a:xfrm>
          <a:prstGeom prst="rect">
            <a:avLst/>
          </a:prstGeom>
          <a:noFill/>
          <a:ln/>
        </p:spPr>
        <p:txBody>
          <a:bodyPr wrap="square" lIns="0" tIns="0" rIns="0" bIns="0" rtlCol="0" anchor="ctr"/>
          <a:lstStyle/>
          <a:p>
            <a:pPr algn="ctr" indent="0" marL="0">
              <a:buNone/>
            </a:pPr>
            <a:r>
              <a:rPr lang="en-US" sz="3600" b="1" spc="500" kern="0" dirty="0">
                <a:solidFill>
                  <a:srgbClr val="FFFFFF"/>
                </a:solidFill>
                <a:latin typeface="Arial Black" pitchFamily="34" charset="0"/>
                <a:ea typeface="Arial Black" pitchFamily="34" charset="-122"/>
                <a:cs typeface="Arial Black" pitchFamily="34" charset="-120"/>
              </a:rPr>
              <a:t>ALGORITHM</a:t>
            </a:r>
            <a:endParaRPr lang="en-US" sz="3600" dirty="0"/>
          </a:p>
        </p:txBody>
      </p:sp>
      <p:sp>
        <p:nvSpPr>
          <p:cNvPr id="12" name="Text 10"/>
          <p:cNvSpPr/>
          <p:nvPr/>
        </p:nvSpPr>
        <p:spPr>
          <a:xfrm>
            <a:off x="1371600" y="3657600"/>
            <a:ext cx="6400800" cy="365760"/>
          </a:xfrm>
          <a:prstGeom prst="rect">
            <a:avLst/>
          </a:prstGeom>
          <a:noFill/>
          <a:ln/>
        </p:spPr>
        <p:txBody>
          <a:bodyPr wrap="square" lIns="0" tIns="0" rIns="0" bIns="0" rtlCol="0" anchor="ctr"/>
          <a:lstStyle/>
          <a:p>
            <a:pPr algn="ctr" indent="0" marL="0">
              <a:buNone/>
            </a:pPr>
            <a:r>
              <a:rPr lang="en-US" sz="1300" dirty="0">
                <a:solidFill>
                  <a:srgbClr val="C8C0A8"/>
                </a:solidFill>
                <a:latin typeface="Calibri" pitchFamily="34" charset="0"/>
                <a:ea typeface="Calibri" pitchFamily="34" charset="-122"/>
                <a:cs typeface="Calibri" pitchFamily="34" charset="-120"/>
              </a:rPr>
              <a:t>Heuristic-guided  ·  f(n)=g(n)+h(n)  ·  Optimal with admissible heuristic</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3A2F"/>
        </a:solidFill>
      </p:bgPr>
    </p:bg>
    <p:spTree>
      <p:nvGrpSpPr>
        <p:cNvPr id="1" name=""/>
        <p:cNvGrpSpPr/>
        <p:nvPr/>
      </p:nvGrpSpPr>
      <p:grpSpPr>
        <a:xfrm>
          <a:off x="0" y="0"/>
          <a:ext cx="0" cy="0"/>
          <a:chOff x="0" y="0"/>
          <a:chExt cx="0" cy="0"/>
        </a:xfrm>
      </p:grpSpPr>
      <p:sp>
        <p:nvSpPr>
          <p:cNvPr id="2" name="Text 0"/>
          <p:cNvSpPr/>
          <p:nvPr/>
        </p:nvSpPr>
        <p:spPr>
          <a:xfrm>
            <a:off x="7772400" y="7315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3" name="Text 1"/>
          <p:cNvSpPr/>
          <p:nvPr/>
        </p:nvSpPr>
        <p:spPr>
          <a:xfrm>
            <a:off x="7772400" y="25603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4" name="Text 2"/>
          <p:cNvSpPr/>
          <p:nvPr/>
        </p:nvSpPr>
        <p:spPr>
          <a:xfrm>
            <a:off x="7772400" y="484632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5" name="Text 3"/>
          <p:cNvSpPr/>
          <p:nvPr/>
        </p:nvSpPr>
        <p:spPr>
          <a:xfrm>
            <a:off x="7772400" y="502920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6" name="Shape 4"/>
          <p:cNvSpPr/>
          <p:nvPr/>
        </p:nvSpPr>
        <p:spPr>
          <a:xfrm>
            <a:off x="457200" y="4754880"/>
            <a:ext cx="8229600" cy="0"/>
          </a:xfrm>
          <a:prstGeom prst="line">
            <a:avLst/>
          </a:prstGeom>
          <a:noFill/>
          <a:ln w="12700">
            <a:solidFill>
              <a:srgbClr val="D4A017"/>
            </a:solidFill>
            <a:prstDash val="solid"/>
          </a:ln>
        </p:spPr>
      </p:sp>
      <p:sp>
        <p:nvSpPr>
          <p:cNvPr id="7" name="Text 5"/>
          <p:cNvSpPr/>
          <p:nvPr/>
        </p:nvSpPr>
        <p:spPr>
          <a:xfrm>
            <a:off x="457200" y="201168"/>
            <a:ext cx="73152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IS A* SEARCH?</a:t>
            </a:r>
            <a:endParaRPr lang="en-US" sz="2600" dirty="0"/>
          </a:p>
        </p:txBody>
      </p:sp>
      <p:sp>
        <p:nvSpPr>
          <p:cNvPr id="8" name="Shape 6"/>
          <p:cNvSpPr/>
          <p:nvPr/>
        </p:nvSpPr>
        <p:spPr>
          <a:xfrm>
            <a:off x="274320" y="1371600"/>
            <a:ext cx="640080" cy="640080"/>
          </a:xfrm>
          <a:prstGeom prst="ellipse">
            <a:avLst/>
          </a:prstGeom>
          <a:solidFill>
            <a:srgbClr val="D4A017"/>
          </a:solidFill>
          <a:ln w="12700">
            <a:solidFill>
              <a:srgbClr val="D4A017"/>
            </a:solidFill>
            <a:prstDash val="solid"/>
          </a:ln>
        </p:spPr>
      </p:sp>
      <p:sp>
        <p:nvSpPr>
          <p:cNvPr id="9" name="Text 7"/>
          <p:cNvSpPr/>
          <p:nvPr/>
        </p:nvSpPr>
        <p:spPr>
          <a:xfrm>
            <a:off x="274320" y="1371600"/>
            <a:ext cx="640080" cy="640080"/>
          </a:xfrm>
          <a:prstGeom prst="rect">
            <a:avLst/>
          </a:prstGeom>
          <a:noFill/>
          <a:ln/>
        </p:spPr>
        <p:txBody>
          <a:bodyPr wrap="square" lIns="0" tIns="0" rIns="0" bIns="0" rtlCol="0" anchor="ctr"/>
          <a:lstStyle/>
          <a:p>
            <a:pPr algn="ctr" indent="0" marL="0">
              <a:buNone/>
            </a:pPr>
            <a:r>
              <a:rPr lang="en-US" sz="1600" b="1" dirty="0">
                <a:solidFill>
                  <a:srgbClr val="1E3A2F"/>
                </a:solidFill>
              </a:rPr>
              <a:t>01</a:t>
            </a:r>
            <a:endParaRPr lang="en-US" sz="1600" dirty="0"/>
          </a:p>
        </p:txBody>
      </p:sp>
      <p:sp>
        <p:nvSpPr>
          <p:cNvPr id="10" name="Text 8"/>
          <p:cNvSpPr/>
          <p:nvPr/>
        </p:nvSpPr>
        <p:spPr>
          <a:xfrm>
            <a:off x="1051560" y="1005840"/>
            <a:ext cx="7680960" cy="1280160"/>
          </a:xfrm>
          <a:prstGeom prst="rect">
            <a:avLst/>
          </a:prstGeom>
          <a:noFill/>
          <a:ln/>
        </p:spPr>
        <p:txBody>
          <a:bodyPr wrap="square" lIns="0" tIns="0" rIns="0" bIns="0" rtlCol="0" anchor="ctr"/>
          <a:lstStyle/>
          <a:p>
            <a:pPr algn="just" indent="0" marL="0">
              <a:buNone/>
            </a:pPr>
            <a:r>
              <a:rPr lang="en-US" sz="1300" dirty="0">
                <a:solidFill>
                  <a:srgbClr val="FFFFFF"/>
                </a:solidFill>
                <a:latin typeface="Calibri" pitchFamily="34" charset="0"/>
                <a:ea typeface="Calibri" pitchFamily="34" charset="-122"/>
                <a:cs typeface="Calibri" pitchFamily="34" charset="-120"/>
              </a:rPr>
              <a:t>A* combines Dijkstra's guaranteed optimality with a heuristic function h(n) that estimates the remaining distance to the goal. It prioritises nodes by f(n) = g(n) + h(n), where g(n) is the exact cost from start to n. With an admissible (never over-estimating) heuristic, A* is optimal and often explores far fewer nodes than Dijkstra.</a:t>
            </a:r>
            <a:endParaRPr lang="en-US" sz="1300" dirty="0"/>
          </a:p>
        </p:txBody>
      </p:sp>
      <p:sp>
        <p:nvSpPr>
          <p:cNvPr id="11" name="Shape 9"/>
          <p:cNvSpPr/>
          <p:nvPr/>
        </p:nvSpPr>
        <p:spPr>
          <a:xfrm>
            <a:off x="1051560" y="2423160"/>
            <a:ext cx="256032" cy="256032"/>
          </a:xfrm>
          <a:prstGeom prst="ellipse">
            <a:avLst/>
          </a:prstGeom>
          <a:solidFill>
            <a:srgbClr val="D4A017"/>
          </a:solidFill>
          <a:ln w="12700">
            <a:solidFill>
              <a:srgbClr val="D4A017"/>
            </a:solidFill>
            <a:prstDash val="solid"/>
          </a:ln>
        </p:spPr>
      </p:sp>
      <p:sp>
        <p:nvSpPr>
          <p:cNvPr id="12" name="Text 10"/>
          <p:cNvSpPr/>
          <p:nvPr/>
        </p:nvSpPr>
        <p:spPr>
          <a:xfrm>
            <a:off x="1051560" y="2423160"/>
            <a:ext cx="256032" cy="256032"/>
          </a:xfrm>
          <a:prstGeom prst="rect">
            <a:avLst/>
          </a:prstGeom>
          <a:noFill/>
          <a:ln/>
        </p:spPr>
        <p:txBody>
          <a:bodyPr wrap="square" lIns="0" tIns="0" rIns="0" bIns="0" rtlCol="0" anchor="ctr"/>
          <a:lstStyle/>
          <a:p>
            <a:pPr algn="ctr" indent="0" marL="0">
              <a:buNone/>
            </a:pPr>
            <a:r>
              <a:rPr lang="en-US" sz="900" b="1" dirty="0">
                <a:solidFill>
                  <a:srgbClr val="1E3A2F"/>
                </a:solidFill>
              </a:rPr>
              <a:t>✓</a:t>
            </a:r>
            <a:endParaRPr lang="en-US" sz="900" dirty="0"/>
          </a:p>
        </p:txBody>
      </p:sp>
      <p:sp>
        <p:nvSpPr>
          <p:cNvPr id="13" name="Text 11"/>
          <p:cNvSpPr/>
          <p:nvPr/>
        </p:nvSpPr>
        <p:spPr>
          <a:xfrm>
            <a:off x="1399032" y="2423160"/>
            <a:ext cx="7315200" cy="2560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Evaluates nodes by f(n) = g(n) + h(n)</a:t>
            </a:r>
            <a:endParaRPr lang="en-US" sz="1400" dirty="0"/>
          </a:p>
        </p:txBody>
      </p:sp>
      <p:sp>
        <p:nvSpPr>
          <p:cNvPr id="14" name="Shape 12"/>
          <p:cNvSpPr/>
          <p:nvPr/>
        </p:nvSpPr>
        <p:spPr>
          <a:xfrm>
            <a:off x="1051560" y="2898648"/>
            <a:ext cx="256032" cy="256032"/>
          </a:xfrm>
          <a:prstGeom prst="ellipse">
            <a:avLst/>
          </a:prstGeom>
          <a:solidFill>
            <a:srgbClr val="D4A017"/>
          </a:solidFill>
          <a:ln w="12700">
            <a:solidFill>
              <a:srgbClr val="D4A017"/>
            </a:solidFill>
            <a:prstDash val="solid"/>
          </a:ln>
        </p:spPr>
      </p:sp>
      <p:sp>
        <p:nvSpPr>
          <p:cNvPr id="15" name="Text 13"/>
          <p:cNvSpPr/>
          <p:nvPr/>
        </p:nvSpPr>
        <p:spPr>
          <a:xfrm>
            <a:off x="1051560" y="2898648"/>
            <a:ext cx="256032" cy="256032"/>
          </a:xfrm>
          <a:prstGeom prst="rect">
            <a:avLst/>
          </a:prstGeom>
          <a:noFill/>
          <a:ln/>
        </p:spPr>
        <p:txBody>
          <a:bodyPr wrap="square" lIns="0" tIns="0" rIns="0" bIns="0" rtlCol="0" anchor="ctr"/>
          <a:lstStyle/>
          <a:p>
            <a:pPr algn="ctr" indent="0" marL="0">
              <a:buNone/>
            </a:pPr>
            <a:r>
              <a:rPr lang="en-US" sz="900" b="1" dirty="0">
                <a:solidFill>
                  <a:srgbClr val="1E3A2F"/>
                </a:solidFill>
              </a:rPr>
              <a:t>✓</a:t>
            </a:r>
            <a:endParaRPr lang="en-US" sz="900" dirty="0"/>
          </a:p>
        </p:txBody>
      </p:sp>
      <p:sp>
        <p:nvSpPr>
          <p:cNvPr id="16" name="Text 14"/>
          <p:cNvSpPr/>
          <p:nvPr/>
        </p:nvSpPr>
        <p:spPr>
          <a:xfrm>
            <a:off x="1399032" y="2898648"/>
            <a:ext cx="7315200" cy="2560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Admissible heuristic guarantees optimal solution</a:t>
            </a:r>
            <a:endParaRPr lang="en-US" sz="1400" dirty="0"/>
          </a:p>
        </p:txBody>
      </p:sp>
      <p:sp>
        <p:nvSpPr>
          <p:cNvPr id="17" name="Shape 15"/>
          <p:cNvSpPr/>
          <p:nvPr/>
        </p:nvSpPr>
        <p:spPr>
          <a:xfrm>
            <a:off x="1051560" y="3374136"/>
            <a:ext cx="256032" cy="256032"/>
          </a:xfrm>
          <a:prstGeom prst="ellipse">
            <a:avLst/>
          </a:prstGeom>
          <a:solidFill>
            <a:srgbClr val="D4A017"/>
          </a:solidFill>
          <a:ln w="12700">
            <a:solidFill>
              <a:srgbClr val="D4A017"/>
            </a:solidFill>
            <a:prstDash val="solid"/>
          </a:ln>
        </p:spPr>
      </p:sp>
      <p:sp>
        <p:nvSpPr>
          <p:cNvPr id="18" name="Text 16"/>
          <p:cNvSpPr/>
          <p:nvPr/>
        </p:nvSpPr>
        <p:spPr>
          <a:xfrm>
            <a:off x="1051560" y="3374136"/>
            <a:ext cx="256032" cy="256032"/>
          </a:xfrm>
          <a:prstGeom prst="rect">
            <a:avLst/>
          </a:prstGeom>
          <a:noFill/>
          <a:ln/>
        </p:spPr>
        <p:txBody>
          <a:bodyPr wrap="square" lIns="0" tIns="0" rIns="0" bIns="0" rtlCol="0" anchor="ctr"/>
          <a:lstStyle/>
          <a:p>
            <a:pPr algn="ctr" indent="0" marL="0">
              <a:buNone/>
            </a:pPr>
            <a:r>
              <a:rPr lang="en-US" sz="900" b="1" dirty="0">
                <a:solidFill>
                  <a:srgbClr val="1E3A2F"/>
                </a:solidFill>
              </a:rPr>
              <a:t>✓</a:t>
            </a:r>
            <a:endParaRPr lang="en-US" sz="900" dirty="0"/>
          </a:p>
        </p:txBody>
      </p:sp>
      <p:sp>
        <p:nvSpPr>
          <p:cNvPr id="19" name="Text 17"/>
          <p:cNvSpPr/>
          <p:nvPr/>
        </p:nvSpPr>
        <p:spPr>
          <a:xfrm>
            <a:off x="1399032" y="3374136"/>
            <a:ext cx="7315200" cy="2560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Zero heuristic reduces to Dijkstra's algorithm</a:t>
            </a:r>
            <a:endParaRPr lang="en-US" sz="1400" dirty="0"/>
          </a:p>
        </p:txBody>
      </p:sp>
      <p:sp>
        <p:nvSpPr>
          <p:cNvPr id="20" name="Shape 18"/>
          <p:cNvSpPr/>
          <p:nvPr/>
        </p:nvSpPr>
        <p:spPr>
          <a:xfrm>
            <a:off x="1051560" y="3849624"/>
            <a:ext cx="256032" cy="256032"/>
          </a:xfrm>
          <a:prstGeom prst="ellipse">
            <a:avLst/>
          </a:prstGeom>
          <a:solidFill>
            <a:srgbClr val="D4A017"/>
          </a:solidFill>
          <a:ln w="12700">
            <a:solidFill>
              <a:srgbClr val="D4A017"/>
            </a:solidFill>
            <a:prstDash val="solid"/>
          </a:ln>
        </p:spPr>
      </p:sp>
      <p:sp>
        <p:nvSpPr>
          <p:cNvPr id="21" name="Text 19"/>
          <p:cNvSpPr/>
          <p:nvPr/>
        </p:nvSpPr>
        <p:spPr>
          <a:xfrm>
            <a:off x="1051560" y="3849624"/>
            <a:ext cx="256032" cy="256032"/>
          </a:xfrm>
          <a:prstGeom prst="rect">
            <a:avLst/>
          </a:prstGeom>
          <a:noFill/>
          <a:ln/>
        </p:spPr>
        <p:txBody>
          <a:bodyPr wrap="square" lIns="0" tIns="0" rIns="0" bIns="0" rtlCol="0" anchor="ctr"/>
          <a:lstStyle/>
          <a:p>
            <a:pPr algn="ctr" indent="0" marL="0">
              <a:buNone/>
            </a:pPr>
            <a:r>
              <a:rPr lang="en-US" sz="900" b="1" dirty="0">
                <a:solidFill>
                  <a:srgbClr val="1E3A2F"/>
                </a:solidFill>
              </a:rPr>
              <a:t>✓</a:t>
            </a:r>
            <a:endParaRPr lang="en-US" sz="900" dirty="0"/>
          </a:p>
        </p:txBody>
      </p:sp>
      <p:sp>
        <p:nvSpPr>
          <p:cNvPr id="22" name="Text 20"/>
          <p:cNvSpPr/>
          <p:nvPr/>
        </p:nvSpPr>
        <p:spPr>
          <a:xfrm>
            <a:off x="1399032" y="3849624"/>
            <a:ext cx="7315200" cy="2560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Best for single-pair queries with good spatial heuristic</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3A2F"/>
        </a:solidFill>
      </p:bgPr>
    </p:bg>
    <p:spTree>
      <p:nvGrpSpPr>
        <p:cNvPr id="1" name=""/>
        <p:cNvGrpSpPr/>
        <p:nvPr/>
      </p:nvGrpSpPr>
      <p:grpSpPr>
        <a:xfrm>
          <a:off x="0" y="0"/>
          <a:ext cx="0" cy="0"/>
          <a:chOff x="0" y="0"/>
          <a:chExt cx="0" cy="0"/>
        </a:xfrm>
      </p:grpSpPr>
      <p:sp>
        <p:nvSpPr>
          <p:cNvPr id="2" name="Text 0"/>
          <p:cNvSpPr/>
          <p:nvPr/>
        </p:nvSpPr>
        <p:spPr>
          <a:xfrm>
            <a:off x="7772400" y="7315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3" name="Text 1"/>
          <p:cNvSpPr/>
          <p:nvPr/>
        </p:nvSpPr>
        <p:spPr>
          <a:xfrm>
            <a:off x="7772400" y="25603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4" name="Text 2"/>
          <p:cNvSpPr/>
          <p:nvPr/>
        </p:nvSpPr>
        <p:spPr>
          <a:xfrm>
            <a:off x="7772400" y="484632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5" name="Text 3"/>
          <p:cNvSpPr/>
          <p:nvPr/>
        </p:nvSpPr>
        <p:spPr>
          <a:xfrm>
            <a:off x="7772400" y="502920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6" name="Shape 4"/>
          <p:cNvSpPr/>
          <p:nvPr/>
        </p:nvSpPr>
        <p:spPr>
          <a:xfrm>
            <a:off x="457200" y="4754880"/>
            <a:ext cx="8229600" cy="0"/>
          </a:xfrm>
          <a:prstGeom prst="line">
            <a:avLst/>
          </a:prstGeom>
          <a:noFill/>
          <a:ln w="12700">
            <a:solidFill>
              <a:srgbClr val="D4A017"/>
            </a:solidFill>
            <a:prstDash val="solid"/>
          </a:ln>
        </p:spPr>
      </p:sp>
      <p:sp>
        <p:nvSpPr>
          <p:cNvPr id="7" name="Text 5"/>
          <p:cNvSpPr/>
          <p:nvPr/>
        </p:nvSpPr>
        <p:spPr>
          <a:xfrm>
            <a:off x="457200" y="201168"/>
            <a:ext cx="73152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 SEARCH — PSEUDOCODE</a:t>
            </a:r>
            <a:endParaRPr lang="en-US" sz="2600" dirty="0"/>
          </a:p>
        </p:txBody>
      </p:sp>
      <p:sp>
        <p:nvSpPr>
          <p:cNvPr id="8" name="Shape 6"/>
          <p:cNvSpPr/>
          <p:nvPr/>
        </p:nvSpPr>
        <p:spPr>
          <a:xfrm>
            <a:off x="274320" y="1371600"/>
            <a:ext cx="640080" cy="640080"/>
          </a:xfrm>
          <a:prstGeom prst="ellipse">
            <a:avLst/>
          </a:prstGeom>
          <a:solidFill>
            <a:srgbClr val="D4A017"/>
          </a:solidFill>
          <a:ln w="12700">
            <a:solidFill>
              <a:srgbClr val="D4A017"/>
            </a:solidFill>
            <a:prstDash val="solid"/>
          </a:ln>
        </p:spPr>
      </p:sp>
      <p:sp>
        <p:nvSpPr>
          <p:cNvPr id="9" name="Text 7"/>
          <p:cNvSpPr/>
          <p:nvPr/>
        </p:nvSpPr>
        <p:spPr>
          <a:xfrm>
            <a:off x="274320" y="1371600"/>
            <a:ext cx="640080" cy="640080"/>
          </a:xfrm>
          <a:prstGeom prst="rect">
            <a:avLst/>
          </a:prstGeom>
          <a:noFill/>
          <a:ln/>
        </p:spPr>
        <p:txBody>
          <a:bodyPr wrap="square" lIns="0" tIns="0" rIns="0" bIns="0" rtlCol="0" anchor="ctr"/>
          <a:lstStyle/>
          <a:p>
            <a:pPr algn="ctr" indent="0" marL="0">
              <a:buNone/>
            </a:pPr>
            <a:r>
              <a:rPr lang="en-US" sz="1600" b="1" dirty="0">
                <a:solidFill>
                  <a:srgbClr val="1E3A2F"/>
                </a:solidFill>
              </a:rPr>
              <a:t>02</a:t>
            </a:r>
            <a:endParaRPr lang="en-US" sz="1600" dirty="0"/>
          </a:p>
        </p:txBody>
      </p:sp>
      <p:sp>
        <p:nvSpPr>
          <p:cNvPr id="10" name="Shape 8"/>
          <p:cNvSpPr/>
          <p:nvPr/>
        </p:nvSpPr>
        <p:spPr>
          <a:xfrm>
            <a:off x="1051560" y="868680"/>
            <a:ext cx="7635240" cy="3749040"/>
          </a:xfrm>
          <a:prstGeom prst="rect">
            <a:avLst/>
          </a:prstGeom>
          <a:solidFill>
            <a:srgbClr val="162D22"/>
          </a:solidFill>
          <a:ln w="12700">
            <a:solidFill>
              <a:srgbClr val="D4A017"/>
            </a:solidFill>
            <a:prstDash val="solid"/>
          </a:ln>
        </p:spPr>
      </p:sp>
      <p:sp>
        <p:nvSpPr>
          <p:cNvPr id="11" name="Text 9"/>
          <p:cNvSpPr/>
          <p:nvPr/>
        </p:nvSpPr>
        <p:spPr>
          <a:xfrm>
            <a:off x="1188720" y="978408"/>
            <a:ext cx="7360920" cy="3529584"/>
          </a:xfrm>
          <a:prstGeom prst="rect">
            <a:avLst/>
          </a:prstGeom>
          <a:noFill/>
          <a:ln/>
        </p:spPr>
        <p:txBody>
          <a:bodyPr wrap="square" lIns="0" tIns="0" rIns="0" bIns="0" rtlCol="0" anchor="t"/>
          <a:lstStyle/>
          <a:p>
            <a:pPr indent="0" marL="0">
              <a:buNone/>
            </a:pPr>
            <a:r>
              <a:rPr lang="en-US" sz="920" dirty="0">
                <a:solidFill>
                  <a:srgbClr val="A8D5A2"/>
                </a:solidFill>
                <a:latin typeface="Consolas" pitchFamily="34" charset="0"/>
                <a:ea typeface="Consolas" pitchFamily="34" charset="-122"/>
                <a:cs typeface="Consolas" pitchFamily="34" charset="-120"/>
              </a:rPr>
              <a:t>A-STAR(G, source, goal, h):</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open_set ← {(h(source, goal), 0, source)}</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came_from ← {}</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g_score[source] ← 0;  g_score[all others] ← ∞</a:t>
            </a:r>
            <a:endParaRPr lang="en-US" sz="920" dirty="0"/>
          </a:p>
          <a:p>
            <a:pPr indent="0" marL="0">
              <a:buNone/>
            </a:pP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WHILE open_set not empty:</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f, g, current ← EXTRACT-MIN(open_set)</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IF current in closed_set: CONTINUE</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closed_set.add(current)</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IF current == goal:</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RETURN (g, ReconstructPath(came_from, current))</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FOR (neighbor, weight) in Adj(current):</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tentative_g ← g_score[current] + weight</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IF tentative_g &lt; g_score[neighbor]:</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came_from[neighbor] ← current</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g_score[neighbor] ← tentative_g</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f_score ← tentative_g + h(neighbor, goal)</a:t>
            </a: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INSERT (f_score, tentative_g, neighbor) into open_set</a:t>
            </a:r>
            <a:endParaRPr lang="en-US" sz="920" dirty="0"/>
          </a:p>
          <a:p>
            <a:pPr indent="0" marL="0">
              <a:buNone/>
            </a:pPr>
            <a:endParaRPr lang="en-US" sz="920" dirty="0"/>
          </a:p>
          <a:p>
            <a:pPr indent="0" marL="0">
              <a:buNone/>
            </a:pPr>
            <a:r>
              <a:rPr lang="en-US" sz="920" dirty="0">
                <a:solidFill>
                  <a:srgbClr val="A8D5A2"/>
                </a:solidFill>
                <a:latin typeface="Consolas" pitchFamily="34" charset="0"/>
                <a:ea typeface="Consolas" pitchFamily="34" charset="-122"/>
                <a:cs typeface="Consolas" pitchFamily="34" charset="-120"/>
              </a:rPr>
              <a:t>  RETURN (∞, [])   // No path found</a:t>
            </a:r>
            <a:endParaRPr lang="en-US" sz="9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3A2F"/>
        </a:solidFill>
      </p:bgPr>
    </p:bg>
    <p:spTree>
      <p:nvGrpSpPr>
        <p:cNvPr id="1" name=""/>
        <p:cNvGrpSpPr/>
        <p:nvPr/>
      </p:nvGrpSpPr>
      <p:grpSpPr>
        <a:xfrm>
          <a:off x="0" y="0"/>
          <a:ext cx="0" cy="0"/>
          <a:chOff x="0" y="0"/>
          <a:chExt cx="0" cy="0"/>
        </a:xfrm>
      </p:grpSpPr>
      <p:sp>
        <p:nvSpPr>
          <p:cNvPr id="2" name="Text 0"/>
          <p:cNvSpPr/>
          <p:nvPr/>
        </p:nvSpPr>
        <p:spPr>
          <a:xfrm>
            <a:off x="7772400" y="7315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3" name="Text 1"/>
          <p:cNvSpPr/>
          <p:nvPr/>
        </p:nvSpPr>
        <p:spPr>
          <a:xfrm>
            <a:off x="7772400" y="25603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4" name="Text 2"/>
          <p:cNvSpPr/>
          <p:nvPr/>
        </p:nvSpPr>
        <p:spPr>
          <a:xfrm>
            <a:off x="7772400" y="484632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5" name="Text 3"/>
          <p:cNvSpPr/>
          <p:nvPr/>
        </p:nvSpPr>
        <p:spPr>
          <a:xfrm>
            <a:off x="7772400" y="502920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6" name="Shape 4"/>
          <p:cNvSpPr/>
          <p:nvPr/>
        </p:nvSpPr>
        <p:spPr>
          <a:xfrm>
            <a:off x="457200" y="4754880"/>
            <a:ext cx="8229600" cy="0"/>
          </a:xfrm>
          <a:prstGeom prst="line">
            <a:avLst/>
          </a:prstGeom>
          <a:noFill/>
          <a:ln w="12700">
            <a:solidFill>
              <a:srgbClr val="D4A017"/>
            </a:solidFill>
            <a:prstDash val="solid"/>
          </a:ln>
        </p:spPr>
      </p:sp>
      <p:sp>
        <p:nvSpPr>
          <p:cNvPr id="7" name="Text 5"/>
          <p:cNvSpPr/>
          <p:nvPr/>
        </p:nvSpPr>
        <p:spPr>
          <a:xfrm>
            <a:off x="457200" y="201168"/>
            <a:ext cx="73152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 — HEURISTICS &amp; COMPLEXITY</a:t>
            </a:r>
            <a:endParaRPr lang="en-US" sz="2600" dirty="0"/>
          </a:p>
        </p:txBody>
      </p:sp>
      <p:sp>
        <p:nvSpPr>
          <p:cNvPr id="8" name="Shape 6"/>
          <p:cNvSpPr/>
          <p:nvPr/>
        </p:nvSpPr>
        <p:spPr>
          <a:xfrm>
            <a:off x="274320" y="1371600"/>
            <a:ext cx="640080" cy="640080"/>
          </a:xfrm>
          <a:prstGeom prst="ellipse">
            <a:avLst/>
          </a:prstGeom>
          <a:solidFill>
            <a:srgbClr val="D4A017"/>
          </a:solidFill>
          <a:ln w="12700">
            <a:solidFill>
              <a:srgbClr val="D4A017"/>
            </a:solidFill>
            <a:prstDash val="solid"/>
          </a:ln>
        </p:spPr>
      </p:sp>
      <p:sp>
        <p:nvSpPr>
          <p:cNvPr id="9" name="Text 7"/>
          <p:cNvSpPr/>
          <p:nvPr/>
        </p:nvSpPr>
        <p:spPr>
          <a:xfrm>
            <a:off x="274320" y="1371600"/>
            <a:ext cx="640080" cy="640080"/>
          </a:xfrm>
          <a:prstGeom prst="rect">
            <a:avLst/>
          </a:prstGeom>
          <a:noFill/>
          <a:ln/>
        </p:spPr>
        <p:txBody>
          <a:bodyPr wrap="square" lIns="0" tIns="0" rIns="0" bIns="0" rtlCol="0" anchor="ctr"/>
          <a:lstStyle/>
          <a:p>
            <a:pPr algn="ctr" indent="0" marL="0">
              <a:buNone/>
            </a:pPr>
            <a:r>
              <a:rPr lang="en-US" sz="1600" b="1" dirty="0">
                <a:solidFill>
                  <a:srgbClr val="1E3A2F"/>
                </a:solidFill>
              </a:rPr>
              <a:t>03</a:t>
            </a:r>
            <a:endParaRPr lang="en-US" sz="1600" dirty="0"/>
          </a:p>
        </p:txBody>
      </p:sp>
      <p:sp>
        <p:nvSpPr>
          <p:cNvPr id="10" name="Text 8"/>
          <p:cNvSpPr/>
          <p:nvPr/>
        </p:nvSpPr>
        <p:spPr>
          <a:xfrm>
            <a:off x="457200" y="868680"/>
            <a:ext cx="3931920" cy="320040"/>
          </a:xfrm>
          <a:prstGeom prst="rect">
            <a:avLst/>
          </a:prstGeom>
          <a:noFill/>
          <a:ln/>
        </p:spPr>
        <p:txBody>
          <a:bodyPr wrap="square" lIns="0" tIns="0" rIns="0" bIns="0" rtlCol="0" anchor="ctr"/>
          <a:lstStyle/>
          <a:p>
            <a:pPr indent="0" marL="0">
              <a:buNone/>
            </a:pPr>
            <a:r>
              <a:rPr lang="en-US" sz="1400" b="1" dirty="0">
                <a:solidFill>
                  <a:srgbClr val="D4A017"/>
                </a:solidFill>
                <a:latin typeface="Calibri" pitchFamily="34" charset="0"/>
                <a:ea typeface="Calibri" pitchFamily="34" charset="-122"/>
                <a:cs typeface="Calibri" pitchFamily="34" charset="-120"/>
              </a:rPr>
              <a:t>Common Heuristics</a:t>
            </a:r>
            <a:endParaRPr lang="en-US" sz="1400" dirty="0"/>
          </a:p>
        </p:txBody>
      </p:sp>
      <p:sp>
        <p:nvSpPr>
          <p:cNvPr id="11" name="Shape 9"/>
          <p:cNvSpPr/>
          <p:nvPr/>
        </p:nvSpPr>
        <p:spPr>
          <a:xfrm>
            <a:off x="457200" y="1280160"/>
            <a:ext cx="3840480" cy="685800"/>
          </a:xfrm>
          <a:prstGeom prst="rect">
            <a:avLst/>
          </a:prstGeom>
          <a:solidFill>
            <a:srgbClr val="162D22"/>
          </a:solidFill>
          <a:ln w="12700">
            <a:solidFill>
              <a:srgbClr val="D4A017"/>
            </a:solidFill>
            <a:prstDash val="solid"/>
          </a:ln>
        </p:spPr>
      </p:sp>
      <p:sp>
        <p:nvSpPr>
          <p:cNvPr id="12" name="Text 10"/>
          <p:cNvSpPr/>
          <p:nvPr/>
        </p:nvSpPr>
        <p:spPr>
          <a:xfrm>
            <a:off x="594360" y="1325880"/>
            <a:ext cx="1097280" cy="256032"/>
          </a:xfrm>
          <a:prstGeom prst="rect">
            <a:avLst/>
          </a:prstGeom>
          <a:noFill/>
          <a:ln/>
        </p:spPr>
        <p:txBody>
          <a:bodyPr wrap="square" lIns="0" tIns="0" rIns="0" bIns="0" rtlCol="0" anchor="ctr"/>
          <a:lstStyle/>
          <a:p>
            <a:pPr indent="0" marL="0">
              <a:buNone/>
            </a:pPr>
            <a:r>
              <a:rPr lang="en-US" sz="1100" b="1" dirty="0">
                <a:solidFill>
                  <a:srgbClr val="D4A017"/>
                </a:solidFill>
                <a:latin typeface="Calibri" pitchFamily="34" charset="0"/>
                <a:ea typeface="Calibri" pitchFamily="34" charset="-122"/>
                <a:cs typeface="Calibri" pitchFamily="34" charset="-120"/>
              </a:rPr>
              <a:t>Zero</a:t>
            </a:r>
            <a:endParaRPr lang="en-US" sz="1100" dirty="0"/>
          </a:p>
        </p:txBody>
      </p:sp>
      <p:sp>
        <p:nvSpPr>
          <p:cNvPr id="13" name="Text 11"/>
          <p:cNvSpPr/>
          <p:nvPr/>
        </p:nvSpPr>
        <p:spPr>
          <a:xfrm>
            <a:off x="594360" y="1581912"/>
            <a:ext cx="3657600" cy="228600"/>
          </a:xfrm>
          <a:prstGeom prst="rect">
            <a:avLst/>
          </a:prstGeom>
          <a:noFill/>
          <a:ln/>
        </p:spPr>
        <p:txBody>
          <a:bodyPr wrap="square" lIns="0" tIns="0" rIns="0" bIns="0" rtlCol="0" anchor="ctr"/>
          <a:lstStyle/>
          <a:p>
            <a:pPr indent="0" marL="0">
              <a:buNone/>
            </a:pPr>
            <a:r>
              <a:rPr lang="en-US" sz="1000" dirty="0">
                <a:solidFill>
                  <a:srgbClr val="A8D5A2"/>
                </a:solidFill>
                <a:latin typeface="Consolas" pitchFamily="34" charset="0"/>
                <a:ea typeface="Consolas" pitchFamily="34" charset="-122"/>
                <a:cs typeface="Consolas" pitchFamily="34" charset="-120"/>
              </a:rPr>
              <a:t>h=0 → degrades to Dijkstra</a:t>
            </a:r>
            <a:endParaRPr lang="en-US" sz="1000" dirty="0"/>
          </a:p>
        </p:txBody>
      </p:sp>
      <p:sp>
        <p:nvSpPr>
          <p:cNvPr id="14" name="Text 12"/>
          <p:cNvSpPr/>
          <p:nvPr/>
        </p:nvSpPr>
        <p:spPr>
          <a:xfrm>
            <a:off x="1737360" y="1325880"/>
            <a:ext cx="2468880" cy="256032"/>
          </a:xfrm>
          <a:prstGeom prst="rect">
            <a:avLst/>
          </a:prstGeom>
          <a:noFill/>
          <a:ln/>
        </p:spPr>
        <p:txBody>
          <a:bodyPr wrap="square" lIns="0" tIns="0" rIns="0" bIns="0" rtlCol="0" anchor="ctr"/>
          <a:lstStyle/>
          <a:p>
            <a:pPr indent="0" marL="0">
              <a:buNone/>
            </a:pPr>
            <a:r>
              <a:rPr lang="en-US" sz="950" dirty="0">
                <a:solidFill>
                  <a:srgbClr val="C8C0A8"/>
                </a:solidFill>
                <a:latin typeface="Calibri" pitchFamily="34" charset="0"/>
                <a:ea typeface="Calibri" pitchFamily="34" charset="-122"/>
                <a:cs typeface="Calibri" pitchFamily="34" charset="-120"/>
              </a:rPr>
              <a:t>Always admissible</a:t>
            </a:r>
            <a:endParaRPr lang="en-US" sz="950" dirty="0"/>
          </a:p>
        </p:txBody>
      </p:sp>
      <p:sp>
        <p:nvSpPr>
          <p:cNvPr id="15" name="Shape 13"/>
          <p:cNvSpPr/>
          <p:nvPr/>
        </p:nvSpPr>
        <p:spPr>
          <a:xfrm>
            <a:off x="457200" y="2057400"/>
            <a:ext cx="3840480" cy="685800"/>
          </a:xfrm>
          <a:prstGeom prst="rect">
            <a:avLst/>
          </a:prstGeom>
          <a:solidFill>
            <a:srgbClr val="162D22"/>
          </a:solidFill>
          <a:ln w="12700">
            <a:solidFill>
              <a:srgbClr val="D4A017"/>
            </a:solidFill>
            <a:prstDash val="solid"/>
          </a:ln>
        </p:spPr>
      </p:sp>
      <p:sp>
        <p:nvSpPr>
          <p:cNvPr id="16" name="Text 14"/>
          <p:cNvSpPr/>
          <p:nvPr/>
        </p:nvSpPr>
        <p:spPr>
          <a:xfrm>
            <a:off x="594360" y="2103120"/>
            <a:ext cx="1097280" cy="256032"/>
          </a:xfrm>
          <a:prstGeom prst="rect">
            <a:avLst/>
          </a:prstGeom>
          <a:noFill/>
          <a:ln/>
        </p:spPr>
        <p:txBody>
          <a:bodyPr wrap="square" lIns="0" tIns="0" rIns="0" bIns="0" rtlCol="0" anchor="ctr"/>
          <a:lstStyle/>
          <a:p>
            <a:pPr indent="0" marL="0">
              <a:buNone/>
            </a:pPr>
            <a:r>
              <a:rPr lang="en-US" sz="1100" b="1" dirty="0">
                <a:solidFill>
                  <a:srgbClr val="D4A017"/>
                </a:solidFill>
                <a:latin typeface="Calibri" pitchFamily="34" charset="0"/>
                <a:ea typeface="Calibri" pitchFamily="34" charset="-122"/>
                <a:cs typeface="Calibri" pitchFamily="34" charset="-120"/>
              </a:rPr>
              <a:t>Manhattan</a:t>
            </a:r>
            <a:endParaRPr lang="en-US" sz="1100" dirty="0"/>
          </a:p>
        </p:txBody>
      </p:sp>
      <p:sp>
        <p:nvSpPr>
          <p:cNvPr id="17" name="Text 15"/>
          <p:cNvSpPr/>
          <p:nvPr/>
        </p:nvSpPr>
        <p:spPr>
          <a:xfrm>
            <a:off x="594360" y="2359152"/>
            <a:ext cx="3657600" cy="228600"/>
          </a:xfrm>
          <a:prstGeom prst="rect">
            <a:avLst/>
          </a:prstGeom>
          <a:noFill/>
          <a:ln/>
        </p:spPr>
        <p:txBody>
          <a:bodyPr wrap="square" lIns="0" tIns="0" rIns="0" bIns="0" rtlCol="0" anchor="ctr"/>
          <a:lstStyle/>
          <a:p>
            <a:pPr indent="0" marL="0">
              <a:buNone/>
            </a:pPr>
            <a:r>
              <a:rPr lang="en-US" sz="1000" dirty="0">
                <a:solidFill>
                  <a:srgbClr val="A8D5A2"/>
                </a:solidFill>
                <a:latin typeface="Consolas" pitchFamily="34" charset="0"/>
                <a:ea typeface="Consolas" pitchFamily="34" charset="-122"/>
                <a:cs typeface="Consolas" pitchFamily="34" charset="-120"/>
              </a:rPr>
              <a:t>|Δx|+|Δy|</a:t>
            </a:r>
            <a:endParaRPr lang="en-US" sz="1000" dirty="0"/>
          </a:p>
        </p:txBody>
      </p:sp>
      <p:sp>
        <p:nvSpPr>
          <p:cNvPr id="18" name="Text 16"/>
          <p:cNvSpPr/>
          <p:nvPr/>
        </p:nvSpPr>
        <p:spPr>
          <a:xfrm>
            <a:off x="1737360" y="2103120"/>
            <a:ext cx="2468880" cy="256032"/>
          </a:xfrm>
          <a:prstGeom prst="rect">
            <a:avLst/>
          </a:prstGeom>
          <a:noFill/>
          <a:ln/>
        </p:spPr>
        <p:txBody>
          <a:bodyPr wrap="square" lIns="0" tIns="0" rIns="0" bIns="0" rtlCol="0" anchor="ctr"/>
          <a:lstStyle/>
          <a:p>
            <a:pPr indent="0" marL="0">
              <a:buNone/>
            </a:pPr>
            <a:r>
              <a:rPr lang="en-US" sz="950" dirty="0">
                <a:solidFill>
                  <a:srgbClr val="C8C0A8"/>
                </a:solidFill>
                <a:latin typeface="Calibri" pitchFamily="34" charset="0"/>
                <a:ea typeface="Calibri" pitchFamily="34" charset="-122"/>
                <a:cs typeface="Calibri" pitchFamily="34" charset="-120"/>
              </a:rPr>
              <a:t>Grid graphs, 4-directional</a:t>
            </a:r>
            <a:endParaRPr lang="en-US" sz="950" dirty="0"/>
          </a:p>
        </p:txBody>
      </p:sp>
      <p:sp>
        <p:nvSpPr>
          <p:cNvPr id="19" name="Shape 17"/>
          <p:cNvSpPr/>
          <p:nvPr/>
        </p:nvSpPr>
        <p:spPr>
          <a:xfrm>
            <a:off x="457200" y="2834640"/>
            <a:ext cx="3840480" cy="685800"/>
          </a:xfrm>
          <a:prstGeom prst="rect">
            <a:avLst/>
          </a:prstGeom>
          <a:solidFill>
            <a:srgbClr val="162D22"/>
          </a:solidFill>
          <a:ln w="12700">
            <a:solidFill>
              <a:srgbClr val="D4A017"/>
            </a:solidFill>
            <a:prstDash val="solid"/>
          </a:ln>
        </p:spPr>
      </p:sp>
      <p:sp>
        <p:nvSpPr>
          <p:cNvPr id="20" name="Text 18"/>
          <p:cNvSpPr/>
          <p:nvPr/>
        </p:nvSpPr>
        <p:spPr>
          <a:xfrm>
            <a:off x="594360" y="2880360"/>
            <a:ext cx="1097280" cy="256032"/>
          </a:xfrm>
          <a:prstGeom prst="rect">
            <a:avLst/>
          </a:prstGeom>
          <a:noFill/>
          <a:ln/>
        </p:spPr>
        <p:txBody>
          <a:bodyPr wrap="square" lIns="0" tIns="0" rIns="0" bIns="0" rtlCol="0" anchor="ctr"/>
          <a:lstStyle/>
          <a:p>
            <a:pPr indent="0" marL="0">
              <a:buNone/>
            </a:pPr>
            <a:r>
              <a:rPr lang="en-US" sz="1100" b="1" dirty="0">
                <a:solidFill>
                  <a:srgbClr val="D4A017"/>
                </a:solidFill>
                <a:latin typeface="Calibri" pitchFamily="34" charset="0"/>
                <a:ea typeface="Calibri" pitchFamily="34" charset="-122"/>
                <a:cs typeface="Calibri" pitchFamily="34" charset="-120"/>
              </a:rPr>
              <a:t>Euclidean</a:t>
            </a:r>
            <a:endParaRPr lang="en-US" sz="1100" dirty="0"/>
          </a:p>
        </p:txBody>
      </p:sp>
      <p:sp>
        <p:nvSpPr>
          <p:cNvPr id="21" name="Text 19"/>
          <p:cNvSpPr/>
          <p:nvPr/>
        </p:nvSpPr>
        <p:spPr>
          <a:xfrm>
            <a:off x="594360" y="3136392"/>
            <a:ext cx="3657600" cy="228600"/>
          </a:xfrm>
          <a:prstGeom prst="rect">
            <a:avLst/>
          </a:prstGeom>
          <a:noFill/>
          <a:ln/>
        </p:spPr>
        <p:txBody>
          <a:bodyPr wrap="square" lIns="0" tIns="0" rIns="0" bIns="0" rtlCol="0" anchor="ctr"/>
          <a:lstStyle/>
          <a:p>
            <a:pPr indent="0" marL="0">
              <a:buNone/>
            </a:pPr>
            <a:r>
              <a:rPr lang="en-US" sz="1000" dirty="0">
                <a:solidFill>
                  <a:srgbClr val="A8D5A2"/>
                </a:solidFill>
                <a:latin typeface="Consolas" pitchFamily="34" charset="0"/>
                <a:ea typeface="Consolas" pitchFamily="34" charset="-122"/>
                <a:cs typeface="Consolas" pitchFamily="34" charset="-120"/>
              </a:rPr>
              <a:t>√(Δx²+Δy²)</a:t>
            </a:r>
            <a:endParaRPr lang="en-US" sz="1000" dirty="0"/>
          </a:p>
        </p:txBody>
      </p:sp>
      <p:sp>
        <p:nvSpPr>
          <p:cNvPr id="22" name="Text 20"/>
          <p:cNvSpPr/>
          <p:nvPr/>
        </p:nvSpPr>
        <p:spPr>
          <a:xfrm>
            <a:off x="1737360" y="2880360"/>
            <a:ext cx="2468880" cy="256032"/>
          </a:xfrm>
          <a:prstGeom prst="rect">
            <a:avLst/>
          </a:prstGeom>
          <a:noFill/>
          <a:ln/>
        </p:spPr>
        <p:txBody>
          <a:bodyPr wrap="square" lIns="0" tIns="0" rIns="0" bIns="0" rtlCol="0" anchor="ctr"/>
          <a:lstStyle/>
          <a:p>
            <a:pPr indent="0" marL="0">
              <a:buNone/>
            </a:pPr>
            <a:r>
              <a:rPr lang="en-US" sz="950" dirty="0">
                <a:solidFill>
                  <a:srgbClr val="C8C0A8"/>
                </a:solidFill>
                <a:latin typeface="Calibri" pitchFamily="34" charset="0"/>
                <a:ea typeface="Calibri" pitchFamily="34" charset="-122"/>
                <a:cs typeface="Calibri" pitchFamily="34" charset="-120"/>
              </a:rPr>
              <a:t>Continuous / 8-dir grids</a:t>
            </a:r>
            <a:endParaRPr lang="en-US" sz="950" dirty="0"/>
          </a:p>
        </p:txBody>
      </p:sp>
      <p:sp>
        <p:nvSpPr>
          <p:cNvPr id="23" name="Shape 21"/>
          <p:cNvSpPr/>
          <p:nvPr/>
        </p:nvSpPr>
        <p:spPr>
          <a:xfrm>
            <a:off x="457200" y="3611880"/>
            <a:ext cx="3840480" cy="685800"/>
          </a:xfrm>
          <a:prstGeom prst="rect">
            <a:avLst/>
          </a:prstGeom>
          <a:solidFill>
            <a:srgbClr val="162D22"/>
          </a:solidFill>
          <a:ln w="12700">
            <a:solidFill>
              <a:srgbClr val="D4A017"/>
            </a:solidFill>
            <a:prstDash val="solid"/>
          </a:ln>
        </p:spPr>
      </p:sp>
      <p:sp>
        <p:nvSpPr>
          <p:cNvPr id="24" name="Text 22"/>
          <p:cNvSpPr/>
          <p:nvPr/>
        </p:nvSpPr>
        <p:spPr>
          <a:xfrm>
            <a:off x="594360" y="3657600"/>
            <a:ext cx="1097280" cy="256032"/>
          </a:xfrm>
          <a:prstGeom prst="rect">
            <a:avLst/>
          </a:prstGeom>
          <a:noFill/>
          <a:ln/>
        </p:spPr>
        <p:txBody>
          <a:bodyPr wrap="square" lIns="0" tIns="0" rIns="0" bIns="0" rtlCol="0" anchor="ctr"/>
          <a:lstStyle/>
          <a:p>
            <a:pPr indent="0" marL="0">
              <a:buNone/>
            </a:pPr>
            <a:r>
              <a:rPr lang="en-US" sz="1100" b="1" dirty="0">
                <a:solidFill>
                  <a:srgbClr val="D4A017"/>
                </a:solidFill>
                <a:latin typeface="Calibri" pitchFamily="34" charset="0"/>
                <a:ea typeface="Calibri" pitchFamily="34" charset="-122"/>
                <a:cs typeface="Calibri" pitchFamily="34" charset="-120"/>
              </a:rPr>
              <a:t>Chebyshev</a:t>
            </a:r>
            <a:endParaRPr lang="en-US" sz="1100" dirty="0"/>
          </a:p>
        </p:txBody>
      </p:sp>
      <p:sp>
        <p:nvSpPr>
          <p:cNvPr id="25" name="Text 23"/>
          <p:cNvSpPr/>
          <p:nvPr/>
        </p:nvSpPr>
        <p:spPr>
          <a:xfrm>
            <a:off x="594360" y="3913632"/>
            <a:ext cx="3657600" cy="228600"/>
          </a:xfrm>
          <a:prstGeom prst="rect">
            <a:avLst/>
          </a:prstGeom>
          <a:noFill/>
          <a:ln/>
        </p:spPr>
        <p:txBody>
          <a:bodyPr wrap="square" lIns="0" tIns="0" rIns="0" bIns="0" rtlCol="0" anchor="ctr"/>
          <a:lstStyle/>
          <a:p>
            <a:pPr indent="0" marL="0">
              <a:buNone/>
            </a:pPr>
            <a:r>
              <a:rPr lang="en-US" sz="1000" dirty="0">
                <a:solidFill>
                  <a:srgbClr val="A8D5A2"/>
                </a:solidFill>
                <a:latin typeface="Consolas" pitchFamily="34" charset="0"/>
                <a:ea typeface="Consolas" pitchFamily="34" charset="-122"/>
                <a:cs typeface="Consolas" pitchFamily="34" charset="-120"/>
              </a:rPr>
              <a:t>max(|Δx|,|Δy|)</a:t>
            </a:r>
            <a:endParaRPr lang="en-US" sz="1000" dirty="0"/>
          </a:p>
        </p:txBody>
      </p:sp>
      <p:sp>
        <p:nvSpPr>
          <p:cNvPr id="26" name="Text 24"/>
          <p:cNvSpPr/>
          <p:nvPr/>
        </p:nvSpPr>
        <p:spPr>
          <a:xfrm>
            <a:off x="1737360" y="3657600"/>
            <a:ext cx="2468880" cy="256032"/>
          </a:xfrm>
          <a:prstGeom prst="rect">
            <a:avLst/>
          </a:prstGeom>
          <a:noFill/>
          <a:ln/>
        </p:spPr>
        <p:txBody>
          <a:bodyPr wrap="square" lIns="0" tIns="0" rIns="0" bIns="0" rtlCol="0" anchor="ctr"/>
          <a:lstStyle/>
          <a:p>
            <a:pPr indent="0" marL="0">
              <a:buNone/>
            </a:pPr>
            <a:r>
              <a:rPr lang="en-US" sz="950" dirty="0">
                <a:solidFill>
                  <a:srgbClr val="C8C0A8"/>
                </a:solidFill>
                <a:latin typeface="Calibri" pitchFamily="34" charset="0"/>
                <a:ea typeface="Calibri" pitchFamily="34" charset="-122"/>
                <a:cs typeface="Calibri" pitchFamily="34" charset="-120"/>
              </a:rPr>
              <a:t>8-directional movement</a:t>
            </a:r>
            <a:endParaRPr lang="en-US" sz="950" dirty="0"/>
          </a:p>
        </p:txBody>
      </p:sp>
      <p:sp>
        <p:nvSpPr>
          <p:cNvPr id="27" name="Text 25"/>
          <p:cNvSpPr/>
          <p:nvPr/>
        </p:nvSpPr>
        <p:spPr>
          <a:xfrm>
            <a:off x="4754880" y="868680"/>
            <a:ext cx="3931920" cy="320040"/>
          </a:xfrm>
          <a:prstGeom prst="rect">
            <a:avLst/>
          </a:prstGeom>
          <a:noFill/>
          <a:ln/>
        </p:spPr>
        <p:txBody>
          <a:bodyPr wrap="square" lIns="0" tIns="0" rIns="0" bIns="0" rtlCol="0" anchor="ctr"/>
          <a:lstStyle/>
          <a:p>
            <a:pPr indent="0" marL="0">
              <a:buNone/>
            </a:pPr>
            <a:r>
              <a:rPr lang="en-US" sz="1400" b="1" dirty="0">
                <a:solidFill>
                  <a:srgbClr val="D4A017"/>
                </a:solidFill>
                <a:latin typeface="Calibri" pitchFamily="34" charset="0"/>
                <a:ea typeface="Calibri" pitchFamily="34" charset="-122"/>
                <a:cs typeface="Calibri" pitchFamily="34" charset="-120"/>
              </a:rPr>
              <a:t>Complexity</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754880" y="1261872"/>
          <a:ext cx="3931920" cy="3291840"/>
        </p:xfrm>
        <a:graphic>
          <a:graphicData uri="http://schemas.openxmlformats.org/drawingml/2006/table">
            <a:tbl>
              <a:tblPr/>
              <a:tblGrid>
                <a:gridCol w="2103120"/>
                <a:gridCol w="1828800"/>
              </a:tblGrid>
              <a:tr h="658368">
                <a:tc>
                  <a:txBody>
                    <a:bodyPr/>
                    <a:lstStyle/>
                    <a:p>
                      <a:pPr algn="l" indent="0" marL="0">
                        <a:buNone/>
                      </a:pPr>
                      <a:r>
                        <a:rPr lang="en-US" sz="1200" b="1" dirty="0">
                          <a:solidFill>
                            <a:srgbClr val="1E3A2F"/>
                          </a:solidFill>
                        </a:rPr>
                        <a:t>Metric</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4A017"/>
                    </a:solidFill>
                  </a:tcPr>
                </a:tc>
                <a:tc>
                  <a:txBody>
                    <a:bodyPr/>
                    <a:lstStyle/>
                    <a:p>
                      <a:pPr algn="ctr" indent="0" marL="0">
                        <a:buNone/>
                      </a:pPr>
                      <a:r>
                        <a:rPr lang="en-US" sz="1200" b="1" dirty="0">
                          <a:solidFill>
                            <a:srgbClr val="1E3A2F"/>
                          </a:solidFill>
                        </a:rPr>
                        <a:t>Value</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4A017"/>
                    </a:solidFill>
                  </a:tcPr>
                </a:tc>
              </a:tr>
              <a:tr h="658368">
                <a:tc>
                  <a:txBody>
                    <a:bodyPr/>
                    <a:lstStyle/>
                    <a:p>
                      <a:pPr algn="l" indent="0" marL="0">
                        <a:buNone/>
                      </a:pPr>
                      <a:r>
                        <a:rPr lang="en-US" sz="1200" dirty="0">
                          <a:solidFill>
                            <a:srgbClr val="1E3A2F"/>
                          </a:solidFill>
                        </a:rPr>
                        <a:t>Time (worst)</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C0B8A0"/>
                    </a:solidFill>
                  </a:tcPr>
                </a:tc>
                <a:tc>
                  <a:txBody>
                    <a:bodyPr/>
                    <a:lstStyle/>
                    <a:p>
                      <a:pPr algn="ctr" indent="0" marL="0">
                        <a:buNone/>
                      </a:pPr>
                      <a:r>
                        <a:rPr lang="en-US" sz="1200" dirty="0">
                          <a:solidFill>
                            <a:srgbClr val="1E3A2F"/>
                          </a:solidFill>
                        </a:rPr>
                        <a:t>O((V+E) log V)</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C0B8A0"/>
                    </a:solidFill>
                  </a:tcPr>
                </a:tc>
              </a:tr>
              <a:tr h="658368">
                <a:tc>
                  <a:txBody>
                    <a:bodyPr/>
                    <a:lstStyle/>
                    <a:p>
                      <a:pPr algn="l" indent="0" marL="0">
                        <a:buNone/>
                      </a:pPr>
                      <a:r>
                        <a:rPr lang="en-US" sz="1200" dirty="0">
                          <a:solidFill>
                            <a:srgbClr val="1E3A2F"/>
                          </a:solidFill>
                        </a:rPr>
                        <a:t>Time (perfect h)</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0C8B0"/>
                    </a:solidFill>
                  </a:tcPr>
                </a:tc>
                <a:tc>
                  <a:txBody>
                    <a:bodyPr/>
                    <a:lstStyle/>
                    <a:p>
                      <a:pPr algn="ctr" indent="0" marL="0">
                        <a:buNone/>
                      </a:pPr>
                      <a:r>
                        <a:rPr lang="en-US" sz="1200" dirty="0">
                          <a:solidFill>
                            <a:srgbClr val="1E3A2F"/>
                          </a:solidFill>
                        </a:rPr>
                        <a:t>O(|path|)</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0C8B0"/>
                    </a:solidFill>
                  </a:tcPr>
                </a:tc>
              </a:tr>
              <a:tr h="658368">
                <a:tc>
                  <a:txBody>
                    <a:bodyPr/>
                    <a:lstStyle/>
                    <a:p>
                      <a:pPr algn="l" indent="0" marL="0">
                        <a:buNone/>
                      </a:pPr>
                      <a:r>
                        <a:rPr lang="en-US" sz="1200" dirty="0">
                          <a:solidFill>
                            <a:srgbClr val="1E3A2F"/>
                          </a:solidFill>
                        </a:rPr>
                        <a:t>Space</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C0B8A0"/>
                    </a:solidFill>
                  </a:tcPr>
                </a:tc>
                <a:tc>
                  <a:txBody>
                    <a:bodyPr/>
                    <a:lstStyle/>
                    <a:p>
                      <a:pPr algn="ctr" indent="0" marL="0">
                        <a:buNone/>
                      </a:pPr>
                      <a:r>
                        <a:rPr lang="en-US" sz="1200" dirty="0">
                          <a:solidFill>
                            <a:srgbClr val="1E3A2F"/>
                          </a:solidFill>
                        </a:rPr>
                        <a:t>O(V)</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C0B8A0"/>
                    </a:solidFill>
                  </a:tcPr>
                </a:tc>
              </a:tr>
              <a:tr h="658368">
                <a:tc>
                  <a:txBody>
                    <a:bodyPr/>
                    <a:lstStyle/>
                    <a:p>
                      <a:pPr algn="l" indent="0" marL="0">
                        <a:buNone/>
                      </a:pPr>
                      <a:r>
                        <a:rPr lang="en-US" sz="1200" dirty="0">
                          <a:solidFill>
                            <a:srgbClr val="1E3A2F"/>
                          </a:solidFill>
                        </a:rPr>
                        <a:t>Optimal?</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0C8B0"/>
                    </a:solidFill>
                  </a:tcPr>
                </a:tc>
                <a:tc>
                  <a:txBody>
                    <a:bodyPr/>
                    <a:lstStyle/>
                    <a:p>
                      <a:pPr algn="ctr" indent="0" marL="0">
                        <a:buNone/>
                      </a:pPr>
                      <a:r>
                        <a:rPr lang="en-US" sz="1200" dirty="0">
                          <a:solidFill>
                            <a:srgbClr val="1E3A2F"/>
                          </a:solidFill>
                        </a:rPr>
                        <a:t>Yes (admissible h)</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0C8B0"/>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3A2F"/>
        </a:solidFill>
      </p:bgPr>
    </p:bg>
    <p:spTree>
      <p:nvGrpSpPr>
        <p:cNvPr id="1" name=""/>
        <p:cNvGrpSpPr/>
        <p:nvPr/>
      </p:nvGrpSpPr>
      <p:grpSpPr>
        <a:xfrm>
          <a:off x="0" y="0"/>
          <a:ext cx="0" cy="0"/>
          <a:chOff x="0" y="0"/>
          <a:chExt cx="0" cy="0"/>
        </a:xfrm>
      </p:grpSpPr>
      <p:sp>
        <p:nvSpPr>
          <p:cNvPr id="2" name="Text 0"/>
          <p:cNvSpPr/>
          <p:nvPr/>
        </p:nvSpPr>
        <p:spPr>
          <a:xfrm>
            <a:off x="137160" y="91440"/>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3" name="Text 1"/>
          <p:cNvSpPr/>
          <p:nvPr/>
        </p:nvSpPr>
        <p:spPr>
          <a:xfrm>
            <a:off x="137160" y="292608"/>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4" name="Text 2"/>
          <p:cNvSpPr/>
          <p:nvPr/>
        </p:nvSpPr>
        <p:spPr>
          <a:xfrm>
            <a:off x="7909560" y="4754880"/>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5" name="Text 3"/>
          <p:cNvSpPr/>
          <p:nvPr/>
        </p:nvSpPr>
        <p:spPr>
          <a:xfrm>
            <a:off x="7909560" y="4956048"/>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6" name="Shape 4"/>
          <p:cNvSpPr/>
          <p:nvPr/>
        </p:nvSpPr>
        <p:spPr>
          <a:xfrm>
            <a:off x="8229600" y="-457200"/>
            <a:ext cx="1645920" cy="1645920"/>
          </a:xfrm>
          <a:prstGeom prst="ellipse">
            <a:avLst/>
          </a:prstGeom>
          <a:ln w="101600">
            <a:solidFill>
              <a:srgbClr val="FFFFFF"/>
            </a:solidFill>
            <a:prstDash val="solid"/>
          </a:ln>
        </p:spPr>
      </p:sp>
      <p:sp>
        <p:nvSpPr>
          <p:cNvPr id="7" name="Shape 5"/>
          <p:cNvSpPr/>
          <p:nvPr/>
        </p:nvSpPr>
        <p:spPr>
          <a:xfrm>
            <a:off x="-548640" y="3840480"/>
            <a:ext cx="1645920" cy="1645920"/>
          </a:xfrm>
          <a:prstGeom prst="ellipse">
            <a:avLst/>
          </a:prstGeom>
          <a:ln w="101600">
            <a:solidFill>
              <a:srgbClr val="FFFFFF"/>
            </a:solidFill>
            <a:prstDash val="solid"/>
          </a:ln>
        </p:spPr>
      </p:sp>
      <p:sp>
        <p:nvSpPr>
          <p:cNvPr id="8" name="Shape 6"/>
          <p:cNvSpPr/>
          <p:nvPr/>
        </p:nvSpPr>
        <p:spPr>
          <a:xfrm>
            <a:off x="4229100" y="640080"/>
            <a:ext cx="685800" cy="685800"/>
          </a:xfrm>
          <a:prstGeom prst="ellipse">
            <a:avLst/>
          </a:prstGeom>
          <a:solidFill>
            <a:srgbClr val="D4A017"/>
          </a:solidFill>
          <a:ln w="12700">
            <a:solidFill>
              <a:srgbClr val="D4A017"/>
            </a:solidFill>
            <a:prstDash val="solid"/>
          </a:ln>
        </p:spPr>
      </p:sp>
      <p:sp>
        <p:nvSpPr>
          <p:cNvPr id="9" name="Text 7"/>
          <p:cNvSpPr/>
          <p:nvPr/>
        </p:nvSpPr>
        <p:spPr>
          <a:xfrm>
            <a:off x="4229100" y="640080"/>
            <a:ext cx="685800" cy="685800"/>
          </a:xfrm>
          <a:prstGeom prst="rect">
            <a:avLst/>
          </a:prstGeom>
          <a:noFill/>
          <a:ln/>
        </p:spPr>
        <p:txBody>
          <a:bodyPr wrap="square" lIns="0" tIns="0" rIns="0" bIns="0" rtlCol="0" anchor="ctr"/>
          <a:lstStyle/>
          <a:p>
            <a:pPr algn="ctr" indent="0" marL="0">
              <a:buNone/>
            </a:pPr>
            <a:r>
              <a:rPr lang="en-US" sz="2000" b="1" dirty="0">
                <a:solidFill>
                  <a:srgbClr val="1E3A2F"/>
                </a:solidFill>
              </a:rPr>
              <a:t>03</a:t>
            </a:r>
            <a:endParaRPr lang="en-US" sz="2000" dirty="0"/>
          </a:p>
        </p:txBody>
      </p:sp>
      <p:sp>
        <p:nvSpPr>
          <p:cNvPr id="10" name="Text 8"/>
          <p:cNvSpPr/>
          <p:nvPr/>
        </p:nvSpPr>
        <p:spPr>
          <a:xfrm>
            <a:off x="457200" y="1554480"/>
            <a:ext cx="8229600" cy="777240"/>
          </a:xfrm>
          <a:prstGeom prst="rect">
            <a:avLst/>
          </a:prstGeom>
          <a:noFill/>
          <a:ln/>
        </p:spPr>
        <p:txBody>
          <a:bodyPr wrap="square" lIns="0" tIns="0" rIns="0" bIns="0" rtlCol="0" anchor="ctr"/>
          <a:lstStyle/>
          <a:p>
            <a:pPr algn="ctr" indent="0" marL="0">
              <a:buNone/>
            </a:pPr>
            <a:r>
              <a:rPr lang="en-US" sz="4400" b="1" dirty="0">
                <a:solidFill>
                  <a:srgbClr val="D4A017"/>
                </a:solidFill>
                <a:latin typeface="Arial Black" pitchFamily="34" charset="0"/>
                <a:ea typeface="Arial Black" pitchFamily="34" charset="-122"/>
                <a:cs typeface="Arial Black" pitchFamily="34" charset="-120"/>
              </a:rPr>
              <a:t>JUMP POINT</a:t>
            </a:r>
            <a:endParaRPr lang="en-US" sz="4400" dirty="0"/>
          </a:p>
        </p:txBody>
      </p:sp>
      <p:sp>
        <p:nvSpPr>
          <p:cNvPr id="11" name="Text 9"/>
          <p:cNvSpPr/>
          <p:nvPr/>
        </p:nvSpPr>
        <p:spPr>
          <a:xfrm>
            <a:off x="457200" y="2331720"/>
            <a:ext cx="8229600" cy="685800"/>
          </a:xfrm>
          <a:prstGeom prst="rect">
            <a:avLst/>
          </a:prstGeom>
          <a:noFill/>
          <a:ln/>
        </p:spPr>
        <p:txBody>
          <a:bodyPr wrap="square" lIns="0" tIns="0" rIns="0" bIns="0" rtlCol="0" anchor="ctr"/>
          <a:lstStyle/>
          <a:p>
            <a:pPr algn="ctr" indent="0" marL="0">
              <a:buNone/>
            </a:pPr>
            <a:r>
              <a:rPr lang="en-US" sz="3600" b="1" spc="500" kern="0" dirty="0">
                <a:solidFill>
                  <a:srgbClr val="FFFFFF"/>
                </a:solidFill>
                <a:latin typeface="Arial Black" pitchFamily="34" charset="0"/>
                <a:ea typeface="Arial Black" pitchFamily="34" charset="-122"/>
                <a:cs typeface="Arial Black" pitchFamily="34" charset="-120"/>
              </a:rPr>
              <a:t>SEARCH</a:t>
            </a:r>
            <a:endParaRPr lang="en-US" sz="3600" dirty="0"/>
          </a:p>
        </p:txBody>
      </p:sp>
      <p:sp>
        <p:nvSpPr>
          <p:cNvPr id="12" name="Text 10"/>
          <p:cNvSpPr/>
          <p:nvPr/>
        </p:nvSpPr>
        <p:spPr>
          <a:xfrm>
            <a:off x="1371600" y="3657600"/>
            <a:ext cx="6400800" cy="365760"/>
          </a:xfrm>
          <a:prstGeom prst="rect">
            <a:avLst/>
          </a:prstGeom>
          <a:noFill/>
          <a:ln/>
        </p:spPr>
        <p:txBody>
          <a:bodyPr wrap="square" lIns="0" tIns="0" rIns="0" bIns="0" rtlCol="0" anchor="ctr"/>
          <a:lstStyle/>
          <a:p>
            <a:pPr algn="ctr" indent="0" marL="0">
              <a:buNone/>
            </a:pPr>
            <a:r>
              <a:rPr lang="en-US" sz="1300" dirty="0">
                <a:solidFill>
                  <a:srgbClr val="C8C0A8"/>
                </a:solidFill>
                <a:latin typeface="Calibri" pitchFamily="34" charset="0"/>
                <a:ea typeface="Calibri" pitchFamily="34" charset="-122"/>
                <a:cs typeface="Calibri" pitchFamily="34" charset="-120"/>
              </a:rPr>
              <a:t>Grid symmetry exploitation  ·  10–40× faster than A* on grids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3A2F"/>
        </a:solidFill>
      </p:bgPr>
    </p:bg>
    <p:spTree>
      <p:nvGrpSpPr>
        <p:cNvPr id="1" name=""/>
        <p:cNvGrpSpPr/>
        <p:nvPr/>
      </p:nvGrpSpPr>
      <p:grpSpPr>
        <a:xfrm>
          <a:off x="0" y="0"/>
          <a:ext cx="0" cy="0"/>
          <a:chOff x="0" y="0"/>
          <a:chExt cx="0" cy="0"/>
        </a:xfrm>
      </p:grpSpPr>
      <p:sp>
        <p:nvSpPr>
          <p:cNvPr id="2" name="Text 0"/>
          <p:cNvSpPr/>
          <p:nvPr/>
        </p:nvSpPr>
        <p:spPr>
          <a:xfrm>
            <a:off x="7772400" y="7315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3" name="Text 1"/>
          <p:cNvSpPr/>
          <p:nvPr/>
        </p:nvSpPr>
        <p:spPr>
          <a:xfrm>
            <a:off x="7772400" y="25603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4" name="Text 2"/>
          <p:cNvSpPr/>
          <p:nvPr/>
        </p:nvSpPr>
        <p:spPr>
          <a:xfrm>
            <a:off x="7772400" y="484632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5" name="Text 3"/>
          <p:cNvSpPr/>
          <p:nvPr/>
        </p:nvSpPr>
        <p:spPr>
          <a:xfrm>
            <a:off x="7772400" y="502920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6" name="Shape 4"/>
          <p:cNvSpPr/>
          <p:nvPr/>
        </p:nvSpPr>
        <p:spPr>
          <a:xfrm>
            <a:off x="457200" y="4754880"/>
            <a:ext cx="8229600" cy="0"/>
          </a:xfrm>
          <a:prstGeom prst="line">
            <a:avLst/>
          </a:prstGeom>
          <a:noFill/>
          <a:ln w="12700">
            <a:solidFill>
              <a:srgbClr val="D4A017"/>
            </a:solidFill>
            <a:prstDash val="solid"/>
          </a:ln>
        </p:spPr>
      </p:sp>
      <p:sp>
        <p:nvSpPr>
          <p:cNvPr id="7" name="Text 5"/>
          <p:cNvSpPr/>
          <p:nvPr/>
        </p:nvSpPr>
        <p:spPr>
          <a:xfrm>
            <a:off x="457200" y="201168"/>
            <a:ext cx="73152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IS JUMP POINT SEARCH?</a:t>
            </a:r>
            <a:endParaRPr lang="en-US" sz="2600" dirty="0"/>
          </a:p>
        </p:txBody>
      </p:sp>
      <p:sp>
        <p:nvSpPr>
          <p:cNvPr id="8" name="Shape 6"/>
          <p:cNvSpPr/>
          <p:nvPr/>
        </p:nvSpPr>
        <p:spPr>
          <a:xfrm>
            <a:off x="274320" y="1371600"/>
            <a:ext cx="640080" cy="640080"/>
          </a:xfrm>
          <a:prstGeom prst="ellipse">
            <a:avLst/>
          </a:prstGeom>
          <a:solidFill>
            <a:srgbClr val="D4A017"/>
          </a:solidFill>
          <a:ln w="12700">
            <a:solidFill>
              <a:srgbClr val="D4A017"/>
            </a:solidFill>
            <a:prstDash val="solid"/>
          </a:ln>
        </p:spPr>
      </p:sp>
      <p:sp>
        <p:nvSpPr>
          <p:cNvPr id="9" name="Text 7"/>
          <p:cNvSpPr/>
          <p:nvPr/>
        </p:nvSpPr>
        <p:spPr>
          <a:xfrm>
            <a:off x="274320" y="1371600"/>
            <a:ext cx="640080" cy="640080"/>
          </a:xfrm>
          <a:prstGeom prst="rect">
            <a:avLst/>
          </a:prstGeom>
          <a:noFill/>
          <a:ln/>
        </p:spPr>
        <p:txBody>
          <a:bodyPr wrap="square" lIns="0" tIns="0" rIns="0" bIns="0" rtlCol="0" anchor="ctr"/>
          <a:lstStyle/>
          <a:p>
            <a:pPr algn="ctr" indent="0" marL="0">
              <a:buNone/>
            </a:pPr>
            <a:r>
              <a:rPr lang="en-US" sz="1600" b="1" dirty="0">
                <a:solidFill>
                  <a:srgbClr val="1E3A2F"/>
                </a:solidFill>
              </a:rPr>
              <a:t>01</a:t>
            </a:r>
            <a:endParaRPr lang="en-US" sz="1600" dirty="0"/>
          </a:p>
        </p:txBody>
      </p:sp>
      <p:sp>
        <p:nvSpPr>
          <p:cNvPr id="10" name="Text 8"/>
          <p:cNvSpPr/>
          <p:nvPr/>
        </p:nvSpPr>
        <p:spPr>
          <a:xfrm>
            <a:off x="1051560" y="1005840"/>
            <a:ext cx="7680960" cy="1280160"/>
          </a:xfrm>
          <a:prstGeom prst="rect">
            <a:avLst/>
          </a:prstGeom>
          <a:noFill/>
          <a:ln/>
        </p:spPr>
        <p:txBody>
          <a:bodyPr wrap="square" lIns="0" tIns="0" rIns="0" bIns="0" rtlCol="0" anchor="ctr"/>
          <a:lstStyle/>
          <a:p>
            <a:pPr algn="just" indent="0" marL="0">
              <a:buNone/>
            </a:pPr>
            <a:r>
              <a:rPr lang="en-US" sz="1300" dirty="0">
                <a:solidFill>
                  <a:srgbClr val="FFFFFF"/>
                </a:solidFill>
                <a:latin typeface="Calibri" pitchFamily="34" charset="0"/>
                <a:ea typeface="Calibri" pitchFamily="34" charset="-122"/>
                <a:cs typeface="Calibri" pitchFamily="34" charset="-120"/>
              </a:rPr>
              <a:t>Jump Point Search is an A* optimisation for uniform-cost grids that exploits movement symmetry. Instead of evaluating every grid cell, JPS identifies 'jump points' — special nodes where the path must turn — and leaps over redundant intermediate nodes. This delivers 10–40× speedups over standard A* on open grids.</a:t>
            </a:r>
            <a:endParaRPr lang="en-US" sz="1300" dirty="0"/>
          </a:p>
        </p:txBody>
      </p:sp>
      <p:sp>
        <p:nvSpPr>
          <p:cNvPr id="11" name="Shape 9"/>
          <p:cNvSpPr/>
          <p:nvPr/>
        </p:nvSpPr>
        <p:spPr>
          <a:xfrm>
            <a:off x="1051560" y="2423160"/>
            <a:ext cx="256032" cy="256032"/>
          </a:xfrm>
          <a:prstGeom prst="ellipse">
            <a:avLst/>
          </a:prstGeom>
          <a:solidFill>
            <a:srgbClr val="D4A017"/>
          </a:solidFill>
          <a:ln w="12700">
            <a:solidFill>
              <a:srgbClr val="D4A017"/>
            </a:solidFill>
            <a:prstDash val="solid"/>
          </a:ln>
        </p:spPr>
      </p:sp>
      <p:sp>
        <p:nvSpPr>
          <p:cNvPr id="12" name="Text 10"/>
          <p:cNvSpPr/>
          <p:nvPr/>
        </p:nvSpPr>
        <p:spPr>
          <a:xfrm>
            <a:off x="1051560" y="2423160"/>
            <a:ext cx="256032" cy="256032"/>
          </a:xfrm>
          <a:prstGeom prst="rect">
            <a:avLst/>
          </a:prstGeom>
          <a:noFill/>
          <a:ln/>
        </p:spPr>
        <p:txBody>
          <a:bodyPr wrap="square" lIns="0" tIns="0" rIns="0" bIns="0" rtlCol="0" anchor="ctr"/>
          <a:lstStyle/>
          <a:p>
            <a:pPr algn="ctr" indent="0" marL="0">
              <a:buNone/>
            </a:pPr>
            <a:r>
              <a:rPr lang="en-US" sz="900" b="1" dirty="0">
                <a:solidFill>
                  <a:srgbClr val="1E3A2F"/>
                </a:solidFill>
              </a:rPr>
              <a:t>✓</a:t>
            </a:r>
            <a:endParaRPr lang="en-US" sz="900" dirty="0"/>
          </a:p>
        </p:txBody>
      </p:sp>
      <p:sp>
        <p:nvSpPr>
          <p:cNvPr id="13" name="Text 11"/>
          <p:cNvSpPr/>
          <p:nvPr/>
        </p:nvSpPr>
        <p:spPr>
          <a:xfrm>
            <a:off x="1399032" y="2423160"/>
            <a:ext cx="7315200" cy="2560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Skips symmetric paths — jump, don't walk</a:t>
            </a:r>
            <a:endParaRPr lang="en-US" sz="1400" dirty="0"/>
          </a:p>
        </p:txBody>
      </p:sp>
      <p:sp>
        <p:nvSpPr>
          <p:cNvPr id="14" name="Shape 12"/>
          <p:cNvSpPr/>
          <p:nvPr/>
        </p:nvSpPr>
        <p:spPr>
          <a:xfrm>
            <a:off x="1051560" y="2898648"/>
            <a:ext cx="256032" cy="256032"/>
          </a:xfrm>
          <a:prstGeom prst="ellipse">
            <a:avLst/>
          </a:prstGeom>
          <a:solidFill>
            <a:srgbClr val="D4A017"/>
          </a:solidFill>
          <a:ln w="12700">
            <a:solidFill>
              <a:srgbClr val="D4A017"/>
            </a:solidFill>
            <a:prstDash val="solid"/>
          </a:ln>
        </p:spPr>
      </p:sp>
      <p:sp>
        <p:nvSpPr>
          <p:cNvPr id="15" name="Text 13"/>
          <p:cNvSpPr/>
          <p:nvPr/>
        </p:nvSpPr>
        <p:spPr>
          <a:xfrm>
            <a:off x="1051560" y="2898648"/>
            <a:ext cx="256032" cy="256032"/>
          </a:xfrm>
          <a:prstGeom prst="rect">
            <a:avLst/>
          </a:prstGeom>
          <a:noFill/>
          <a:ln/>
        </p:spPr>
        <p:txBody>
          <a:bodyPr wrap="square" lIns="0" tIns="0" rIns="0" bIns="0" rtlCol="0" anchor="ctr"/>
          <a:lstStyle/>
          <a:p>
            <a:pPr algn="ctr" indent="0" marL="0">
              <a:buNone/>
            </a:pPr>
            <a:r>
              <a:rPr lang="en-US" sz="900" b="1" dirty="0">
                <a:solidFill>
                  <a:srgbClr val="1E3A2F"/>
                </a:solidFill>
              </a:rPr>
              <a:t>✓</a:t>
            </a:r>
            <a:endParaRPr lang="en-US" sz="900" dirty="0"/>
          </a:p>
        </p:txBody>
      </p:sp>
      <p:sp>
        <p:nvSpPr>
          <p:cNvPr id="16" name="Text 14"/>
          <p:cNvSpPr/>
          <p:nvPr/>
        </p:nvSpPr>
        <p:spPr>
          <a:xfrm>
            <a:off x="1399032" y="2898648"/>
            <a:ext cx="7315200" cy="2560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Jump points: nodes with forced neighbours or goal</a:t>
            </a:r>
            <a:endParaRPr lang="en-US" sz="1400" dirty="0"/>
          </a:p>
        </p:txBody>
      </p:sp>
      <p:sp>
        <p:nvSpPr>
          <p:cNvPr id="17" name="Shape 15"/>
          <p:cNvSpPr/>
          <p:nvPr/>
        </p:nvSpPr>
        <p:spPr>
          <a:xfrm>
            <a:off x="1051560" y="3374136"/>
            <a:ext cx="256032" cy="256032"/>
          </a:xfrm>
          <a:prstGeom prst="ellipse">
            <a:avLst/>
          </a:prstGeom>
          <a:solidFill>
            <a:srgbClr val="D4A017"/>
          </a:solidFill>
          <a:ln w="12700">
            <a:solidFill>
              <a:srgbClr val="D4A017"/>
            </a:solidFill>
            <a:prstDash val="solid"/>
          </a:ln>
        </p:spPr>
      </p:sp>
      <p:sp>
        <p:nvSpPr>
          <p:cNvPr id="18" name="Text 16"/>
          <p:cNvSpPr/>
          <p:nvPr/>
        </p:nvSpPr>
        <p:spPr>
          <a:xfrm>
            <a:off x="1051560" y="3374136"/>
            <a:ext cx="256032" cy="256032"/>
          </a:xfrm>
          <a:prstGeom prst="rect">
            <a:avLst/>
          </a:prstGeom>
          <a:noFill/>
          <a:ln/>
        </p:spPr>
        <p:txBody>
          <a:bodyPr wrap="square" lIns="0" tIns="0" rIns="0" bIns="0" rtlCol="0" anchor="ctr"/>
          <a:lstStyle/>
          <a:p>
            <a:pPr algn="ctr" indent="0" marL="0">
              <a:buNone/>
            </a:pPr>
            <a:r>
              <a:rPr lang="en-US" sz="900" b="1" dirty="0">
                <a:solidFill>
                  <a:srgbClr val="1E3A2F"/>
                </a:solidFill>
              </a:rPr>
              <a:t>✓</a:t>
            </a:r>
            <a:endParaRPr lang="en-US" sz="900" dirty="0"/>
          </a:p>
        </p:txBody>
      </p:sp>
      <p:sp>
        <p:nvSpPr>
          <p:cNvPr id="19" name="Text 17"/>
          <p:cNvSpPr/>
          <p:nvPr/>
        </p:nvSpPr>
        <p:spPr>
          <a:xfrm>
            <a:off x="1399032" y="3374136"/>
            <a:ext cx="7315200" cy="2560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O(√V) best case on uniform grids, O(V+E) worst case</a:t>
            </a:r>
            <a:endParaRPr lang="en-US" sz="1400" dirty="0"/>
          </a:p>
        </p:txBody>
      </p:sp>
      <p:sp>
        <p:nvSpPr>
          <p:cNvPr id="20" name="Shape 18"/>
          <p:cNvSpPr/>
          <p:nvPr/>
        </p:nvSpPr>
        <p:spPr>
          <a:xfrm>
            <a:off x="1051560" y="3849624"/>
            <a:ext cx="256032" cy="256032"/>
          </a:xfrm>
          <a:prstGeom prst="ellipse">
            <a:avLst/>
          </a:prstGeom>
          <a:solidFill>
            <a:srgbClr val="D4A017"/>
          </a:solidFill>
          <a:ln w="12700">
            <a:solidFill>
              <a:srgbClr val="D4A017"/>
            </a:solidFill>
            <a:prstDash val="solid"/>
          </a:ln>
        </p:spPr>
      </p:sp>
      <p:sp>
        <p:nvSpPr>
          <p:cNvPr id="21" name="Text 19"/>
          <p:cNvSpPr/>
          <p:nvPr/>
        </p:nvSpPr>
        <p:spPr>
          <a:xfrm>
            <a:off x="1051560" y="3849624"/>
            <a:ext cx="256032" cy="256032"/>
          </a:xfrm>
          <a:prstGeom prst="rect">
            <a:avLst/>
          </a:prstGeom>
          <a:noFill/>
          <a:ln/>
        </p:spPr>
        <p:txBody>
          <a:bodyPr wrap="square" lIns="0" tIns="0" rIns="0" bIns="0" rtlCol="0" anchor="ctr"/>
          <a:lstStyle/>
          <a:p>
            <a:pPr algn="ctr" indent="0" marL="0">
              <a:buNone/>
            </a:pPr>
            <a:r>
              <a:rPr lang="en-US" sz="900" b="1" dirty="0">
                <a:solidFill>
                  <a:srgbClr val="1E3A2F"/>
                </a:solidFill>
              </a:rPr>
              <a:t>✓</a:t>
            </a:r>
            <a:endParaRPr lang="en-US" sz="900" dirty="0"/>
          </a:p>
        </p:txBody>
      </p:sp>
      <p:sp>
        <p:nvSpPr>
          <p:cNvPr id="22" name="Text 20"/>
          <p:cNvSpPr/>
          <p:nvPr/>
        </p:nvSpPr>
        <p:spPr>
          <a:xfrm>
            <a:off x="1399032" y="3849624"/>
            <a:ext cx="7315200" cy="2560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Requires Manhattan/Euclidean heuristic for grid</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3A2F"/>
        </a:solidFill>
      </p:bgPr>
    </p:bg>
    <p:spTree>
      <p:nvGrpSpPr>
        <p:cNvPr id="1" name=""/>
        <p:cNvGrpSpPr/>
        <p:nvPr/>
      </p:nvGrpSpPr>
      <p:grpSpPr>
        <a:xfrm>
          <a:off x="0" y="0"/>
          <a:ext cx="0" cy="0"/>
          <a:chOff x="0" y="0"/>
          <a:chExt cx="0" cy="0"/>
        </a:xfrm>
      </p:grpSpPr>
      <p:sp>
        <p:nvSpPr>
          <p:cNvPr id="2" name="Text 0"/>
          <p:cNvSpPr/>
          <p:nvPr/>
        </p:nvSpPr>
        <p:spPr>
          <a:xfrm>
            <a:off x="7772400" y="7315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3" name="Text 1"/>
          <p:cNvSpPr/>
          <p:nvPr/>
        </p:nvSpPr>
        <p:spPr>
          <a:xfrm>
            <a:off x="7772400" y="25603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4" name="Text 2"/>
          <p:cNvSpPr/>
          <p:nvPr/>
        </p:nvSpPr>
        <p:spPr>
          <a:xfrm>
            <a:off x="7772400" y="484632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5" name="Text 3"/>
          <p:cNvSpPr/>
          <p:nvPr/>
        </p:nvSpPr>
        <p:spPr>
          <a:xfrm>
            <a:off x="7772400" y="502920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6" name="Shape 4"/>
          <p:cNvSpPr/>
          <p:nvPr/>
        </p:nvSpPr>
        <p:spPr>
          <a:xfrm>
            <a:off x="457200" y="4754880"/>
            <a:ext cx="8229600" cy="0"/>
          </a:xfrm>
          <a:prstGeom prst="line">
            <a:avLst/>
          </a:prstGeom>
          <a:noFill/>
          <a:ln w="12700">
            <a:solidFill>
              <a:srgbClr val="D4A017"/>
            </a:solidFill>
            <a:prstDash val="solid"/>
          </a:ln>
        </p:spPr>
      </p:sp>
      <p:sp>
        <p:nvSpPr>
          <p:cNvPr id="7" name="Text 5"/>
          <p:cNvSpPr/>
          <p:nvPr/>
        </p:nvSpPr>
        <p:spPr>
          <a:xfrm>
            <a:off x="457200" y="201168"/>
            <a:ext cx="73152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JUMP POINT SEARCH — PSEUDOCODE</a:t>
            </a:r>
            <a:endParaRPr lang="en-US" sz="2600" dirty="0"/>
          </a:p>
        </p:txBody>
      </p:sp>
      <p:sp>
        <p:nvSpPr>
          <p:cNvPr id="8" name="Shape 6"/>
          <p:cNvSpPr/>
          <p:nvPr/>
        </p:nvSpPr>
        <p:spPr>
          <a:xfrm>
            <a:off x="274320" y="1371600"/>
            <a:ext cx="640080" cy="640080"/>
          </a:xfrm>
          <a:prstGeom prst="ellipse">
            <a:avLst/>
          </a:prstGeom>
          <a:solidFill>
            <a:srgbClr val="D4A017"/>
          </a:solidFill>
          <a:ln w="12700">
            <a:solidFill>
              <a:srgbClr val="D4A017"/>
            </a:solidFill>
            <a:prstDash val="solid"/>
          </a:ln>
        </p:spPr>
      </p:sp>
      <p:sp>
        <p:nvSpPr>
          <p:cNvPr id="9" name="Text 7"/>
          <p:cNvSpPr/>
          <p:nvPr/>
        </p:nvSpPr>
        <p:spPr>
          <a:xfrm>
            <a:off x="274320" y="1371600"/>
            <a:ext cx="640080" cy="640080"/>
          </a:xfrm>
          <a:prstGeom prst="rect">
            <a:avLst/>
          </a:prstGeom>
          <a:noFill/>
          <a:ln/>
        </p:spPr>
        <p:txBody>
          <a:bodyPr wrap="square" lIns="0" tIns="0" rIns="0" bIns="0" rtlCol="0" anchor="ctr"/>
          <a:lstStyle/>
          <a:p>
            <a:pPr algn="ctr" indent="0" marL="0">
              <a:buNone/>
            </a:pPr>
            <a:r>
              <a:rPr lang="en-US" sz="1600" b="1" dirty="0">
                <a:solidFill>
                  <a:srgbClr val="1E3A2F"/>
                </a:solidFill>
              </a:rPr>
              <a:t>02</a:t>
            </a:r>
            <a:endParaRPr lang="en-US" sz="1600" dirty="0"/>
          </a:p>
        </p:txBody>
      </p:sp>
      <p:sp>
        <p:nvSpPr>
          <p:cNvPr id="10" name="Shape 8"/>
          <p:cNvSpPr/>
          <p:nvPr/>
        </p:nvSpPr>
        <p:spPr>
          <a:xfrm>
            <a:off x="1051560" y="868680"/>
            <a:ext cx="7635240" cy="3749040"/>
          </a:xfrm>
          <a:prstGeom prst="rect">
            <a:avLst/>
          </a:prstGeom>
          <a:solidFill>
            <a:srgbClr val="162D22"/>
          </a:solidFill>
          <a:ln w="12700">
            <a:solidFill>
              <a:srgbClr val="D4A017"/>
            </a:solidFill>
            <a:prstDash val="solid"/>
          </a:ln>
        </p:spPr>
      </p:sp>
      <p:sp>
        <p:nvSpPr>
          <p:cNvPr id="11" name="Text 9"/>
          <p:cNvSpPr/>
          <p:nvPr/>
        </p:nvSpPr>
        <p:spPr>
          <a:xfrm>
            <a:off x="1188720" y="978408"/>
            <a:ext cx="7360920" cy="3529584"/>
          </a:xfrm>
          <a:prstGeom prst="rect">
            <a:avLst/>
          </a:prstGeom>
          <a:noFill/>
          <a:ln/>
        </p:spPr>
        <p:txBody>
          <a:bodyPr wrap="square" lIns="0" tIns="0" rIns="0" bIns="0" rtlCol="0" anchor="t"/>
          <a:lstStyle/>
          <a:p>
            <a:pPr indent="0" marL="0">
              <a:buNone/>
            </a:pPr>
            <a:r>
              <a:rPr lang="en-US" sz="880" dirty="0">
                <a:solidFill>
                  <a:srgbClr val="A8D5A2"/>
                </a:solidFill>
                <a:latin typeface="Consolas" pitchFamily="34" charset="0"/>
                <a:ea typeface="Consolas" pitchFamily="34" charset="-122"/>
                <a:cs typeface="Consolas" pitchFamily="34" charset="-120"/>
              </a:rPr>
              <a:t>JPS(G, source, goal, h):</a:t>
            </a:r>
            <a:endParaRPr lang="en-US" sz="880" dirty="0"/>
          </a:p>
          <a:p>
            <a:pPr indent="0" marL="0">
              <a:buNone/>
            </a:pPr>
            <a:r>
              <a:rPr lang="en-US" sz="880" dirty="0">
                <a:solidFill>
                  <a:srgbClr val="A8D5A2"/>
                </a:solidFill>
                <a:latin typeface="Consolas" pitchFamily="34" charset="0"/>
                <a:ea typeface="Consolas" pitchFamily="34" charset="-122"/>
                <a:cs typeface="Consolas" pitchFamily="34" charset="-120"/>
              </a:rPr>
              <a:t>  open_set ← {(h(source,goal), 0, source)}</a:t>
            </a:r>
            <a:endParaRPr lang="en-US" sz="880" dirty="0"/>
          </a:p>
          <a:p>
            <a:pPr indent="0" marL="0">
              <a:buNone/>
            </a:pPr>
            <a:r>
              <a:rPr lang="en-US" sz="880" dirty="0">
                <a:solidFill>
                  <a:srgbClr val="A8D5A2"/>
                </a:solidFill>
                <a:latin typeface="Consolas" pitchFamily="34" charset="0"/>
                <a:ea typeface="Consolas" pitchFamily="34" charset="-122"/>
                <a:cs typeface="Consolas" pitchFamily="34" charset="-120"/>
              </a:rPr>
              <a:t>  g_score[source] ← 0;  closed_set ← {}</a:t>
            </a:r>
            <a:endParaRPr lang="en-US" sz="880" dirty="0"/>
          </a:p>
          <a:p>
            <a:pPr indent="0" marL="0">
              <a:buNone/>
            </a:pPr>
            <a:endParaRPr lang="en-US" sz="880" dirty="0"/>
          </a:p>
          <a:p>
            <a:pPr indent="0" marL="0">
              <a:buNone/>
            </a:pPr>
            <a:r>
              <a:rPr lang="en-US" sz="880" dirty="0">
                <a:solidFill>
                  <a:srgbClr val="A8D5A2"/>
                </a:solidFill>
                <a:latin typeface="Consolas" pitchFamily="34" charset="0"/>
                <a:ea typeface="Consolas" pitchFamily="34" charset="-122"/>
                <a:cs typeface="Consolas" pitchFamily="34" charset="-120"/>
              </a:rPr>
              <a:t>  WHILE open_set not empty:</a:t>
            </a:r>
            <a:endParaRPr lang="en-US" sz="880" dirty="0"/>
          </a:p>
          <a:p>
            <a:pPr indent="0" marL="0">
              <a:buNone/>
            </a:pPr>
            <a:r>
              <a:rPr lang="en-US" sz="880" dirty="0">
                <a:solidFill>
                  <a:srgbClr val="A8D5A2"/>
                </a:solidFill>
                <a:latin typeface="Consolas" pitchFamily="34" charset="0"/>
                <a:ea typeface="Consolas" pitchFamily="34" charset="-122"/>
                <a:cs typeface="Consolas" pitchFamily="34" charset="-120"/>
              </a:rPr>
              <a:t>    f, g, current ← EXTRACT-MIN(open_set)</a:t>
            </a:r>
            <a:endParaRPr lang="en-US" sz="880" dirty="0"/>
          </a:p>
          <a:p>
            <a:pPr indent="0" marL="0">
              <a:buNone/>
            </a:pPr>
            <a:r>
              <a:rPr lang="en-US" sz="880" dirty="0">
                <a:solidFill>
                  <a:srgbClr val="A8D5A2"/>
                </a:solidFill>
                <a:latin typeface="Consolas" pitchFamily="34" charset="0"/>
                <a:ea typeface="Consolas" pitchFamily="34" charset="-122"/>
                <a:cs typeface="Consolas" pitchFamily="34" charset="-120"/>
              </a:rPr>
              <a:t>    IF current in closed_set: CONTINUE</a:t>
            </a:r>
            <a:endParaRPr lang="en-US" sz="880" dirty="0"/>
          </a:p>
          <a:p>
            <a:pPr indent="0" marL="0">
              <a:buNone/>
            </a:pPr>
            <a:r>
              <a:rPr lang="en-US" sz="880" dirty="0">
                <a:solidFill>
                  <a:srgbClr val="A8D5A2"/>
                </a:solidFill>
                <a:latin typeface="Consolas" pitchFamily="34" charset="0"/>
                <a:ea typeface="Consolas" pitchFamily="34" charset="-122"/>
                <a:cs typeface="Consolas" pitchFamily="34" charset="-120"/>
              </a:rPr>
              <a:t>    closed_set.add(current)</a:t>
            </a:r>
            <a:endParaRPr lang="en-US" sz="880" dirty="0"/>
          </a:p>
          <a:p>
            <a:pPr indent="0" marL="0">
              <a:buNone/>
            </a:pPr>
            <a:r>
              <a:rPr lang="en-US" sz="880" dirty="0">
                <a:solidFill>
                  <a:srgbClr val="A8D5A2"/>
                </a:solidFill>
                <a:latin typeface="Consolas" pitchFamily="34" charset="0"/>
                <a:ea typeface="Consolas" pitchFamily="34" charset="-122"/>
                <a:cs typeface="Consolas" pitchFamily="34" charset="-120"/>
              </a:rPr>
              <a:t>    IF current == goal: RETURN (g, path)</a:t>
            </a:r>
            <a:endParaRPr lang="en-US" sz="880" dirty="0"/>
          </a:p>
          <a:p>
            <a:pPr indent="0" marL="0">
              <a:buNone/>
            </a:pPr>
            <a:endParaRPr lang="en-US" sz="880" dirty="0"/>
          </a:p>
          <a:p>
            <a:pPr indent="0" marL="0">
              <a:buNone/>
            </a:pPr>
            <a:r>
              <a:rPr lang="en-US" sz="880" dirty="0">
                <a:solidFill>
                  <a:srgbClr val="A8D5A2"/>
                </a:solidFill>
                <a:latin typeface="Consolas" pitchFamily="34" charset="0"/>
                <a:ea typeface="Consolas" pitchFamily="34" charset="-122"/>
                <a:cs typeface="Consolas" pitchFamily="34" charset="-120"/>
              </a:rPr>
              <a:t>    FOR (neighbor, weight) in Adj(current):</a:t>
            </a:r>
            <a:endParaRPr lang="en-US" sz="880" dirty="0"/>
          </a:p>
          <a:p>
            <a:pPr indent="0" marL="0">
              <a:buNone/>
            </a:pPr>
            <a:r>
              <a:rPr lang="en-US" sz="880" dirty="0">
                <a:solidFill>
                  <a:srgbClr val="A8D5A2"/>
                </a:solidFill>
                <a:latin typeface="Consolas" pitchFamily="34" charset="0"/>
                <a:ea typeface="Consolas" pitchFamily="34" charset="-122"/>
                <a:cs typeface="Consolas" pitchFamily="34" charset="-120"/>
              </a:rPr>
              <a:t>      IF neighbor in closed_set: CONTINUE</a:t>
            </a:r>
            <a:endParaRPr lang="en-US" sz="880" dirty="0"/>
          </a:p>
          <a:p>
            <a:pPr indent="0" marL="0">
              <a:buNone/>
            </a:pPr>
            <a:r>
              <a:rPr lang="en-US" sz="880" dirty="0">
                <a:solidFill>
                  <a:srgbClr val="A8D5A2"/>
                </a:solidFill>
                <a:latin typeface="Consolas" pitchFamily="34" charset="0"/>
                <a:ea typeface="Consolas" pitchFamily="34" charset="-122"/>
                <a:cs typeface="Consolas" pitchFamily="34" charset="-120"/>
              </a:rPr>
              <a:t>      tentative_g ← g_score[current] + weight</a:t>
            </a:r>
            <a:endParaRPr lang="en-US" sz="880" dirty="0"/>
          </a:p>
          <a:p>
            <a:pPr indent="0" marL="0">
              <a:buNone/>
            </a:pPr>
            <a:r>
              <a:rPr lang="en-US" sz="880" dirty="0">
                <a:solidFill>
                  <a:srgbClr val="A8D5A2"/>
                </a:solidFill>
                <a:latin typeface="Consolas" pitchFamily="34" charset="0"/>
                <a:ea typeface="Consolas" pitchFamily="34" charset="-122"/>
                <a:cs typeface="Consolas" pitchFamily="34" charset="-120"/>
              </a:rPr>
              <a:t>      IF tentative_g &lt; g_score[neighbor]:</a:t>
            </a:r>
            <a:endParaRPr lang="en-US" sz="880" dirty="0"/>
          </a:p>
          <a:p>
            <a:pPr indent="0" marL="0">
              <a:buNone/>
            </a:pPr>
            <a:r>
              <a:rPr lang="en-US" sz="880" dirty="0">
                <a:solidFill>
                  <a:srgbClr val="A8D5A2"/>
                </a:solidFill>
                <a:latin typeface="Consolas" pitchFamily="34" charset="0"/>
                <a:ea typeface="Consolas" pitchFamily="34" charset="-122"/>
                <a:cs typeface="Consolas" pitchFamily="34" charset="-120"/>
              </a:rPr>
              <a:t>        g_score[neighbor] ← tentative_g</a:t>
            </a:r>
            <a:endParaRPr lang="en-US" sz="880" dirty="0"/>
          </a:p>
          <a:p>
            <a:pPr indent="0" marL="0">
              <a:buNone/>
            </a:pPr>
            <a:r>
              <a:rPr lang="en-US" sz="880" dirty="0">
                <a:solidFill>
                  <a:srgbClr val="A8D5A2"/>
                </a:solidFill>
                <a:latin typeface="Consolas" pitchFamily="34" charset="0"/>
                <a:ea typeface="Consolas" pitchFamily="34" charset="-122"/>
                <a:cs typeface="Consolas" pitchFamily="34" charset="-120"/>
              </a:rPr>
              <a:t>        IF IsJumpPoint(neighbor, current, goal) OR neighbor==goal:</a:t>
            </a:r>
            <a:endParaRPr lang="en-US" sz="880" dirty="0"/>
          </a:p>
          <a:p>
            <a:pPr indent="0" marL="0">
              <a:buNone/>
            </a:pPr>
            <a:r>
              <a:rPr lang="en-US" sz="880" dirty="0">
                <a:solidFill>
                  <a:srgbClr val="A8D5A2"/>
                </a:solidFill>
                <a:latin typeface="Consolas" pitchFamily="34" charset="0"/>
                <a:ea typeface="Consolas" pitchFamily="34" charset="-122"/>
                <a:cs typeface="Consolas" pitchFamily="34" charset="-120"/>
              </a:rPr>
              <a:t>          // forced neighbour detected — must expand</a:t>
            </a:r>
            <a:endParaRPr lang="en-US" sz="880" dirty="0"/>
          </a:p>
          <a:p>
            <a:pPr indent="0" marL="0">
              <a:buNone/>
            </a:pPr>
            <a:r>
              <a:rPr lang="en-US" sz="880" dirty="0">
                <a:solidFill>
                  <a:srgbClr val="A8D5A2"/>
                </a:solidFill>
                <a:latin typeface="Consolas" pitchFamily="34" charset="0"/>
                <a:ea typeface="Consolas" pitchFamily="34" charset="-122"/>
                <a:cs typeface="Consolas" pitchFamily="34" charset="-120"/>
              </a:rPr>
              <a:t>          INSERT (tentative_g + h(neighbor,goal), tentative_g, neighbor)</a:t>
            </a:r>
            <a:endParaRPr lang="en-US" sz="880" dirty="0"/>
          </a:p>
          <a:p>
            <a:pPr indent="0" marL="0">
              <a:buNone/>
            </a:pPr>
            <a:r>
              <a:rPr lang="en-US" sz="880" dirty="0">
                <a:solidFill>
                  <a:srgbClr val="A8D5A2"/>
                </a:solidFill>
                <a:latin typeface="Consolas" pitchFamily="34" charset="0"/>
                <a:ea typeface="Consolas" pitchFamily="34" charset="-122"/>
                <a:cs typeface="Consolas" pitchFamily="34" charset="-120"/>
              </a:rPr>
              <a:t>        ELSE IF NOT HasForcedNeighbours(neighbor, current):</a:t>
            </a:r>
            <a:endParaRPr lang="en-US" sz="880" dirty="0"/>
          </a:p>
          <a:p>
            <a:pPr indent="0" marL="0">
              <a:buNone/>
            </a:pPr>
            <a:r>
              <a:rPr lang="en-US" sz="880" dirty="0">
                <a:solidFill>
                  <a:srgbClr val="A8D5A2"/>
                </a:solidFill>
                <a:latin typeface="Consolas" pitchFamily="34" charset="0"/>
                <a:ea typeface="Consolas" pitchFamily="34" charset="-122"/>
                <a:cs typeface="Consolas" pitchFamily="34" charset="-120"/>
              </a:rPr>
              <a:t>          INSERT (tentative_g + h(neighbor,goal), tentative_g, neighbor)</a:t>
            </a:r>
            <a:endParaRPr lang="en-US" sz="880" dirty="0"/>
          </a:p>
          <a:p>
            <a:pPr indent="0" marL="0">
              <a:buNone/>
            </a:pPr>
            <a:r>
              <a:rPr lang="en-US" sz="880" dirty="0">
                <a:solidFill>
                  <a:srgbClr val="A8D5A2"/>
                </a:solidFill>
                <a:latin typeface="Consolas" pitchFamily="34" charset="0"/>
                <a:ea typeface="Consolas" pitchFamily="34" charset="-122"/>
                <a:cs typeface="Consolas" pitchFamily="34" charset="-120"/>
              </a:rPr>
              <a:t>  RETURN (∞, [])</a:t>
            </a:r>
            <a:endParaRPr lang="en-US" sz="880" dirty="0"/>
          </a:p>
          <a:p>
            <a:pPr indent="0" marL="0">
              <a:buNone/>
            </a:pPr>
            <a:endParaRPr lang="en-US" sz="880" dirty="0"/>
          </a:p>
          <a:p>
            <a:pPr indent="0" marL="0">
              <a:buNone/>
            </a:pPr>
            <a:r>
              <a:rPr lang="en-US" sz="880" dirty="0">
                <a:solidFill>
                  <a:srgbClr val="A8D5A2"/>
                </a:solidFill>
                <a:latin typeface="Consolas" pitchFamily="34" charset="0"/>
                <a:ea typeface="Consolas" pitchFamily="34" charset="-122"/>
                <a:cs typeface="Consolas" pitchFamily="34" charset="-120"/>
              </a:rPr>
              <a:t>IsJumpPoint(n, parent, goal):  RETURN n==goal OR ForcedNeighbours(n,parent)≠{}</a:t>
            </a:r>
            <a:endParaRPr lang="en-US" sz="8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3A2F"/>
        </a:solidFill>
      </p:bgPr>
    </p:bg>
    <p:spTree>
      <p:nvGrpSpPr>
        <p:cNvPr id="1" name=""/>
        <p:cNvGrpSpPr/>
        <p:nvPr/>
      </p:nvGrpSpPr>
      <p:grpSpPr>
        <a:xfrm>
          <a:off x="0" y="0"/>
          <a:ext cx="0" cy="0"/>
          <a:chOff x="0" y="0"/>
          <a:chExt cx="0" cy="0"/>
        </a:xfrm>
      </p:grpSpPr>
      <p:sp>
        <p:nvSpPr>
          <p:cNvPr id="2" name="Text 0"/>
          <p:cNvSpPr/>
          <p:nvPr/>
        </p:nvSpPr>
        <p:spPr>
          <a:xfrm>
            <a:off x="7772400" y="7315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3" name="Text 1"/>
          <p:cNvSpPr/>
          <p:nvPr/>
        </p:nvSpPr>
        <p:spPr>
          <a:xfrm>
            <a:off x="7772400" y="25603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4" name="Text 2"/>
          <p:cNvSpPr/>
          <p:nvPr/>
        </p:nvSpPr>
        <p:spPr>
          <a:xfrm>
            <a:off x="7772400" y="484632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5" name="Text 3"/>
          <p:cNvSpPr/>
          <p:nvPr/>
        </p:nvSpPr>
        <p:spPr>
          <a:xfrm>
            <a:off x="7772400" y="502920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6" name="Shape 4"/>
          <p:cNvSpPr/>
          <p:nvPr/>
        </p:nvSpPr>
        <p:spPr>
          <a:xfrm>
            <a:off x="457200" y="4754880"/>
            <a:ext cx="8229600" cy="0"/>
          </a:xfrm>
          <a:prstGeom prst="line">
            <a:avLst/>
          </a:prstGeom>
          <a:noFill/>
          <a:ln w="12700">
            <a:solidFill>
              <a:srgbClr val="D4A017"/>
            </a:solidFill>
            <a:prstDash val="solid"/>
          </a:ln>
        </p:spPr>
      </p:sp>
      <p:sp>
        <p:nvSpPr>
          <p:cNvPr id="7" name="Text 5"/>
          <p:cNvSpPr/>
          <p:nvPr/>
        </p:nvSpPr>
        <p:spPr>
          <a:xfrm>
            <a:off x="457200" y="201168"/>
            <a:ext cx="73152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JPS — COMPLEXITY &amp; SPEEDUP</a:t>
            </a:r>
            <a:endParaRPr lang="en-US" sz="2600" dirty="0"/>
          </a:p>
        </p:txBody>
      </p:sp>
      <p:sp>
        <p:nvSpPr>
          <p:cNvPr id="8" name="Shape 6"/>
          <p:cNvSpPr/>
          <p:nvPr/>
        </p:nvSpPr>
        <p:spPr>
          <a:xfrm>
            <a:off x="274320" y="1371600"/>
            <a:ext cx="640080" cy="640080"/>
          </a:xfrm>
          <a:prstGeom prst="ellipse">
            <a:avLst/>
          </a:prstGeom>
          <a:solidFill>
            <a:srgbClr val="D4A017"/>
          </a:solidFill>
          <a:ln w="12700">
            <a:solidFill>
              <a:srgbClr val="D4A017"/>
            </a:solidFill>
            <a:prstDash val="solid"/>
          </a:ln>
        </p:spPr>
      </p:sp>
      <p:sp>
        <p:nvSpPr>
          <p:cNvPr id="9" name="Text 7"/>
          <p:cNvSpPr/>
          <p:nvPr/>
        </p:nvSpPr>
        <p:spPr>
          <a:xfrm>
            <a:off x="274320" y="1371600"/>
            <a:ext cx="640080" cy="640080"/>
          </a:xfrm>
          <a:prstGeom prst="rect">
            <a:avLst/>
          </a:prstGeom>
          <a:noFill/>
          <a:ln/>
        </p:spPr>
        <p:txBody>
          <a:bodyPr wrap="square" lIns="0" tIns="0" rIns="0" bIns="0" rtlCol="0" anchor="ctr"/>
          <a:lstStyle/>
          <a:p>
            <a:pPr algn="ctr" indent="0" marL="0">
              <a:buNone/>
            </a:pPr>
            <a:r>
              <a:rPr lang="en-US" sz="1600" b="1" dirty="0">
                <a:solidFill>
                  <a:srgbClr val="1E3A2F"/>
                </a:solidFill>
              </a:rPr>
              <a:t>03</a:t>
            </a:r>
            <a:endParaRPr lang="en-US" sz="1600" dirty="0"/>
          </a:p>
        </p:txBody>
      </p:sp>
      <p:sp>
        <p:nvSpPr>
          <p:cNvPr id="10" name="Text 8"/>
          <p:cNvSpPr/>
          <p:nvPr/>
        </p:nvSpPr>
        <p:spPr>
          <a:xfrm>
            <a:off x="457200" y="868680"/>
            <a:ext cx="3840480" cy="320040"/>
          </a:xfrm>
          <a:prstGeom prst="rect">
            <a:avLst/>
          </a:prstGeom>
          <a:noFill/>
          <a:ln/>
        </p:spPr>
        <p:txBody>
          <a:bodyPr wrap="square" lIns="0" tIns="0" rIns="0" bIns="0" rtlCol="0" anchor="ctr"/>
          <a:lstStyle/>
          <a:p>
            <a:pPr indent="0" marL="0">
              <a:buNone/>
            </a:pPr>
            <a:r>
              <a:rPr lang="en-US" sz="1400" b="1" dirty="0">
                <a:solidFill>
                  <a:srgbClr val="D4A017"/>
                </a:solidFill>
                <a:latin typeface="Calibri" pitchFamily="34" charset="0"/>
                <a:ea typeface="Calibri" pitchFamily="34" charset="-122"/>
                <a:cs typeface="Calibri" pitchFamily="34" charset="-120"/>
              </a:rPr>
              <a:t>On Uniform Grids</a:t>
            </a:r>
            <a:endParaRPr lang="en-US" sz="1400" dirty="0"/>
          </a:p>
        </p:txBody>
      </p:sp>
      <p:sp>
        <p:nvSpPr>
          <p:cNvPr id="11" name="Shape 9"/>
          <p:cNvSpPr/>
          <p:nvPr/>
        </p:nvSpPr>
        <p:spPr>
          <a:xfrm>
            <a:off x="457200" y="1261872"/>
            <a:ext cx="256032" cy="256032"/>
          </a:xfrm>
          <a:prstGeom prst="ellipse">
            <a:avLst/>
          </a:prstGeom>
          <a:solidFill>
            <a:srgbClr val="D4A017"/>
          </a:solidFill>
          <a:ln w="12700">
            <a:solidFill>
              <a:srgbClr val="D4A017"/>
            </a:solidFill>
            <a:prstDash val="solid"/>
          </a:ln>
        </p:spPr>
      </p:sp>
      <p:sp>
        <p:nvSpPr>
          <p:cNvPr id="12" name="Text 10"/>
          <p:cNvSpPr/>
          <p:nvPr/>
        </p:nvSpPr>
        <p:spPr>
          <a:xfrm>
            <a:off x="457200" y="1261872"/>
            <a:ext cx="256032" cy="256032"/>
          </a:xfrm>
          <a:prstGeom prst="rect">
            <a:avLst/>
          </a:prstGeom>
          <a:noFill/>
          <a:ln/>
        </p:spPr>
        <p:txBody>
          <a:bodyPr wrap="square" lIns="0" tIns="0" rIns="0" bIns="0" rtlCol="0" anchor="ctr"/>
          <a:lstStyle/>
          <a:p>
            <a:pPr algn="ctr" indent="0" marL="0">
              <a:buNone/>
            </a:pPr>
            <a:r>
              <a:rPr lang="en-US" sz="900" b="1" dirty="0">
                <a:solidFill>
                  <a:srgbClr val="1E3A2F"/>
                </a:solidFill>
              </a:rPr>
              <a:t>✓</a:t>
            </a:r>
            <a:endParaRPr lang="en-US" sz="900" dirty="0"/>
          </a:p>
        </p:txBody>
      </p:sp>
      <p:sp>
        <p:nvSpPr>
          <p:cNvPr id="13" name="Text 11"/>
          <p:cNvSpPr/>
          <p:nvPr/>
        </p:nvSpPr>
        <p:spPr>
          <a:xfrm>
            <a:off x="804672" y="1261872"/>
            <a:ext cx="7315200" cy="2560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Jump points ≈ O(√n) on n×n grid</a:t>
            </a:r>
            <a:endParaRPr lang="en-US" sz="1400" dirty="0"/>
          </a:p>
        </p:txBody>
      </p:sp>
      <p:sp>
        <p:nvSpPr>
          <p:cNvPr id="14" name="Shape 12"/>
          <p:cNvSpPr/>
          <p:nvPr/>
        </p:nvSpPr>
        <p:spPr>
          <a:xfrm>
            <a:off x="457200" y="1737360"/>
            <a:ext cx="256032" cy="256032"/>
          </a:xfrm>
          <a:prstGeom prst="ellipse">
            <a:avLst/>
          </a:prstGeom>
          <a:solidFill>
            <a:srgbClr val="D4A017"/>
          </a:solidFill>
          <a:ln w="12700">
            <a:solidFill>
              <a:srgbClr val="D4A017"/>
            </a:solidFill>
            <a:prstDash val="solid"/>
          </a:ln>
        </p:spPr>
      </p:sp>
      <p:sp>
        <p:nvSpPr>
          <p:cNvPr id="15" name="Text 13"/>
          <p:cNvSpPr/>
          <p:nvPr/>
        </p:nvSpPr>
        <p:spPr>
          <a:xfrm>
            <a:off x="457200" y="1737360"/>
            <a:ext cx="256032" cy="256032"/>
          </a:xfrm>
          <a:prstGeom prst="rect">
            <a:avLst/>
          </a:prstGeom>
          <a:noFill/>
          <a:ln/>
        </p:spPr>
        <p:txBody>
          <a:bodyPr wrap="square" lIns="0" tIns="0" rIns="0" bIns="0" rtlCol="0" anchor="ctr"/>
          <a:lstStyle/>
          <a:p>
            <a:pPr algn="ctr" indent="0" marL="0">
              <a:buNone/>
            </a:pPr>
            <a:r>
              <a:rPr lang="en-US" sz="900" b="1" dirty="0">
                <a:solidFill>
                  <a:srgbClr val="1E3A2F"/>
                </a:solidFill>
              </a:rPr>
              <a:t>✓</a:t>
            </a:r>
            <a:endParaRPr lang="en-US" sz="900" dirty="0"/>
          </a:p>
        </p:txBody>
      </p:sp>
      <p:sp>
        <p:nvSpPr>
          <p:cNvPr id="16" name="Text 14"/>
          <p:cNvSpPr/>
          <p:nvPr/>
        </p:nvSpPr>
        <p:spPr>
          <a:xfrm>
            <a:off x="804672" y="1737360"/>
            <a:ext cx="7315200" cy="2560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Search frontier ≪ standard A*</a:t>
            </a:r>
            <a:endParaRPr lang="en-US" sz="1400" dirty="0"/>
          </a:p>
        </p:txBody>
      </p:sp>
      <p:sp>
        <p:nvSpPr>
          <p:cNvPr id="17" name="Shape 15"/>
          <p:cNvSpPr/>
          <p:nvPr/>
        </p:nvSpPr>
        <p:spPr>
          <a:xfrm>
            <a:off x="457200" y="2212848"/>
            <a:ext cx="256032" cy="256032"/>
          </a:xfrm>
          <a:prstGeom prst="ellipse">
            <a:avLst/>
          </a:prstGeom>
          <a:solidFill>
            <a:srgbClr val="D4A017"/>
          </a:solidFill>
          <a:ln w="12700">
            <a:solidFill>
              <a:srgbClr val="D4A017"/>
            </a:solidFill>
            <a:prstDash val="solid"/>
          </a:ln>
        </p:spPr>
      </p:sp>
      <p:sp>
        <p:nvSpPr>
          <p:cNvPr id="18" name="Text 16"/>
          <p:cNvSpPr/>
          <p:nvPr/>
        </p:nvSpPr>
        <p:spPr>
          <a:xfrm>
            <a:off x="457200" y="2212848"/>
            <a:ext cx="256032" cy="256032"/>
          </a:xfrm>
          <a:prstGeom prst="rect">
            <a:avLst/>
          </a:prstGeom>
          <a:noFill/>
          <a:ln/>
        </p:spPr>
        <p:txBody>
          <a:bodyPr wrap="square" lIns="0" tIns="0" rIns="0" bIns="0" rtlCol="0" anchor="ctr"/>
          <a:lstStyle/>
          <a:p>
            <a:pPr algn="ctr" indent="0" marL="0">
              <a:buNone/>
            </a:pPr>
            <a:r>
              <a:rPr lang="en-US" sz="900" b="1" dirty="0">
                <a:solidFill>
                  <a:srgbClr val="1E3A2F"/>
                </a:solidFill>
              </a:rPr>
              <a:t>✓</a:t>
            </a:r>
            <a:endParaRPr lang="en-US" sz="900" dirty="0"/>
          </a:p>
        </p:txBody>
      </p:sp>
      <p:sp>
        <p:nvSpPr>
          <p:cNvPr id="19" name="Text 17"/>
          <p:cNvSpPr/>
          <p:nvPr/>
        </p:nvSpPr>
        <p:spPr>
          <a:xfrm>
            <a:off x="804672" y="2212848"/>
            <a:ext cx="7315200" cy="2560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Speedup: 10–40× on open grids</a:t>
            </a:r>
            <a:endParaRPr lang="en-US" sz="1400" dirty="0"/>
          </a:p>
        </p:txBody>
      </p:sp>
      <p:sp>
        <p:nvSpPr>
          <p:cNvPr id="20" name="Shape 18"/>
          <p:cNvSpPr/>
          <p:nvPr/>
        </p:nvSpPr>
        <p:spPr>
          <a:xfrm>
            <a:off x="457200" y="2688336"/>
            <a:ext cx="256032" cy="256032"/>
          </a:xfrm>
          <a:prstGeom prst="ellipse">
            <a:avLst/>
          </a:prstGeom>
          <a:solidFill>
            <a:srgbClr val="D4A017"/>
          </a:solidFill>
          <a:ln w="12700">
            <a:solidFill>
              <a:srgbClr val="D4A017"/>
            </a:solidFill>
            <a:prstDash val="solid"/>
          </a:ln>
        </p:spPr>
      </p:sp>
      <p:sp>
        <p:nvSpPr>
          <p:cNvPr id="21" name="Text 19"/>
          <p:cNvSpPr/>
          <p:nvPr/>
        </p:nvSpPr>
        <p:spPr>
          <a:xfrm>
            <a:off x="457200" y="2688336"/>
            <a:ext cx="256032" cy="256032"/>
          </a:xfrm>
          <a:prstGeom prst="rect">
            <a:avLst/>
          </a:prstGeom>
          <a:noFill/>
          <a:ln/>
        </p:spPr>
        <p:txBody>
          <a:bodyPr wrap="square" lIns="0" tIns="0" rIns="0" bIns="0" rtlCol="0" anchor="ctr"/>
          <a:lstStyle/>
          <a:p>
            <a:pPr algn="ctr" indent="0" marL="0">
              <a:buNone/>
            </a:pPr>
            <a:r>
              <a:rPr lang="en-US" sz="900" b="1" dirty="0">
                <a:solidFill>
                  <a:srgbClr val="1E3A2F"/>
                </a:solidFill>
              </a:rPr>
              <a:t>✓</a:t>
            </a:r>
            <a:endParaRPr lang="en-US" sz="900" dirty="0"/>
          </a:p>
        </p:txBody>
      </p:sp>
      <p:sp>
        <p:nvSpPr>
          <p:cNvPr id="22" name="Text 20"/>
          <p:cNvSpPr/>
          <p:nvPr/>
        </p:nvSpPr>
        <p:spPr>
          <a:xfrm>
            <a:off x="804672" y="2688336"/>
            <a:ext cx="7315200" cy="2560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Best case: O(|path|)</a:t>
            </a:r>
            <a:endParaRPr lang="en-US" sz="1400" dirty="0"/>
          </a:p>
        </p:txBody>
      </p:sp>
      <p:sp>
        <p:nvSpPr>
          <p:cNvPr id="23" name="Text 21"/>
          <p:cNvSpPr/>
          <p:nvPr/>
        </p:nvSpPr>
        <p:spPr>
          <a:xfrm>
            <a:off x="4754880" y="868680"/>
            <a:ext cx="3931920" cy="320040"/>
          </a:xfrm>
          <a:prstGeom prst="rect">
            <a:avLst/>
          </a:prstGeom>
          <a:noFill/>
          <a:ln/>
        </p:spPr>
        <p:txBody>
          <a:bodyPr wrap="square" lIns="0" tIns="0" rIns="0" bIns="0" rtlCol="0" anchor="ctr"/>
          <a:lstStyle/>
          <a:p>
            <a:pPr indent="0" marL="0">
              <a:buNone/>
            </a:pPr>
            <a:r>
              <a:rPr lang="en-US" sz="1400" b="1" dirty="0">
                <a:solidFill>
                  <a:srgbClr val="D4A017"/>
                </a:solidFill>
                <a:latin typeface="Calibri" pitchFamily="34" charset="0"/>
                <a:ea typeface="Calibri" pitchFamily="34" charset="-122"/>
                <a:cs typeface="Calibri" pitchFamily="34" charset="-120"/>
              </a:rPr>
              <a:t>On General Graphs</a:t>
            </a:r>
            <a:endParaRPr lang="en-US" sz="1400" dirty="0"/>
          </a:p>
        </p:txBody>
      </p:sp>
      <p:sp>
        <p:nvSpPr>
          <p:cNvPr id="24" name="Shape 22"/>
          <p:cNvSpPr/>
          <p:nvPr/>
        </p:nvSpPr>
        <p:spPr>
          <a:xfrm>
            <a:off x="4754880" y="1261872"/>
            <a:ext cx="256032" cy="256032"/>
          </a:xfrm>
          <a:prstGeom prst="ellipse">
            <a:avLst/>
          </a:prstGeom>
          <a:solidFill>
            <a:srgbClr val="D4A017"/>
          </a:solidFill>
          <a:ln w="12700">
            <a:solidFill>
              <a:srgbClr val="D4A017"/>
            </a:solidFill>
            <a:prstDash val="solid"/>
          </a:ln>
        </p:spPr>
      </p:sp>
      <p:sp>
        <p:nvSpPr>
          <p:cNvPr id="25" name="Text 23"/>
          <p:cNvSpPr/>
          <p:nvPr/>
        </p:nvSpPr>
        <p:spPr>
          <a:xfrm>
            <a:off x="4754880" y="1261872"/>
            <a:ext cx="256032" cy="256032"/>
          </a:xfrm>
          <a:prstGeom prst="rect">
            <a:avLst/>
          </a:prstGeom>
          <a:noFill/>
          <a:ln/>
        </p:spPr>
        <p:txBody>
          <a:bodyPr wrap="square" lIns="0" tIns="0" rIns="0" bIns="0" rtlCol="0" anchor="ctr"/>
          <a:lstStyle/>
          <a:p>
            <a:pPr algn="ctr" indent="0" marL="0">
              <a:buNone/>
            </a:pPr>
            <a:r>
              <a:rPr lang="en-US" sz="900" b="1" dirty="0">
                <a:solidFill>
                  <a:srgbClr val="1E3A2F"/>
                </a:solidFill>
              </a:rPr>
              <a:t>✓</a:t>
            </a:r>
            <a:endParaRPr lang="en-US" sz="900" dirty="0"/>
          </a:p>
        </p:txBody>
      </p:sp>
      <p:sp>
        <p:nvSpPr>
          <p:cNvPr id="26" name="Text 24"/>
          <p:cNvSpPr/>
          <p:nvPr/>
        </p:nvSpPr>
        <p:spPr>
          <a:xfrm>
            <a:off x="5102352" y="1261872"/>
            <a:ext cx="7315200" cy="2560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Forced neighbour detection adds overhead</a:t>
            </a:r>
            <a:endParaRPr lang="en-US" sz="1400" dirty="0"/>
          </a:p>
        </p:txBody>
      </p:sp>
      <p:sp>
        <p:nvSpPr>
          <p:cNvPr id="27" name="Shape 25"/>
          <p:cNvSpPr/>
          <p:nvPr/>
        </p:nvSpPr>
        <p:spPr>
          <a:xfrm>
            <a:off x="4754880" y="1737360"/>
            <a:ext cx="256032" cy="256032"/>
          </a:xfrm>
          <a:prstGeom prst="ellipse">
            <a:avLst/>
          </a:prstGeom>
          <a:solidFill>
            <a:srgbClr val="D4A017"/>
          </a:solidFill>
          <a:ln w="12700">
            <a:solidFill>
              <a:srgbClr val="D4A017"/>
            </a:solidFill>
            <a:prstDash val="solid"/>
          </a:ln>
        </p:spPr>
      </p:sp>
      <p:sp>
        <p:nvSpPr>
          <p:cNvPr id="28" name="Text 26"/>
          <p:cNvSpPr/>
          <p:nvPr/>
        </p:nvSpPr>
        <p:spPr>
          <a:xfrm>
            <a:off x="4754880" y="1737360"/>
            <a:ext cx="256032" cy="256032"/>
          </a:xfrm>
          <a:prstGeom prst="rect">
            <a:avLst/>
          </a:prstGeom>
          <a:noFill/>
          <a:ln/>
        </p:spPr>
        <p:txBody>
          <a:bodyPr wrap="square" lIns="0" tIns="0" rIns="0" bIns="0" rtlCol="0" anchor="ctr"/>
          <a:lstStyle/>
          <a:p>
            <a:pPr algn="ctr" indent="0" marL="0">
              <a:buNone/>
            </a:pPr>
            <a:r>
              <a:rPr lang="en-US" sz="900" b="1" dirty="0">
                <a:solidFill>
                  <a:srgbClr val="1E3A2F"/>
                </a:solidFill>
              </a:rPr>
              <a:t>✓</a:t>
            </a:r>
            <a:endParaRPr lang="en-US" sz="900" dirty="0"/>
          </a:p>
        </p:txBody>
      </p:sp>
      <p:sp>
        <p:nvSpPr>
          <p:cNvPr id="29" name="Text 27"/>
          <p:cNvSpPr/>
          <p:nvPr/>
        </p:nvSpPr>
        <p:spPr>
          <a:xfrm>
            <a:off x="5102352" y="1737360"/>
            <a:ext cx="7315200" cy="2560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Speedup: 2–4× vs A*</a:t>
            </a:r>
            <a:endParaRPr lang="en-US" sz="1400" dirty="0"/>
          </a:p>
        </p:txBody>
      </p:sp>
      <p:sp>
        <p:nvSpPr>
          <p:cNvPr id="30" name="Shape 28"/>
          <p:cNvSpPr/>
          <p:nvPr/>
        </p:nvSpPr>
        <p:spPr>
          <a:xfrm>
            <a:off x="4754880" y="2212848"/>
            <a:ext cx="256032" cy="256032"/>
          </a:xfrm>
          <a:prstGeom prst="ellipse">
            <a:avLst/>
          </a:prstGeom>
          <a:solidFill>
            <a:srgbClr val="D4A017"/>
          </a:solidFill>
          <a:ln w="12700">
            <a:solidFill>
              <a:srgbClr val="D4A017"/>
            </a:solidFill>
            <a:prstDash val="solid"/>
          </a:ln>
        </p:spPr>
      </p:sp>
      <p:sp>
        <p:nvSpPr>
          <p:cNvPr id="31" name="Text 29"/>
          <p:cNvSpPr/>
          <p:nvPr/>
        </p:nvSpPr>
        <p:spPr>
          <a:xfrm>
            <a:off x="4754880" y="2212848"/>
            <a:ext cx="256032" cy="256032"/>
          </a:xfrm>
          <a:prstGeom prst="rect">
            <a:avLst/>
          </a:prstGeom>
          <a:noFill/>
          <a:ln/>
        </p:spPr>
        <p:txBody>
          <a:bodyPr wrap="square" lIns="0" tIns="0" rIns="0" bIns="0" rtlCol="0" anchor="ctr"/>
          <a:lstStyle/>
          <a:p>
            <a:pPr algn="ctr" indent="0" marL="0">
              <a:buNone/>
            </a:pPr>
            <a:r>
              <a:rPr lang="en-US" sz="900" b="1" dirty="0">
                <a:solidFill>
                  <a:srgbClr val="1E3A2F"/>
                </a:solidFill>
              </a:rPr>
              <a:t>✓</a:t>
            </a:r>
            <a:endParaRPr lang="en-US" sz="900" dirty="0"/>
          </a:p>
        </p:txBody>
      </p:sp>
      <p:sp>
        <p:nvSpPr>
          <p:cNvPr id="32" name="Text 30"/>
          <p:cNvSpPr/>
          <p:nvPr/>
        </p:nvSpPr>
        <p:spPr>
          <a:xfrm>
            <a:off x="5102352" y="2212848"/>
            <a:ext cx="7315200" cy="2560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Worst case: O(V+E)</a:t>
            </a:r>
            <a:endParaRPr lang="en-US" sz="1400" dirty="0"/>
          </a:p>
        </p:txBody>
      </p:sp>
      <p:sp>
        <p:nvSpPr>
          <p:cNvPr id="33" name="Shape 31"/>
          <p:cNvSpPr/>
          <p:nvPr/>
        </p:nvSpPr>
        <p:spPr>
          <a:xfrm>
            <a:off x="4754880" y="2688336"/>
            <a:ext cx="256032" cy="256032"/>
          </a:xfrm>
          <a:prstGeom prst="ellipse">
            <a:avLst/>
          </a:prstGeom>
          <a:solidFill>
            <a:srgbClr val="D4A017"/>
          </a:solidFill>
          <a:ln w="12700">
            <a:solidFill>
              <a:srgbClr val="D4A017"/>
            </a:solidFill>
            <a:prstDash val="solid"/>
          </a:ln>
        </p:spPr>
      </p:sp>
      <p:sp>
        <p:nvSpPr>
          <p:cNvPr id="34" name="Text 32"/>
          <p:cNvSpPr/>
          <p:nvPr/>
        </p:nvSpPr>
        <p:spPr>
          <a:xfrm>
            <a:off x="4754880" y="2688336"/>
            <a:ext cx="256032" cy="256032"/>
          </a:xfrm>
          <a:prstGeom prst="rect">
            <a:avLst/>
          </a:prstGeom>
          <a:noFill/>
          <a:ln/>
        </p:spPr>
        <p:txBody>
          <a:bodyPr wrap="square" lIns="0" tIns="0" rIns="0" bIns="0" rtlCol="0" anchor="ctr"/>
          <a:lstStyle/>
          <a:p>
            <a:pPr algn="ctr" indent="0" marL="0">
              <a:buNone/>
            </a:pPr>
            <a:r>
              <a:rPr lang="en-US" sz="900" b="1" dirty="0">
                <a:solidFill>
                  <a:srgbClr val="1E3A2F"/>
                </a:solidFill>
              </a:rPr>
              <a:t>✓</a:t>
            </a:r>
            <a:endParaRPr lang="en-US" sz="900" dirty="0"/>
          </a:p>
        </p:txBody>
      </p:sp>
      <p:sp>
        <p:nvSpPr>
          <p:cNvPr id="35" name="Text 33"/>
          <p:cNvSpPr/>
          <p:nvPr/>
        </p:nvSpPr>
        <p:spPr>
          <a:xfrm>
            <a:off x="5102352" y="2688336"/>
            <a:ext cx="7315200" cy="2560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Less benefit on irregular topology</a:t>
            </a:r>
            <a:endParaRPr lang="en-US" sz="1400" dirty="0"/>
          </a:p>
        </p:txBody>
      </p:sp>
      <p:sp>
        <p:nvSpPr>
          <p:cNvPr id="36" name="Shape 34"/>
          <p:cNvSpPr/>
          <p:nvPr/>
        </p:nvSpPr>
        <p:spPr>
          <a:xfrm>
            <a:off x="457200" y="3246120"/>
            <a:ext cx="8229600" cy="1325880"/>
          </a:xfrm>
          <a:prstGeom prst="rect">
            <a:avLst/>
          </a:prstGeom>
          <a:solidFill>
            <a:srgbClr val="162D22"/>
          </a:solidFill>
          <a:ln w="12700">
            <a:solidFill>
              <a:srgbClr val="D4A017"/>
            </a:solidFill>
            <a:prstDash val="solid"/>
          </a:ln>
        </p:spPr>
      </p:sp>
      <p:sp>
        <p:nvSpPr>
          <p:cNvPr id="37" name="Text 35"/>
          <p:cNvSpPr/>
          <p:nvPr/>
        </p:nvSpPr>
        <p:spPr>
          <a:xfrm>
            <a:off x="640080" y="3337560"/>
            <a:ext cx="7772400" cy="274320"/>
          </a:xfrm>
          <a:prstGeom prst="rect">
            <a:avLst/>
          </a:prstGeom>
          <a:noFill/>
          <a:ln/>
        </p:spPr>
        <p:txBody>
          <a:bodyPr wrap="square" lIns="0" tIns="0" rIns="0" bIns="0" rtlCol="0" anchor="ctr"/>
          <a:lstStyle/>
          <a:p>
            <a:pPr indent="0" marL="0">
              <a:buNone/>
            </a:pPr>
            <a:r>
              <a:rPr lang="en-US" sz="1100" b="1" dirty="0">
                <a:solidFill>
                  <a:srgbClr val="D4A017"/>
                </a:solidFill>
                <a:latin typeface="Calibri" pitchFamily="34" charset="0"/>
                <a:ea typeface="Calibri" pitchFamily="34" charset="-122"/>
                <a:cs typeface="Calibri" pitchFamily="34" charset="-120"/>
              </a:rPr>
              <a:t>Empirical Results (from benchmark_results.csv):</a:t>
            </a:r>
            <a:endParaRPr lang="en-US" sz="1100" dirty="0"/>
          </a:p>
        </p:txBody>
      </p:sp>
      <p:sp>
        <p:nvSpPr>
          <p:cNvPr id="38" name="Text 36"/>
          <p:cNvSpPr/>
          <p:nvPr/>
        </p:nvSpPr>
        <p:spPr>
          <a:xfrm>
            <a:off x="640080" y="3639312"/>
            <a:ext cx="7772400" cy="685800"/>
          </a:xfrm>
          <a:prstGeom prst="rect">
            <a:avLst/>
          </a:prstGeom>
          <a:noFill/>
          <a:ln/>
        </p:spPr>
        <p:txBody>
          <a:bodyPr wrap="square" lIns="0" tIns="0" rIns="0" bIns="0" rtlCol="0" anchor="ctr"/>
          <a:lstStyle/>
          <a:p>
            <a:pPr indent="0" marL="0">
              <a:buNone/>
            </a:pPr>
            <a:r>
              <a:rPr lang="en-US" sz="1050" dirty="0">
                <a:solidFill>
                  <a:srgbClr val="A8D5A2"/>
                </a:solidFill>
                <a:latin typeface="Consolas" pitchFamily="34" charset="0"/>
                <a:ea typeface="Consolas" pitchFamily="34" charset="-122"/>
                <a:cs typeface="Consolas" pitchFamily="34" charset="-120"/>
              </a:rPr>
              <a:t>Small Sparse (20V): JPS avg 0.043 ms  |  Medium Sparse (100V): 0.42 ms  |  Large Sparse (300V): 1.55 ms</a:t>
            </a:r>
            <a:endParaRPr lang="en-US" sz="1050" dirty="0"/>
          </a:p>
          <a:p>
            <a:pPr indent="0" marL="0">
              <a:buNone/>
            </a:pPr>
            <a:r>
              <a:rPr lang="en-US" sz="1050" dirty="0">
                <a:solidFill>
                  <a:srgbClr val="A8D5A2"/>
                </a:solidFill>
                <a:latin typeface="Consolas" pitchFamily="34" charset="0"/>
                <a:ea typeface="Consolas" pitchFamily="34" charset="-122"/>
                <a:cs typeface="Consolas" pitchFamily="34" charset="-120"/>
              </a:rPr>
              <a:t>Success rate: 87–100%  |  Paths found faster than BiDijkstra on grid-like topologies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3A2F"/>
        </a:solidFill>
      </p:bgPr>
    </p:bg>
    <p:spTree>
      <p:nvGrpSpPr>
        <p:cNvPr id="1" name=""/>
        <p:cNvGrpSpPr/>
        <p:nvPr/>
      </p:nvGrpSpPr>
      <p:grpSpPr>
        <a:xfrm>
          <a:off x="0" y="0"/>
          <a:ext cx="0" cy="0"/>
          <a:chOff x="0" y="0"/>
          <a:chExt cx="0" cy="0"/>
        </a:xfrm>
      </p:grpSpPr>
      <p:sp>
        <p:nvSpPr>
          <p:cNvPr id="2" name="Text 0"/>
          <p:cNvSpPr/>
          <p:nvPr/>
        </p:nvSpPr>
        <p:spPr>
          <a:xfrm>
            <a:off x="137160" y="91440"/>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3" name="Text 1"/>
          <p:cNvSpPr/>
          <p:nvPr/>
        </p:nvSpPr>
        <p:spPr>
          <a:xfrm>
            <a:off x="137160" y="292608"/>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4" name="Text 2"/>
          <p:cNvSpPr/>
          <p:nvPr/>
        </p:nvSpPr>
        <p:spPr>
          <a:xfrm>
            <a:off x="7909560" y="4754880"/>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5" name="Text 3"/>
          <p:cNvSpPr/>
          <p:nvPr/>
        </p:nvSpPr>
        <p:spPr>
          <a:xfrm>
            <a:off x="7909560" y="4956048"/>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6" name="Shape 4"/>
          <p:cNvSpPr/>
          <p:nvPr/>
        </p:nvSpPr>
        <p:spPr>
          <a:xfrm>
            <a:off x="8229600" y="-457200"/>
            <a:ext cx="1645920" cy="1645920"/>
          </a:xfrm>
          <a:prstGeom prst="ellipse">
            <a:avLst/>
          </a:prstGeom>
          <a:ln w="101600">
            <a:solidFill>
              <a:srgbClr val="FFFFFF"/>
            </a:solidFill>
            <a:prstDash val="solid"/>
          </a:ln>
        </p:spPr>
      </p:sp>
      <p:sp>
        <p:nvSpPr>
          <p:cNvPr id="7" name="Shape 5"/>
          <p:cNvSpPr/>
          <p:nvPr/>
        </p:nvSpPr>
        <p:spPr>
          <a:xfrm>
            <a:off x="-548640" y="3840480"/>
            <a:ext cx="1645920" cy="1645920"/>
          </a:xfrm>
          <a:prstGeom prst="ellipse">
            <a:avLst/>
          </a:prstGeom>
          <a:ln w="101600">
            <a:solidFill>
              <a:srgbClr val="FFFFFF"/>
            </a:solidFill>
            <a:prstDash val="solid"/>
          </a:ln>
        </p:spPr>
      </p:sp>
      <p:sp>
        <p:nvSpPr>
          <p:cNvPr id="8" name="Shape 6"/>
          <p:cNvSpPr/>
          <p:nvPr/>
        </p:nvSpPr>
        <p:spPr>
          <a:xfrm>
            <a:off x="4229100" y="640080"/>
            <a:ext cx="685800" cy="685800"/>
          </a:xfrm>
          <a:prstGeom prst="ellipse">
            <a:avLst/>
          </a:prstGeom>
          <a:solidFill>
            <a:srgbClr val="D4A017"/>
          </a:solidFill>
          <a:ln w="12700">
            <a:solidFill>
              <a:srgbClr val="D4A017"/>
            </a:solidFill>
            <a:prstDash val="solid"/>
          </a:ln>
        </p:spPr>
      </p:sp>
      <p:sp>
        <p:nvSpPr>
          <p:cNvPr id="9" name="Text 7"/>
          <p:cNvSpPr/>
          <p:nvPr/>
        </p:nvSpPr>
        <p:spPr>
          <a:xfrm>
            <a:off x="4229100" y="640080"/>
            <a:ext cx="685800" cy="685800"/>
          </a:xfrm>
          <a:prstGeom prst="rect">
            <a:avLst/>
          </a:prstGeom>
          <a:noFill/>
          <a:ln/>
        </p:spPr>
        <p:txBody>
          <a:bodyPr wrap="square" lIns="0" tIns="0" rIns="0" bIns="0" rtlCol="0" anchor="ctr"/>
          <a:lstStyle/>
          <a:p>
            <a:pPr algn="ctr" indent="0" marL="0">
              <a:buNone/>
            </a:pPr>
            <a:r>
              <a:rPr lang="en-US" sz="2000" b="1" dirty="0">
                <a:solidFill>
                  <a:srgbClr val="1E3A2F"/>
                </a:solidFill>
              </a:rPr>
              <a:t>04</a:t>
            </a:r>
            <a:endParaRPr lang="en-US" sz="2000" dirty="0"/>
          </a:p>
        </p:txBody>
      </p:sp>
      <p:sp>
        <p:nvSpPr>
          <p:cNvPr id="10" name="Text 8"/>
          <p:cNvSpPr/>
          <p:nvPr/>
        </p:nvSpPr>
        <p:spPr>
          <a:xfrm>
            <a:off x="457200" y="1554480"/>
            <a:ext cx="8229600" cy="777240"/>
          </a:xfrm>
          <a:prstGeom prst="rect">
            <a:avLst/>
          </a:prstGeom>
          <a:noFill/>
          <a:ln/>
        </p:spPr>
        <p:txBody>
          <a:bodyPr wrap="square" lIns="0" tIns="0" rIns="0" bIns="0" rtlCol="0" anchor="ctr"/>
          <a:lstStyle/>
          <a:p>
            <a:pPr algn="ctr" indent="0" marL="0">
              <a:buNone/>
            </a:pPr>
            <a:r>
              <a:rPr lang="en-US" sz="4400" b="1" dirty="0">
                <a:solidFill>
                  <a:srgbClr val="D4A017"/>
                </a:solidFill>
                <a:latin typeface="Arial Black" pitchFamily="34" charset="0"/>
                <a:ea typeface="Arial Black" pitchFamily="34" charset="-122"/>
                <a:cs typeface="Arial Black" pitchFamily="34" charset="-120"/>
              </a:rPr>
              <a:t>CONTRACTION</a:t>
            </a:r>
            <a:endParaRPr lang="en-US" sz="4400" dirty="0"/>
          </a:p>
        </p:txBody>
      </p:sp>
      <p:sp>
        <p:nvSpPr>
          <p:cNvPr id="11" name="Text 9"/>
          <p:cNvSpPr/>
          <p:nvPr/>
        </p:nvSpPr>
        <p:spPr>
          <a:xfrm>
            <a:off x="457200" y="2331720"/>
            <a:ext cx="8229600" cy="685800"/>
          </a:xfrm>
          <a:prstGeom prst="rect">
            <a:avLst/>
          </a:prstGeom>
          <a:noFill/>
          <a:ln/>
        </p:spPr>
        <p:txBody>
          <a:bodyPr wrap="square" lIns="0" tIns="0" rIns="0" bIns="0" rtlCol="0" anchor="ctr"/>
          <a:lstStyle/>
          <a:p>
            <a:pPr algn="ctr" indent="0" marL="0">
              <a:buNone/>
            </a:pPr>
            <a:r>
              <a:rPr lang="en-US" sz="3600" b="1" spc="500" kern="0" dirty="0">
                <a:solidFill>
                  <a:srgbClr val="FFFFFF"/>
                </a:solidFill>
                <a:latin typeface="Arial Black" pitchFamily="34" charset="0"/>
                <a:ea typeface="Arial Black" pitchFamily="34" charset="-122"/>
                <a:cs typeface="Arial Black" pitchFamily="34" charset="-120"/>
              </a:rPr>
              <a:t>HIERARCHIES</a:t>
            </a:r>
            <a:endParaRPr lang="en-US" sz="3600" dirty="0"/>
          </a:p>
        </p:txBody>
      </p:sp>
      <p:sp>
        <p:nvSpPr>
          <p:cNvPr id="12" name="Text 10"/>
          <p:cNvSpPr/>
          <p:nvPr/>
        </p:nvSpPr>
        <p:spPr>
          <a:xfrm>
            <a:off x="1371600" y="3657600"/>
            <a:ext cx="6400800" cy="365760"/>
          </a:xfrm>
          <a:prstGeom prst="rect">
            <a:avLst/>
          </a:prstGeom>
          <a:noFill/>
          <a:ln/>
        </p:spPr>
        <p:txBody>
          <a:bodyPr wrap="square" lIns="0" tIns="0" rIns="0" bIns="0" rtlCol="0" anchor="ctr"/>
          <a:lstStyle/>
          <a:p>
            <a:pPr algn="ctr" indent="0" marL="0">
              <a:buNone/>
            </a:pPr>
            <a:r>
              <a:rPr lang="en-US" sz="1300" dirty="0">
                <a:solidFill>
                  <a:srgbClr val="C8C0A8"/>
                </a:solidFill>
                <a:latin typeface="Calibri" pitchFamily="34" charset="0"/>
                <a:ea typeface="Calibri" pitchFamily="34" charset="-122"/>
                <a:cs typeface="Calibri" pitchFamily="34" charset="-120"/>
              </a:rPr>
              <a:t>Preprocessing shortcuts  ·  Near O(log V) query time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3A2F"/>
        </a:solidFill>
      </p:bgPr>
    </p:bg>
    <p:spTree>
      <p:nvGrpSpPr>
        <p:cNvPr id="1" name=""/>
        <p:cNvGrpSpPr/>
        <p:nvPr/>
      </p:nvGrpSpPr>
      <p:grpSpPr>
        <a:xfrm>
          <a:off x="0" y="0"/>
          <a:ext cx="0" cy="0"/>
          <a:chOff x="0" y="0"/>
          <a:chExt cx="0" cy="0"/>
        </a:xfrm>
      </p:grpSpPr>
      <p:sp>
        <p:nvSpPr>
          <p:cNvPr id="2" name="Text 0"/>
          <p:cNvSpPr/>
          <p:nvPr/>
        </p:nvSpPr>
        <p:spPr>
          <a:xfrm>
            <a:off x="7772400" y="7315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3" name="Text 1"/>
          <p:cNvSpPr/>
          <p:nvPr/>
        </p:nvSpPr>
        <p:spPr>
          <a:xfrm>
            <a:off x="7772400" y="25603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4" name="Text 2"/>
          <p:cNvSpPr/>
          <p:nvPr/>
        </p:nvSpPr>
        <p:spPr>
          <a:xfrm>
            <a:off x="7772400" y="484632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5" name="Text 3"/>
          <p:cNvSpPr/>
          <p:nvPr/>
        </p:nvSpPr>
        <p:spPr>
          <a:xfrm>
            <a:off x="7772400" y="502920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6" name="Shape 4"/>
          <p:cNvSpPr/>
          <p:nvPr/>
        </p:nvSpPr>
        <p:spPr>
          <a:xfrm>
            <a:off x="457200" y="4754880"/>
            <a:ext cx="8229600" cy="0"/>
          </a:xfrm>
          <a:prstGeom prst="line">
            <a:avLst/>
          </a:prstGeom>
          <a:noFill/>
          <a:ln w="12700">
            <a:solidFill>
              <a:srgbClr val="D4A017"/>
            </a:solidFill>
            <a:prstDash val="solid"/>
          </a:ln>
        </p:spPr>
      </p:sp>
      <p:sp>
        <p:nvSpPr>
          <p:cNvPr id="7" name="Text 5"/>
          <p:cNvSpPr/>
          <p:nvPr/>
        </p:nvSpPr>
        <p:spPr>
          <a:xfrm>
            <a:off x="457200" y="201168"/>
            <a:ext cx="73152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ARE CONTRACTION HIERARCHIES?</a:t>
            </a:r>
            <a:endParaRPr lang="en-US" sz="2600" dirty="0"/>
          </a:p>
        </p:txBody>
      </p:sp>
      <p:sp>
        <p:nvSpPr>
          <p:cNvPr id="8" name="Shape 6"/>
          <p:cNvSpPr/>
          <p:nvPr/>
        </p:nvSpPr>
        <p:spPr>
          <a:xfrm>
            <a:off x="274320" y="1371600"/>
            <a:ext cx="640080" cy="640080"/>
          </a:xfrm>
          <a:prstGeom prst="ellipse">
            <a:avLst/>
          </a:prstGeom>
          <a:solidFill>
            <a:srgbClr val="D4A017"/>
          </a:solidFill>
          <a:ln w="12700">
            <a:solidFill>
              <a:srgbClr val="D4A017"/>
            </a:solidFill>
            <a:prstDash val="solid"/>
          </a:ln>
        </p:spPr>
      </p:sp>
      <p:sp>
        <p:nvSpPr>
          <p:cNvPr id="9" name="Text 7"/>
          <p:cNvSpPr/>
          <p:nvPr/>
        </p:nvSpPr>
        <p:spPr>
          <a:xfrm>
            <a:off x="274320" y="1371600"/>
            <a:ext cx="640080" cy="640080"/>
          </a:xfrm>
          <a:prstGeom prst="rect">
            <a:avLst/>
          </a:prstGeom>
          <a:noFill/>
          <a:ln/>
        </p:spPr>
        <p:txBody>
          <a:bodyPr wrap="square" lIns="0" tIns="0" rIns="0" bIns="0" rtlCol="0" anchor="ctr"/>
          <a:lstStyle/>
          <a:p>
            <a:pPr algn="ctr" indent="0" marL="0">
              <a:buNone/>
            </a:pPr>
            <a:r>
              <a:rPr lang="en-US" sz="1600" b="1" dirty="0">
                <a:solidFill>
                  <a:srgbClr val="1E3A2F"/>
                </a:solidFill>
              </a:rPr>
              <a:t>01</a:t>
            </a:r>
            <a:endParaRPr lang="en-US" sz="1600" dirty="0"/>
          </a:p>
        </p:txBody>
      </p:sp>
      <p:sp>
        <p:nvSpPr>
          <p:cNvPr id="10" name="Text 8"/>
          <p:cNvSpPr/>
          <p:nvPr/>
        </p:nvSpPr>
        <p:spPr>
          <a:xfrm>
            <a:off x="1051560" y="960120"/>
            <a:ext cx="7680960" cy="1325880"/>
          </a:xfrm>
          <a:prstGeom prst="rect">
            <a:avLst/>
          </a:prstGeom>
          <a:noFill/>
          <a:ln/>
        </p:spPr>
        <p:txBody>
          <a:bodyPr wrap="square" lIns="0" tIns="0" rIns="0" bIns="0" rtlCol="0" anchor="ctr"/>
          <a:lstStyle/>
          <a:p>
            <a:pPr algn="just" indent="0" marL="0">
              <a:buNone/>
            </a:pPr>
            <a:r>
              <a:rPr lang="en-US" sz="1300" dirty="0">
                <a:solidFill>
                  <a:srgbClr val="FFFFFF"/>
                </a:solidFill>
                <a:latin typeface="Calibri" pitchFamily="34" charset="0"/>
                <a:ea typeface="Calibri" pitchFamily="34" charset="-122"/>
                <a:cs typeface="Calibri" pitchFamily="34" charset="-120"/>
              </a:rPr>
              <a:t>Contraction Hierarchies (CH) preprocess a graph by iteratively contracting (removing) vertices in order of increasing importance, adding shortcut edges to preserve shortest paths. At query time, a bidirectional Dijkstra over the hierarchy runs in near O(log V) — orders of magnitude faster than plain Dijkstra for repeated queries on large road networks.</a:t>
            </a:r>
            <a:endParaRPr lang="en-US" sz="1300" dirty="0"/>
          </a:p>
        </p:txBody>
      </p:sp>
      <p:sp>
        <p:nvSpPr>
          <p:cNvPr id="11" name="Shape 9"/>
          <p:cNvSpPr/>
          <p:nvPr/>
        </p:nvSpPr>
        <p:spPr>
          <a:xfrm>
            <a:off x="1051560" y="2423160"/>
            <a:ext cx="256032" cy="256032"/>
          </a:xfrm>
          <a:prstGeom prst="ellipse">
            <a:avLst/>
          </a:prstGeom>
          <a:solidFill>
            <a:srgbClr val="D4A017"/>
          </a:solidFill>
          <a:ln w="12700">
            <a:solidFill>
              <a:srgbClr val="D4A017"/>
            </a:solidFill>
            <a:prstDash val="solid"/>
          </a:ln>
        </p:spPr>
      </p:sp>
      <p:sp>
        <p:nvSpPr>
          <p:cNvPr id="12" name="Text 10"/>
          <p:cNvSpPr/>
          <p:nvPr/>
        </p:nvSpPr>
        <p:spPr>
          <a:xfrm>
            <a:off x="1051560" y="2423160"/>
            <a:ext cx="256032" cy="256032"/>
          </a:xfrm>
          <a:prstGeom prst="rect">
            <a:avLst/>
          </a:prstGeom>
          <a:noFill/>
          <a:ln/>
        </p:spPr>
        <p:txBody>
          <a:bodyPr wrap="square" lIns="0" tIns="0" rIns="0" bIns="0" rtlCol="0" anchor="ctr"/>
          <a:lstStyle/>
          <a:p>
            <a:pPr algn="ctr" indent="0" marL="0">
              <a:buNone/>
            </a:pPr>
            <a:r>
              <a:rPr lang="en-US" sz="900" b="1" dirty="0">
                <a:solidFill>
                  <a:srgbClr val="1E3A2F"/>
                </a:solidFill>
              </a:rPr>
              <a:t>✓</a:t>
            </a:r>
            <a:endParaRPr lang="en-US" sz="900" dirty="0"/>
          </a:p>
        </p:txBody>
      </p:sp>
      <p:sp>
        <p:nvSpPr>
          <p:cNvPr id="13" name="Text 11"/>
          <p:cNvSpPr/>
          <p:nvPr/>
        </p:nvSpPr>
        <p:spPr>
          <a:xfrm>
            <a:off x="1399032" y="2423160"/>
            <a:ext cx="7315200" cy="2560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Phase 1: Contract vertices by importance, add shortcuts</a:t>
            </a:r>
            <a:endParaRPr lang="en-US" sz="1400" dirty="0"/>
          </a:p>
        </p:txBody>
      </p:sp>
      <p:sp>
        <p:nvSpPr>
          <p:cNvPr id="14" name="Shape 12"/>
          <p:cNvSpPr/>
          <p:nvPr/>
        </p:nvSpPr>
        <p:spPr>
          <a:xfrm>
            <a:off x="1051560" y="2898648"/>
            <a:ext cx="256032" cy="256032"/>
          </a:xfrm>
          <a:prstGeom prst="ellipse">
            <a:avLst/>
          </a:prstGeom>
          <a:solidFill>
            <a:srgbClr val="D4A017"/>
          </a:solidFill>
          <a:ln w="12700">
            <a:solidFill>
              <a:srgbClr val="D4A017"/>
            </a:solidFill>
            <a:prstDash val="solid"/>
          </a:ln>
        </p:spPr>
      </p:sp>
      <p:sp>
        <p:nvSpPr>
          <p:cNvPr id="15" name="Text 13"/>
          <p:cNvSpPr/>
          <p:nvPr/>
        </p:nvSpPr>
        <p:spPr>
          <a:xfrm>
            <a:off x="1051560" y="2898648"/>
            <a:ext cx="256032" cy="256032"/>
          </a:xfrm>
          <a:prstGeom prst="rect">
            <a:avLst/>
          </a:prstGeom>
          <a:noFill/>
          <a:ln/>
        </p:spPr>
        <p:txBody>
          <a:bodyPr wrap="square" lIns="0" tIns="0" rIns="0" bIns="0" rtlCol="0" anchor="ctr"/>
          <a:lstStyle/>
          <a:p>
            <a:pPr algn="ctr" indent="0" marL="0">
              <a:buNone/>
            </a:pPr>
            <a:r>
              <a:rPr lang="en-US" sz="900" b="1" dirty="0">
                <a:solidFill>
                  <a:srgbClr val="1E3A2F"/>
                </a:solidFill>
              </a:rPr>
              <a:t>✓</a:t>
            </a:r>
            <a:endParaRPr lang="en-US" sz="900" dirty="0"/>
          </a:p>
        </p:txBody>
      </p:sp>
      <p:sp>
        <p:nvSpPr>
          <p:cNvPr id="16" name="Text 14"/>
          <p:cNvSpPr/>
          <p:nvPr/>
        </p:nvSpPr>
        <p:spPr>
          <a:xfrm>
            <a:off x="1399032" y="2898648"/>
            <a:ext cx="7315200" cy="2560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Phase 2: Bidirectional Dijkstra restricted to upward graph</a:t>
            </a:r>
            <a:endParaRPr lang="en-US" sz="1400" dirty="0"/>
          </a:p>
        </p:txBody>
      </p:sp>
      <p:sp>
        <p:nvSpPr>
          <p:cNvPr id="17" name="Shape 15"/>
          <p:cNvSpPr/>
          <p:nvPr/>
        </p:nvSpPr>
        <p:spPr>
          <a:xfrm>
            <a:off x="1051560" y="3374136"/>
            <a:ext cx="256032" cy="256032"/>
          </a:xfrm>
          <a:prstGeom prst="ellipse">
            <a:avLst/>
          </a:prstGeom>
          <a:solidFill>
            <a:srgbClr val="D4A017"/>
          </a:solidFill>
          <a:ln w="12700">
            <a:solidFill>
              <a:srgbClr val="D4A017"/>
            </a:solidFill>
            <a:prstDash val="solid"/>
          </a:ln>
        </p:spPr>
      </p:sp>
      <p:sp>
        <p:nvSpPr>
          <p:cNvPr id="18" name="Text 16"/>
          <p:cNvSpPr/>
          <p:nvPr/>
        </p:nvSpPr>
        <p:spPr>
          <a:xfrm>
            <a:off x="1051560" y="3374136"/>
            <a:ext cx="256032" cy="256032"/>
          </a:xfrm>
          <a:prstGeom prst="rect">
            <a:avLst/>
          </a:prstGeom>
          <a:noFill/>
          <a:ln/>
        </p:spPr>
        <p:txBody>
          <a:bodyPr wrap="square" lIns="0" tIns="0" rIns="0" bIns="0" rtlCol="0" anchor="ctr"/>
          <a:lstStyle/>
          <a:p>
            <a:pPr algn="ctr" indent="0" marL="0">
              <a:buNone/>
            </a:pPr>
            <a:r>
              <a:rPr lang="en-US" sz="900" b="1" dirty="0">
                <a:solidFill>
                  <a:srgbClr val="1E3A2F"/>
                </a:solidFill>
              </a:rPr>
              <a:t>✓</a:t>
            </a:r>
            <a:endParaRPr lang="en-US" sz="900" dirty="0"/>
          </a:p>
        </p:txBody>
      </p:sp>
      <p:sp>
        <p:nvSpPr>
          <p:cNvPr id="19" name="Text 17"/>
          <p:cNvSpPr/>
          <p:nvPr/>
        </p:nvSpPr>
        <p:spPr>
          <a:xfrm>
            <a:off x="1399032" y="3374136"/>
            <a:ext cx="7315200" cy="2560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Preprocessing: O((V+E) log V)   |   Query: O(log V)</a:t>
            </a:r>
            <a:endParaRPr lang="en-US" sz="1400" dirty="0"/>
          </a:p>
        </p:txBody>
      </p:sp>
      <p:sp>
        <p:nvSpPr>
          <p:cNvPr id="20" name="Shape 18"/>
          <p:cNvSpPr/>
          <p:nvPr/>
        </p:nvSpPr>
        <p:spPr>
          <a:xfrm>
            <a:off x="1051560" y="3849624"/>
            <a:ext cx="256032" cy="256032"/>
          </a:xfrm>
          <a:prstGeom prst="ellipse">
            <a:avLst/>
          </a:prstGeom>
          <a:solidFill>
            <a:srgbClr val="D4A017"/>
          </a:solidFill>
          <a:ln w="12700">
            <a:solidFill>
              <a:srgbClr val="D4A017"/>
            </a:solidFill>
            <a:prstDash val="solid"/>
          </a:ln>
        </p:spPr>
      </p:sp>
      <p:sp>
        <p:nvSpPr>
          <p:cNvPr id="21" name="Text 19"/>
          <p:cNvSpPr/>
          <p:nvPr/>
        </p:nvSpPr>
        <p:spPr>
          <a:xfrm>
            <a:off x="1051560" y="3849624"/>
            <a:ext cx="256032" cy="256032"/>
          </a:xfrm>
          <a:prstGeom prst="rect">
            <a:avLst/>
          </a:prstGeom>
          <a:noFill/>
          <a:ln/>
        </p:spPr>
        <p:txBody>
          <a:bodyPr wrap="square" lIns="0" tIns="0" rIns="0" bIns="0" rtlCol="0" anchor="ctr"/>
          <a:lstStyle/>
          <a:p>
            <a:pPr algn="ctr" indent="0" marL="0">
              <a:buNone/>
            </a:pPr>
            <a:r>
              <a:rPr lang="en-US" sz="900" b="1" dirty="0">
                <a:solidFill>
                  <a:srgbClr val="1E3A2F"/>
                </a:solidFill>
              </a:rPr>
              <a:t>✓</a:t>
            </a:r>
            <a:endParaRPr lang="en-US" sz="900" dirty="0"/>
          </a:p>
        </p:txBody>
      </p:sp>
      <p:sp>
        <p:nvSpPr>
          <p:cNvPr id="22" name="Text 20"/>
          <p:cNvSpPr/>
          <p:nvPr/>
        </p:nvSpPr>
        <p:spPr>
          <a:xfrm>
            <a:off x="1399032" y="3849624"/>
            <a:ext cx="7315200" cy="2560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Used by Google Maps, OpenStreetMap routing engines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3A2F"/>
        </a:solidFill>
      </p:bgPr>
    </p:bg>
    <p:spTree>
      <p:nvGrpSpPr>
        <p:cNvPr id="1" name=""/>
        <p:cNvGrpSpPr/>
        <p:nvPr/>
      </p:nvGrpSpPr>
      <p:grpSpPr>
        <a:xfrm>
          <a:off x="0" y="0"/>
          <a:ext cx="0" cy="0"/>
          <a:chOff x="0" y="0"/>
          <a:chExt cx="0" cy="0"/>
        </a:xfrm>
      </p:grpSpPr>
      <p:sp>
        <p:nvSpPr>
          <p:cNvPr id="2" name="Text 0"/>
          <p:cNvSpPr/>
          <p:nvPr/>
        </p:nvSpPr>
        <p:spPr>
          <a:xfrm>
            <a:off x="7772400" y="7315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3" name="Text 1"/>
          <p:cNvSpPr/>
          <p:nvPr/>
        </p:nvSpPr>
        <p:spPr>
          <a:xfrm>
            <a:off x="7772400" y="25603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4" name="Text 2"/>
          <p:cNvSpPr/>
          <p:nvPr/>
        </p:nvSpPr>
        <p:spPr>
          <a:xfrm>
            <a:off x="7772400" y="484632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5" name="Text 3"/>
          <p:cNvSpPr/>
          <p:nvPr/>
        </p:nvSpPr>
        <p:spPr>
          <a:xfrm>
            <a:off x="7772400" y="502920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6" name="Shape 4"/>
          <p:cNvSpPr/>
          <p:nvPr/>
        </p:nvSpPr>
        <p:spPr>
          <a:xfrm>
            <a:off x="457200" y="4754880"/>
            <a:ext cx="8229600" cy="0"/>
          </a:xfrm>
          <a:prstGeom prst="line">
            <a:avLst/>
          </a:prstGeom>
          <a:noFill/>
          <a:ln w="12700">
            <a:solidFill>
              <a:srgbClr val="D4A017"/>
            </a:solidFill>
            <a:prstDash val="solid"/>
          </a:ln>
        </p:spPr>
      </p:sp>
      <p:sp>
        <p:nvSpPr>
          <p:cNvPr id="7" name="Text 5"/>
          <p:cNvSpPr/>
          <p:nvPr/>
        </p:nvSpPr>
        <p:spPr>
          <a:xfrm>
            <a:off x="457200" y="201168"/>
            <a:ext cx="73152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CONTRACTION HIERARCHIES — PSEUDOCODE</a:t>
            </a:r>
            <a:endParaRPr lang="en-US" sz="2600" dirty="0"/>
          </a:p>
        </p:txBody>
      </p:sp>
      <p:sp>
        <p:nvSpPr>
          <p:cNvPr id="8" name="Shape 6"/>
          <p:cNvSpPr/>
          <p:nvPr/>
        </p:nvSpPr>
        <p:spPr>
          <a:xfrm>
            <a:off x="274320" y="1371600"/>
            <a:ext cx="640080" cy="640080"/>
          </a:xfrm>
          <a:prstGeom prst="ellipse">
            <a:avLst/>
          </a:prstGeom>
          <a:solidFill>
            <a:srgbClr val="D4A017"/>
          </a:solidFill>
          <a:ln w="12700">
            <a:solidFill>
              <a:srgbClr val="D4A017"/>
            </a:solidFill>
            <a:prstDash val="solid"/>
          </a:ln>
        </p:spPr>
      </p:sp>
      <p:sp>
        <p:nvSpPr>
          <p:cNvPr id="9" name="Text 7"/>
          <p:cNvSpPr/>
          <p:nvPr/>
        </p:nvSpPr>
        <p:spPr>
          <a:xfrm>
            <a:off x="274320" y="1371600"/>
            <a:ext cx="640080" cy="640080"/>
          </a:xfrm>
          <a:prstGeom prst="rect">
            <a:avLst/>
          </a:prstGeom>
          <a:noFill/>
          <a:ln/>
        </p:spPr>
        <p:txBody>
          <a:bodyPr wrap="square" lIns="0" tIns="0" rIns="0" bIns="0" rtlCol="0" anchor="ctr"/>
          <a:lstStyle/>
          <a:p>
            <a:pPr algn="ctr" indent="0" marL="0">
              <a:buNone/>
            </a:pPr>
            <a:r>
              <a:rPr lang="en-US" sz="1600" b="1" dirty="0">
                <a:solidFill>
                  <a:srgbClr val="1E3A2F"/>
                </a:solidFill>
              </a:rPr>
              <a:t>02</a:t>
            </a:r>
            <a:endParaRPr lang="en-US" sz="1600" dirty="0"/>
          </a:p>
        </p:txBody>
      </p:sp>
      <p:sp>
        <p:nvSpPr>
          <p:cNvPr id="10" name="Shape 8"/>
          <p:cNvSpPr/>
          <p:nvPr/>
        </p:nvSpPr>
        <p:spPr>
          <a:xfrm>
            <a:off x="1051560" y="868680"/>
            <a:ext cx="7635240" cy="3749040"/>
          </a:xfrm>
          <a:prstGeom prst="rect">
            <a:avLst/>
          </a:prstGeom>
          <a:solidFill>
            <a:srgbClr val="162D22"/>
          </a:solidFill>
          <a:ln w="12700">
            <a:solidFill>
              <a:srgbClr val="D4A017"/>
            </a:solidFill>
            <a:prstDash val="solid"/>
          </a:ln>
        </p:spPr>
      </p:sp>
      <p:sp>
        <p:nvSpPr>
          <p:cNvPr id="11" name="Text 9"/>
          <p:cNvSpPr/>
          <p:nvPr/>
        </p:nvSpPr>
        <p:spPr>
          <a:xfrm>
            <a:off x="1188720" y="978408"/>
            <a:ext cx="7360920" cy="3529584"/>
          </a:xfrm>
          <a:prstGeom prst="rect">
            <a:avLst/>
          </a:prstGeom>
          <a:noFill/>
          <a:ln/>
        </p:spPr>
        <p:txBody>
          <a:bodyPr wrap="square" lIns="0" tIns="0" rIns="0" bIns="0" rtlCol="0" anchor="t"/>
          <a:lstStyle/>
          <a:p>
            <a:pPr indent="0" marL="0">
              <a:buNone/>
            </a:pPr>
            <a:r>
              <a:rPr lang="en-US" sz="900" dirty="0">
                <a:solidFill>
                  <a:srgbClr val="A8D5A2"/>
                </a:solidFill>
                <a:latin typeface="Consolas" pitchFamily="34" charset="0"/>
                <a:ea typeface="Consolas" pitchFamily="34" charset="-122"/>
                <a:cs typeface="Consolas" pitchFamily="34" charset="-120"/>
              </a:rPr>
              <a:t>// PREPROCESSING PHASE</a:t>
            </a:r>
            <a:endParaRPr lang="en-US" sz="900" dirty="0"/>
          </a:p>
          <a:p>
            <a:pPr indent="0" marL="0">
              <a:buNone/>
            </a:pPr>
            <a:r>
              <a:rPr lang="en-US" sz="900" dirty="0">
                <a:solidFill>
                  <a:srgbClr val="A8D5A2"/>
                </a:solidFill>
                <a:latin typeface="Consolas" pitchFamily="34" charset="0"/>
                <a:ea typeface="Consolas" pitchFamily="34" charset="-122"/>
                <a:cs typeface="Consolas" pitchFamily="34" charset="-120"/>
              </a:rPr>
              <a:t>CH-Preprocess(G):</a:t>
            </a:r>
            <a:endParaRPr lang="en-US" sz="900" dirty="0"/>
          </a:p>
          <a:p>
            <a:pPr indent="0" marL="0">
              <a:buNone/>
            </a:pPr>
            <a:r>
              <a:rPr lang="en-US" sz="900" dirty="0">
                <a:solidFill>
                  <a:srgbClr val="A8D5A2"/>
                </a:solidFill>
                <a:latin typeface="Consolas" pitchFamily="34" charset="0"/>
                <a:ea typeface="Consolas" pitchFamily="34" charset="-122"/>
                <a:cs typeface="Consolas" pitchFamily="34" charset="-120"/>
              </a:rPr>
              <a:t>  FOR each vertex v in order of importance:</a:t>
            </a:r>
            <a:endParaRPr lang="en-US" sz="900" dirty="0"/>
          </a:p>
          <a:p>
            <a:pPr indent="0" marL="0">
              <a:buNone/>
            </a:pPr>
            <a:r>
              <a:rPr lang="en-US" sz="900" dirty="0">
                <a:solidFill>
                  <a:srgbClr val="A8D5A2"/>
                </a:solidFill>
                <a:latin typeface="Consolas" pitchFamily="34" charset="0"/>
                <a:ea typeface="Consolas" pitchFamily="34" charset="-122"/>
                <a:cs typeface="Consolas" pitchFamily="34" charset="-120"/>
              </a:rPr>
              <a:t>    FOR each pair (u, v, w1) and (v, x, w2) in G:</a:t>
            </a:r>
            <a:endParaRPr lang="en-US" sz="900" dirty="0"/>
          </a:p>
          <a:p>
            <a:pPr indent="0" marL="0">
              <a:buNone/>
            </a:pPr>
            <a:r>
              <a:rPr lang="en-US" sz="900" dirty="0">
                <a:solidFill>
                  <a:srgbClr val="A8D5A2"/>
                </a:solidFill>
                <a:latin typeface="Consolas" pitchFamily="34" charset="0"/>
                <a:ea typeface="Consolas" pitchFamily="34" charset="-122"/>
                <a:cs typeface="Consolas" pitchFamily="34" charset="-120"/>
              </a:rPr>
              <a:t>      IF shortcut_dist u→x = w1+w2 &lt; direct_path_without_v:</a:t>
            </a:r>
            <a:endParaRPr lang="en-US" sz="900" dirty="0"/>
          </a:p>
          <a:p>
            <a:pPr indent="0" marL="0">
              <a:buNone/>
            </a:pPr>
            <a:r>
              <a:rPr lang="en-US" sz="900" dirty="0">
                <a:solidFill>
                  <a:srgbClr val="A8D5A2"/>
                </a:solidFill>
                <a:latin typeface="Consolas" pitchFamily="34" charset="0"/>
                <a:ea typeface="Consolas" pitchFamily="34" charset="-122"/>
                <a:cs typeface="Consolas" pitchFamily="34" charset="-120"/>
              </a:rPr>
              <a:t>        Add shortcut edge (u, x, w1+w2) to G</a:t>
            </a:r>
            <a:endParaRPr lang="en-US" sz="900" dirty="0"/>
          </a:p>
          <a:p>
            <a:pPr indent="0" marL="0">
              <a:buNone/>
            </a:pPr>
            <a:r>
              <a:rPr lang="en-US" sz="900" dirty="0">
                <a:solidFill>
                  <a:srgbClr val="A8D5A2"/>
                </a:solidFill>
                <a:latin typeface="Consolas" pitchFamily="34" charset="0"/>
                <a:ea typeface="Consolas" pitchFamily="34" charset="-122"/>
                <a:cs typeface="Consolas" pitchFamily="34" charset="-120"/>
              </a:rPr>
              <a:t>    Remove v from active graph; store vertex_level[v]</a:t>
            </a:r>
            <a:endParaRPr lang="en-US" sz="900" dirty="0"/>
          </a:p>
          <a:p>
            <a:pPr indent="0" marL="0">
              <a:buNone/>
            </a:pPr>
            <a:endParaRPr lang="en-US" sz="900" dirty="0"/>
          </a:p>
          <a:p>
            <a:pPr indent="0" marL="0">
              <a:buNone/>
            </a:pPr>
            <a:r>
              <a:rPr lang="en-US" sz="900" dirty="0">
                <a:solidFill>
                  <a:srgbClr val="A8D5A2"/>
                </a:solidFill>
                <a:latin typeface="Consolas" pitchFamily="34" charset="0"/>
                <a:ea typeface="Consolas" pitchFamily="34" charset="-122"/>
                <a:cs typeface="Consolas" pitchFamily="34" charset="-120"/>
              </a:rPr>
              <a:t>// QUERY PHASE — Bidirectional Dijkstra on hierarchy</a:t>
            </a:r>
            <a:endParaRPr lang="en-US" sz="900" dirty="0"/>
          </a:p>
          <a:p>
            <a:pPr indent="0" marL="0">
              <a:buNone/>
            </a:pPr>
            <a:r>
              <a:rPr lang="en-US" sz="900" dirty="0">
                <a:solidFill>
                  <a:srgbClr val="A8D5A2"/>
                </a:solidFill>
                <a:latin typeface="Consolas" pitchFamily="34" charset="0"/>
                <a:ea typeface="Consolas" pitchFamily="34" charset="-122"/>
                <a:cs typeface="Consolas" pitchFamily="34" charset="-120"/>
              </a:rPr>
              <a:t>CH-Query(G, source, dest):</a:t>
            </a:r>
            <a:endParaRPr lang="en-US" sz="900" dirty="0"/>
          </a:p>
          <a:p>
            <a:pPr indent="0" marL="0">
              <a:buNone/>
            </a:pPr>
            <a:r>
              <a:rPr lang="en-US" sz="900" dirty="0">
                <a:solidFill>
                  <a:srgbClr val="A8D5A2"/>
                </a:solidFill>
                <a:latin typeface="Consolas" pitchFamily="34" charset="0"/>
                <a:ea typeface="Consolas" pitchFamily="34" charset="-122"/>
                <a:cs typeface="Consolas" pitchFamily="34" charset="-120"/>
              </a:rPr>
              <a:t>  forward_heap  ← {(0, source)};  forward_dist[source]  ← 0</a:t>
            </a:r>
            <a:endParaRPr lang="en-US" sz="900" dirty="0"/>
          </a:p>
          <a:p>
            <a:pPr indent="0" marL="0">
              <a:buNone/>
            </a:pPr>
            <a:r>
              <a:rPr lang="en-US" sz="900" dirty="0">
                <a:solidFill>
                  <a:srgbClr val="A8D5A2"/>
                </a:solidFill>
                <a:latin typeface="Consolas" pitchFamily="34" charset="0"/>
                <a:ea typeface="Consolas" pitchFamily="34" charset="-122"/>
                <a:cs typeface="Consolas" pitchFamily="34" charset="-120"/>
              </a:rPr>
              <a:t>  backward_heap ← {(0, dest)};   backward_dist[dest]   ← 0</a:t>
            </a:r>
            <a:endParaRPr lang="en-US" sz="900" dirty="0"/>
          </a:p>
          <a:p>
            <a:pPr indent="0" marL="0">
              <a:buNone/>
            </a:pPr>
            <a:r>
              <a:rPr lang="en-US" sz="900" dirty="0">
                <a:solidFill>
                  <a:srgbClr val="A8D5A2"/>
                </a:solidFill>
                <a:latin typeface="Consolas" pitchFamily="34" charset="0"/>
                <a:ea typeface="Consolas" pitchFamily="34" charset="-122"/>
                <a:cs typeface="Consolas" pitchFamily="34" charset="-120"/>
              </a:rPr>
              <a:t>  best ← ∞</a:t>
            </a:r>
            <a:endParaRPr lang="en-US" sz="900" dirty="0"/>
          </a:p>
          <a:p>
            <a:pPr indent="0" marL="0">
              <a:buNone/>
            </a:pPr>
            <a:endParaRPr lang="en-US" sz="900" dirty="0"/>
          </a:p>
          <a:p>
            <a:pPr indent="0" marL="0">
              <a:buNone/>
            </a:pPr>
            <a:r>
              <a:rPr lang="en-US" sz="900" dirty="0">
                <a:solidFill>
                  <a:srgbClr val="A8D5A2"/>
                </a:solidFill>
                <a:latin typeface="Consolas" pitchFamily="34" charset="0"/>
                <a:ea typeface="Consolas" pitchFamily="34" charset="-122"/>
                <a:cs typeface="Consolas" pitchFamily="34" charset="-120"/>
              </a:rPr>
              <a:t>  WHILE heaps not empty:</a:t>
            </a:r>
            <a:endParaRPr lang="en-US" sz="900" dirty="0"/>
          </a:p>
          <a:p>
            <a:pPr indent="0" marL="0">
              <a:buNone/>
            </a:pPr>
            <a:r>
              <a:rPr lang="en-US" sz="900" dirty="0">
                <a:solidFill>
                  <a:srgbClr val="A8D5A2"/>
                </a:solidFill>
                <a:latin typeface="Consolas" pitchFamily="34" charset="0"/>
                <a:ea typeface="Consolas" pitchFamily="34" charset="-122"/>
                <a:cs typeface="Consolas" pitchFamily="34" charset="-120"/>
              </a:rPr>
              <a:t>    Expand from forward_heap  → only upward edges (higher level)</a:t>
            </a:r>
            <a:endParaRPr lang="en-US" sz="900" dirty="0"/>
          </a:p>
          <a:p>
            <a:pPr indent="0" marL="0">
              <a:buNone/>
            </a:pPr>
            <a:r>
              <a:rPr lang="en-US" sz="900" dirty="0">
                <a:solidFill>
                  <a:srgbClr val="A8D5A2"/>
                </a:solidFill>
                <a:latin typeface="Consolas" pitchFamily="34" charset="0"/>
                <a:ea typeface="Consolas" pitchFamily="34" charset="-122"/>
                <a:cs typeface="Consolas" pitchFamily="34" charset="-120"/>
              </a:rPr>
              <a:t>    Expand from backward_heap → only upward edges (higher level)</a:t>
            </a:r>
            <a:endParaRPr lang="en-US" sz="900" dirty="0"/>
          </a:p>
          <a:p>
            <a:pPr indent="0" marL="0">
              <a:buNone/>
            </a:pPr>
            <a:r>
              <a:rPr lang="en-US" sz="900" dirty="0">
                <a:solidFill>
                  <a:srgbClr val="A8D5A2"/>
                </a:solidFill>
                <a:latin typeface="Consolas" pitchFamily="34" charset="0"/>
                <a:ea typeface="Consolas" pitchFamily="34" charset="-122"/>
                <a:cs typeface="Consolas" pitchFamily="34" charset="-120"/>
              </a:rPr>
              <a:t>    IF meeting vertex found AND dist &lt; best: best ← dist</a:t>
            </a:r>
            <a:endParaRPr lang="en-US" sz="900" dirty="0"/>
          </a:p>
          <a:p>
            <a:pPr indent="0" marL="0">
              <a:buNone/>
            </a:pPr>
            <a:endParaRPr lang="en-US" sz="900" dirty="0"/>
          </a:p>
          <a:p>
            <a:pPr indent="0" marL="0">
              <a:buNone/>
            </a:pPr>
            <a:r>
              <a:rPr lang="en-US" sz="900" dirty="0">
                <a:solidFill>
                  <a:srgbClr val="A8D5A2"/>
                </a:solidFill>
                <a:latin typeface="Consolas" pitchFamily="34" charset="0"/>
                <a:ea typeface="Consolas" pitchFamily="34" charset="-122"/>
                <a:cs typeface="Consolas" pitchFamily="34" charset="-120"/>
              </a:rPr>
              <a:t>  RETURN (best, path)</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3A2F"/>
        </a:solidFill>
      </p:bgPr>
    </p:bg>
    <p:spTree>
      <p:nvGrpSpPr>
        <p:cNvPr id="1" name=""/>
        <p:cNvGrpSpPr/>
        <p:nvPr/>
      </p:nvGrpSpPr>
      <p:grpSpPr>
        <a:xfrm>
          <a:off x="0" y="0"/>
          <a:ext cx="0" cy="0"/>
          <a:chOff x="0" y="0"/>
          <a:chExt cx="0" cy="0"/>
        </a:xfrm>
      </p:grpSpPr>
      <p:sp>
        <p:nvSpPr>
          <p:cNvPr id="2" name="Text 0"/>
          <p:cNvSpPr/>
          <p:nvPr/>
        </p:nvSpPr>
        <p:spPr>
          <a:xfrm>
            <a:off x="7772400" y="7315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3" name="Text 1"/>
          <p:cNvSpPr/>
          <p:nvPr/>
        </p:nvSpPr>
        <p:spPr>
          <a:xfrm>
            <a:off x="7772400" y="25603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4" name="Text 2"/>
          <p:cNvSpPr/>
          <p:nvPr/>
        </p:nvSpPr>
        <p:spPr>
          <a:xfrm>
            <a:off x="7772400" y="484632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5" name="Text 3"/>
          <p:cNvSpPr/>
          <p:nvPr/>
        </p:nvSpPr>
        <p:spPr>
          <a:xfrm>
            <a:off x="7772400" y="502920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6" name="Shape 4"/>
          <p:cNvSpPr/>
          <p:nvPr/>
        </p:nvSpPr>
        <p:spPr>
          <a:xfrm>
            <a:off x="457200" y="4754880"/>
            <a:ext cx="8229600" cy="0"/>
          </a:xfrm>
          <a:prstGeom prst="line">
            <a:avLst/>
          </a:prstGeom>
          <a:noFill/>
          <a:ln w="12700">
            <a:solidFill>
              <a:srgbClr val="D4A017"/>
            </a:solidFill>
            <a:prstDash val="solid"/>
          </a:ln>
        </p:spPr>
      </p:sp>
      <p:sp>
        <p:nvSpPr>
          <p:cNvPr id="7" name="Text 5"/>
          <p:cNvSpPr/>
          <p:nvPr/>
        </p:nvSpPr>
        <p:spPr>
          <a:xfrm>
            <a:off x="457200" y="201168"/>
            <a:ext cx="73152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CONTRACTION HIERARCHIES — COMPLEXITY</a:t>
            </a:r>
            <a:endParaRPr lang="en-US" sz="2600" dirty="0"/>
          </a:p>
        </p:txBody>
      </p:sp>
      <p:sp>
        <p:nvSpPr>
          <p:cNvPr id="8" name="Shape 6"/>
          <p:cNvSpPr/>
          <p:nvPr/>
        </p:nvSpPr>
        <p:spPr>
          <a:xfrm>
            <a:off x="274320" y="1371600"/>
            <a:ext cx="640080" cy="640080"/>
          </a:xfrm>
          <a:prstGeom prst="ellipse">
            <a:avLst/>
          </a:prstGeom>
          <a:solidFill>
            <a:srgbClr val="D4A017"/>
          </a:solidFill>
          <a:ln w="12700">
            <a:solidFill>
              <a:srgbClr val="D4A017"/>
            </a:solidFill>
            <a:prstDash val="solid"/>
          </a:ln>
        </p:spPr>
      </p:sp>
      <p:sp>
        <p:nvSpPr>
          <p:cNvPr id="9" name="Text 7"/>
          <p:cNvSpPr/>
          <p:nvPr/>
        </p:nvSpPr>
        <p:spPr>
          <a:xfrm>
            <a:off x="274320" y="1371600"/>
            <a:ext cx="640080" cy="640080"/>
          </a:xfrm>
          <a:prstGeom prst="rect">
            <a:avLst/>
          </a:prstGeom>
          <a:noFill/>
          <a:ln/>
        </p:spPr>
        <p:txBody>
          <a:bodyPr wrap="square" lIns="0" tIns="0" rIns="0" bIns="0" rtlCol="0" anchor="ctr"/>
          <a:lstStyle/>
          <a:p>
            <a:pPr algn="ctr" indent="0" marL="0">
              <a:buNone/>
            </a:pPr>
            <a:r>
              <a:rPr lang="en-US" sz="1600" b="1" dirty="0">
                <a:solidFill>
                  <a:srgbClr val="1E3A2F"/>
                </a:solidFill>
              </a:rPr>
              <a:t>03</a:t>
            </a:r>
            <a:endParaRPr lang="en-US" sz="1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896112"/>
          <a:ext cx="8229600" cy="3749040"/>
        </p:xfrm>
        <a:graphic>
          <a:graphicData uri="http://schemas.openxmlformats.org/drawingml/2006/table">
            <a:tbl>
              <a:tblPr/>
              <a:tblGrid>
                <a:gridCol w="2286000"/>
                <a:gridCol w="2560320"/>
                <a:gridCol w="3383280"/>
              </a:tblGrid>
              <a:tr h="624840">
                <a:tc>
                  <a:txBody>
                    <a:bodyPr/>
                    <a:lstStyle/>
                    <a:p>
                      <a:pPr algn="l" indent="0" marL="0">
                        <a:buNone/>
                      </a:pPr>
                      <a:r>
                        <a:rPr lang="en-US" sz="1200" b="1" dirty="0">
                          <a:solidFill>
                            <a:srgbClr val="1E3A2F"/>
                          </a:solidFill>
                        </a:rPr>
                        <a:t>Phase</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4A017"/>
                    </a:solidFill>
                  </a:tcPr>
                </a:tc>
                <a:tc>
                  <a:txBody>
                    <a:bodyPr/>
                    <a:lstStyle/>
                    <a:p>
                      <a:pPr algn="ctr" indent="0" marL="0">
                        <a:buNone/>
                      </a:pPr>
                      <a:r>
                        <a:rPr lang="en-US" sz="1200" b="1" dirty="0">
                          <a:solidFill>
                            <a:srgbClr val="1E3A2F"/>
                          </a:solidFill>
                        </a:rPr>
                        <a:t>Complexity</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4A017"/>
                    </a:solidFill>
                  </a:tcPr>
                </a:tc>
                <a:tc>
                  <a:txBody>
                    <a:bodyPr/>
                    <a:lstStyle/>
                    <a:p>
                      <a:pPr algn="ctr" indent="0" marL="0">
                        <a:buNone/>
                      </a:pPr>
                      <a:r>
                        <a:rPr lang="en-US" sz="1200" b="1" dirty="0">
                          <a:solidFill>
                            <a:srgbClr val="1E3A2F"/>
                          </a:solidFill>
                        </a:rPr>
                        <a:t>Notes</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4A017"/>
                    </a:solidFill>
                  </a:tcPr>
                </a:tc>
              </a:tr>
              <a:tr h="624840">
                <a:tc>
                  <a:txBody>
                    <a:bodyPr/>
                    <a:lstStyle/>
                    <a:p>
                      <a:pPr algn="l" indent="0" marL="0">
                        <a:buNone/>
                      </a:pPr>
                      <a:r>
                        <a:rPr lang="en-US" sz="1200" dirty="0">
                          <a:solidFill>
                            <a:srgbClr val="1E3A2F"/>
                          </a:solidFill>
                        </a:rPr>
                        <a:t>Preprocessing</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C0B8A0"/>
                    </a:solidFill>
                  </a:tcPr>
                </a:tc>
                <a:tc>
                  <a:txBody>
                    <a:bodyPr/>
                    <a:lstStyle/>
                    <a:p>
                      <a:pPr algn="ctr" indent="0" marL="0">
                        <a:buNone/>
                      </a:pPr>
                      <a:r>
                        <a:rPr lang="en-US" sz="1200" dirty="0">
                          <a:solidFill>
                            <a:srgbClr val="1E3A2F"/>
                          </a:solidFill>
                        </a:rPr>
                        <a:t>O((V+E) log V)</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C0B8A0"/>
                    </a:solidFill>
                  </a:tcPr>
                </a:tc>
                <a:tc>
                  <a:txBody>
                    <a:bodyPr/>
                    <a:lstStyle/>
                    <a:p>
                      <a:pPr algn="ctr" indent="0" marL="0">
                        <a:buNone/>
                      </a:pPr>
                      <a:r>
                        <a:rPr lang="en-US" sz="1200" dirty="0">
                          <a:solidFill>
                            <a:srgbClr val="1E3A2F"/>
                          </a:solidFill>
                        </a:rPr>
                        <a:t>One-time, amortised over all queries</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C0B8A0"/>
                    </a:solidFill>
                  </a:tcPr>
                </a:tc>
              </a:tr>
              <a:tr h="624840">
                <a:tc>
                  <a:txBody>
                    <a:bodyPr/>
                    <a:lstStyle/>
                    <a:p>
                      <a:pPr algn="l" indent="0" marL="0">
                        <a:buNone/>
                      </a:pPr>
                      <a:r>
                        <a:rPr lang="en-US" sz="1200" dirty="0">
                          <a:solidFill>
                            <a:srgbClr val="1E3A2F"/>
                          </a:solidFill>
                        </a:rPr>
                        <a:t>Query Time</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0C8B0"/>
                    </a:solidFill>
                  </a:tcPr>
                </a:tc>
                <a:tc>
                  <a:txBody>
                    <a:bodyPr/>
                    <a:lstStyle/>
                    <a:p>
                      <a:pPr algn="ctr" indent="0" marL="0">
                        <a:buNone/>
                      </a:pPr>
                      <a:r>
                        <a:rPr lang="en-US" sz="1200" dirty="0">
                          <a:solidFill>
                            <a:srgbClr val="1E3A2F"/>
                          </a:solidFill>
                        </a:rPr>
                        <a:t>O(log V) typical</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0C8B0"/>
                    </a:solidFill>
                  </a:tcPr>
                </a:tc>
                <a:tc>
                  <a:txBody>
                    <a:bodyPr/>
                    <a:lstStyle/>
                    <a:p>
                      <a:pPr algn="ctr" indent="0" marL="0">
                        <a:buNone/>
                      </a:pPr>
                      <a:r>
                        <a:rPr lang="en-US" sz="1200" dirty="0">
                          <a:solidFill>
                            <a:srgbClr val="1E3A2F"/>
                          </a:solidFill>
                        </a:rPr>
                        <a:t>Near-constant on road networks</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0C8B0"/>
                    </a:solidFill>
                  </a:tcPr>
                </a:tc>
              </a:tr>
              <a:tr h="624840">
                <a:tc>
                  <a:txBody>
                    <a:bodyPr/>
                    <a:lstStyle/>
                    <a:p>
                      <a:pPr algn="l" indent="0" marL="0">
                        <a:buNone/>
                      </a:pPr>
                      <a:r>
                        <a:rPr lang="en-US" sz="1200" dirty="0">
                          <a:solidFill>
                            <a:srgbClr val="1E3A2F"/>
                          </a:solidFill>
                        </a:rPr>
                        <a:t>Space</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C0B8A0"/>
                    </a:solidFill>
                  </a:tcPr>
                </a:tc>
                <a:tc>
                  <a:txBody>
                    <a:bodyPr/>
                    <a:lstStyle/>
                    <a:p>
                      <a:pPr algn="ctr" indent="0" marL="0">
                        <a:buNone/>
                      </a:pPr>
                      <a:r>
                        <a:rPr lang="en-US" sz="1200" dirty="0">
                          <a:solidFill>
                            <a:srgbClr val="1E3A2F"/>
                          </a:solidFill>
                        </a:rPr>
                        <a:t>O(V + E + shortcuts)</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C0B8A0"/>
                    </a:solidFill>
                  </a:tcPr>
                </a:tc>
                <a:tc>
                  <a:txBody>
                    <a:bodyPr/>
                    <a:lstStyle/>
                    <a:p>
                      <a:pPr algn="ctr" indent="0" marL="0">
                        <a:buNone/>
                      </a:pPr>
                      <a:r>
                        <a:rPr lang="en-US" sz="1200" dirty="0">
                          <a:solidFill>
                            <a:srgbClr val="1E3A2F"/>
                          </a:solidFill>
                        </a:rPr>
                        <a:t>Shortcuts ≪ V² in practice</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C0B8A0"/>
                    </a:solidFill>
                  </a:tcPr>
                </a:tc>
              </a:tr>
              <a:tr h="624840">
                <a:tc>
                  <a:txBody>
                    <a:bodyPr/>
                    <a:lstStyle/>
                    <a:p>
                      <a:pPr algn="l" indent="0" marL="0">
                        <a:buNone/>
                      </a:pPr>
                      <a:r>
                        <a:rPr lang="en-US" sz="1200" dirty="0">
                          <a:solidFill>
                            <a:srgbClr val="1E3A2F"/>
                          </a:solidFill>
                        </a:rPr>
                        <a:t>Shortcuts Added</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0C8B0"/>
                    </a:solidFill>
                  </a:tcPr>
                </a:tc>
                <a:tc>
                  <a:txBody>
                    <a:bodyPr/>
                    <a:lstStyle/>
                    <a:p>
                      <a:pPr algn="ctr" indent="0" marL="0">
                        <a:buNone/>
                      </a:pPr>
                      <a:r>
                        <a:rPr lang="en-US" sz="1200" dirty="0">
                          <a:solidFill>
                            <a:srgbClr val="1E3A2F"/>
                          </a:solidFill>
                        </a:rPr>
                        <a:t>O(V·deg)</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0C8B0"/>
                    </a:solidFill>
                  </a:tcPr>
                </a:tc>
                <a:tc>
                  <a:txBody>
                    <a:bodyPr/>
                    <a:lstStyle/>
                    <a:p>
                      <a:pPr algn="ctr" indent="0" marL="0">
                        <a:buNone/>
                      </a:pPr>
                      <a:r>
                        <a:rPr lang="en-US" sz="1200" dirty="0">
                          <a:solidFill>
                            <a:srgbClr val="1E3A2F"/>
                          </a:solidFill>
                        </a:rPr>
                        <a:t>Depends on vertex ordering heuristic</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0C8B0"/>
                    </a:solidFill>
                  </a:tcPr>
                </a:tc>
              </a:tr>
              <a:tr h="624840">
                <a:tc>
                  <a:txBody>
                    <a:bodyPr/>
                    <a:lstStyle/>
                    <a:p>
                      <a:pPr algn="l" indent="0" marL="0">
                        <a:buNone/>
                      </a:pPr>
                      <a:r>
                        <a:rPr lang="en-US" sz="1200" dirty="0">
                          <a:solidFill>
                            <a:srgbClr val="1E3A2F"/>
                          </a:solidFill>
                        </a:rPr>
                        <a:t>Road Network Query</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C0B8A0"/>
                    </a:solidFill>
                  </a:tcPr>
                </a:tc>
                <a:tc>
                  <a:txBody>
                    <a:bodyPr/>
                    <a:lstStyle/>
                    <a:p>
                      <a:pPr algn="ctr" indent="0" marL="0">
                        <a:buNone/>
                      </a:pPr>
                      <a:r>
                        <a:rPr lang="en-US" sz="1200" dirty="0">
                          <a:solidFill>
                            <a:srgbClr val="1E3A2F"/>
                          </a:solidFill>
                        </a:rPr>
                        <a:t>&lt; 1 ms (106 V)</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C0B8A0"/>
                    </a:solidFill>
                  </a:tcPr>
                </a:tc>
                <a:tc>
                  <a:txBody>
                    <a:bodyPr/>
                    <a:lstStyle/>
                    <a:p>
                      <a:pPr algn="ctr" indent="0" marL="0">
                        <a:buNone/>
                      </a:pPr>
                      <a:r>
                        <a:rPr lang="en-US" sz="1200" dirty="0">
                          <a:solidFill>
                            <a:srgbClr val="1E3A2F"/>
                          </a:solidFill>
                        </a:rPr>
                        <a:t>E.g. entire Germany road graph</a:t>
                      </a:r>
                      <a:endParaRPr lang="en-US" sz="1200" dirty="0"/>
                    </a:p>
                  </a:txBody>
                  <a:tcPr marL="76200" marR="762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C0B8A0"/>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3A2F"/>
        </a:solidFill>
      </p:bgPr>
    </p:bg>
    <p:spTree>
      <p:nvGrpSpPr>
        <p:cNvPr id="1" name=""/>
        <p:cNvGrpSpPr/>
        <p:nvPr/>
      </p:nvGrpSpPr>
      <p:grpSpPr>
        <a:xfrm>
          <a:off x="0" y="0"/>
          <a:ext cx="0" cy="0"/>
          <a:chOff x="0" y="0"/>
          <a:chExt cx="0" cy="0"/>
        </a:xfrm>
      </p:grpSpPr>
      <p:sp>
        <p:nvSpPr>
          <p:cNvPr id="2" name="Text 0"/>
          <p:cNvSpPr/>
          <p:nvPr/>
        </p:nvSpPr>
        <p:spPr>
          <a:xfrm>
            <a:off x="137160" y="91440"/>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3" name="Text 1"/>
          <p:cNvSpPr/>
          <p:nvPr/>
        </p:nvSpPr>
        <p:spPr>
          <a:xfrm>
            <a:off x="137160" y="292608"/>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4" name="Text 2"/>
          <p:cNvSpPr/>
          <p:nvPr/>
        </p:nvSpPr>
        <p:spPr>
          <a:xfrm>
            <a:off x="7909560" y="4754880"/>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5" name="Text 3"/>
          <p:cNvSpPr/>
          <p:nvPr/>
        </p:nvSpPr>
        <p:spPr>
          <a:xfrm>
            <a:off x="7909560" y="4956048"/>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6" name="Shape 4"/>
          <p:cNvSpPr/>
          <p:nvPr/>
        </p:nvSpPr>
        <p:spPr>
          <a:xfrm>
            <a:off x="8229600" y="-457200"/>
            <a:ext cx="1645920" cy="1645920"/>
          </a:xfrm>
          <a:prstGeom prst="ellipse">
            <a:avLst/>
          </a:prstGeom>
          <a:ln w="101600">
            <a:solidFill>
              <a:srgbClr val="FFFFFF"/>
            </a:solidFill>
            <a:prstDash val="solid"/>
          </a:ln>
        </p:spPr>
      </p:sp>
      <p:sp>
        <p:nvSpPr>
          <p:cNvPr id="7" name="Shape 5"/>
          <p:cNvSpPr/>
          <p:nvPr/>
        </p:nvSpPr>
        <p:spPr>
          <a:xfrm>
            <a:off x="-548640" y="3840480"/>
            <a:ext cx="1645920" cy="1645920"/>
          </a:xfrm>
          <a:prstGeom prst="ellipse">
            <a:avLst/>
          </a:prstGeom>
          <a:ln w="101600">
            <a:solidFill>
              <a:srgbClr val="FFFFFF"/>
            </a:solidFill>
            <a:prstDash val="solid"/>
          </a:ln>
        </p:spPr>
      </p:sp>
      <p:sp>
        <p:nvSpPr>
          <p:cNvPr id="8" name="Shape 6"/>
          <p:cNvSpPr/>
          <p:nvPr/>
        </p:nvSpPr>
        <p:spPr>
          <a:xfrm>
            <a:off x="4229100" y="640080"/>
            <a:ext cx="685800" cy="685800"/>
          </a:xfrm>
          <a:prstGeom prst="ellipse">
            <a:avLst/>
          </a:prstGeom>
          <a:solidFill>
            <a:srgbClr val="D4A017"/>
          </a:solidFill>
          <a:ln w="12700">
            <a:solidFill>
              <a:srgbClr val="D4A017"/>
            </a:solidFill>
            <a:prstDash val="solid"/>
          </a:ln>
        </p:spPr>
      </p:sp>
      <p:sp>
        <p:nvSpPr>
          <p:cNvPr id="9" name="Text 7"/>
          <p:cNvSpPr/>
          <p:nvPr/>
        </p:nvSpPr>
        <p:spPr>
          <a:xfrm>
            <a:off x="4229100" y="640080"/>
            <a:ext cx="685800" cy="685800"/>
          </a:xfrm>
          <a:prstGeom prst="rect">
            <a:avLst/>
          </a:prstGeom>
          <a:noFill/>
          <a:ln/>
        </p:spPr>
        <p:txBody>
          <a:bodyPr wrap="square" lIns="0" tIns="0" rIns="0" bIns="0" rtlCol="0" anchor="ctr"/>
          <a:lstStyle/>
          <a:p>
            <a:pPr algn="ctr" indent="0" marL="0">
              <a:buNone/>
            </a:pPr>
            <a:r>
              <a:rPr lang="en-US" sz="2000" b="1" dirty="0">
                <a:solidFill>
                  <a:srgbClr val="1E3A2F"/>
                </a:solidFill>
              </a:rPr>
              <a:t>05</a:t>
            </a:r>
            <a:endParaRPr lang="en-US" sz="2000" dirty="0"/>
          </a:p>
        </p:txBody>
      </p:sp>
      <p:sp>
        <p:nvSpPr>
          <p:cNvPr id="10" name="Text 8"/>
          <p:cNvSpPr/>
          <p:nvPr/>
        </p:nvSpPr>
        <p:spPr>
          <a:xfrm>
            <a:off x="457200" y="1554480"/>
            <a:ext cx="8229600" cy="777240"/>
          </a:xfrm>
          <a:prstGeom prst="rect">
            <a:avLst/>
          </a:prstGeom>
          <a:noFill/>
          <a:ln/>
        </p:spPr>
        <p:txBody>
          <a:bodyPr wrap="square" lIns="0" tIns="0" rIns="0" bIns="0" rtlCol="0" anchor="ctr"/>
          <a:lstStyle/>
          <a:p>
            <a:pPr algn="ctr" indent="0" marL="0">
              <a:buNone/>
            </a:pPr>
            <a:r>
              <a:rPr lang="en-US" sz="4400" b="1" dirty="0">
                <a:solidFill>
                  <a:srgbClr val="D4A017"/>
                </a:solidFill>
                <a:latin typeface="Arial Black" pitchFamily="34" charset="0"/>
                <a:ea typeface="Arial Black" pitchFamily="34" charset="-122"/>
                <a:cs typeface="Arial Black" pitchFamily="34" charset="-120"/>
              </a:rPr>
              <a:t>COMPARATIVE</a:t>
            </a:r>
            <a:endParaRPr lang="en-US" sz="4400" dirty="0"/>
          </a:p>
        </p:txBody>
      </p:sp>
      <p:sp>
        <p:nvSpPr>
          <p:cNvPr id="11" name="Text 9"/>
          <p:cNvSpPr/>
          <p:nvPr/>
        </p:nvSpPr>
        <p:spPr>
          <a:xfrm>
            <a:off x="457200" y="2331720"/>
            <a:ext cx="8229600" cy="685800"/>
          </a:xfrm>
          <a:prstGeom prst="rect">
            <a:avLst/>
          </a:prstGeom>
          <a:noFill/>
          <a:ln/>
        </p:spPr>
        <p:txBody>
          <a:bodyPr wrap="square" lIns="0" tIns="0" rIns="0" bIns="0" rtlCol="0" anchor="ctr"/>
          <a:lstStyle/>
          <a:p>
            <a:pPr algn="ctr" indent="0" marL="0">
              <a:buNone/>
            </a:pPr>
            <a:r>
              <a:rPr lang="en-US" sz="3600" b="1" spc="500" kern="0" dirty="0">
                <a:solidFill>
                  <a:srgbClr val="FFFFFF"/>
                </a:solidFill>
                <a:latin typeface="Arial Black" pitchFamily="34" charset="0"/>
                <a:ea typeface="Arial Black" pitchFamily="34" charset="-122"/>
                <a:cs typeface="Arial Black" pitchFamily="34" charset="-120"/>
              </a:rPr>
              <a:t>ANALYSIS</a:t>
            </a:r>
            <a:endParaRPr lang="en-US" sz="3600" dirty="0"/>
          </a:p>
        </p:txBody>
      </p:sp>
      <p:sp>
        <p:nvSpPr>
          <p:cNvPr id="12" name="Text 10"/>
          <p:cNvSpPr/>
          <p:nvPr/>
        </p:nvSpPr>
        <p:spPr>
          <a:xfrm>
            <a:off x="1371600" y="3657600"/>
            <a:ext cx="6400800" cy="365760"/>
          </a:xfrm>
          <a:prstGeom prst="rect">
            <a:avLst/>
          </a:prstGeom>
          <a:noFill/>
          <a:ln/>
        </p:spPr>
        <p:txBody>
          <a:bodyPr wrap="square" lIns="0" tIns="0" rIns="0" bIns="0" rtlCol="0" anchor="ctr"/>
          <a:lstStyle/>
          <a:p>
            <a:pPr algn="ctr" indent="0" marL="0">
              <a:buNone/>
            </a:pPr>
            <a:r>
              <a:rPr lang="en-US" sz="1300" dirty="0">
                <a:solidFill>
                  <a:srgbClr val="C8C0A8"/>
                </a:solidFill>
                <a:latin typeface="Calibri" pitchFamily="34" charset="0"/>
                <a:ea typeface="Calibri" pitchFamily="34" charset="-122"/>
                <a:cs typeface="Calibri" pitchFamily="34" charset="-120"/>
              </a:rPr>
              <a:t>Benchmarks  ·  Empirical results  ·  Algorithm selection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EAD6"/>
        </a:solidFill>
      </p:bgPr>
    </p:bg>
    <p:spTree>
      <p:nvGrpSpPr>
        <p:cNvPr id="1" name=""/>
        <p:cNvGrpSpPr/>
        <p:nvPr/>
      </p:nvGrpSpPr>
      <p:grpSpPr>
        <a:xfrm>
          <a:off x="0" y="0"/>
          <a:ext cx="0" cy="0"/>
          <a:chOff x="0" y="0"/>
          <a:chExt cx="0" cy="0"/>
        </a:xfrm>
      </p:grpSpPr>
      <p:sp>
        <p:nvSpPr>
          <p:cNvPr id="2" name="Text 0"/>
          <p:cNvSpPr/>
          <p:nvPr/>
        </p:nvSpPr>
        <p:spPr>
          <a:xfrm>
            <a:off x="109728" y="73152"/>
            <a:ext cx="1097280" cy="182880"/>
          </a:xfrm>
          <a:prstGeom prst="rect">
            <a:avLst/>
          </a:prstGeom>
          <a:noFill/>
          <a:ln/>
        </p:spPr>
        <p:txBody>
          <a:bodyPr wrap="square" lIns="0" tIns="0" rIns="0" bIns="0" rtlCol="0" anchor="ctr"/>
          <a:lstStyle/>
          <a:p>
            <a:pPr indent="0" marL="0">
              <a:buNone/>
            </a:pPr>
            <a:r>
              <a:rPr lang="en-US" sz="1100" b="1" spc="200" kern="0" dirty="0">
                <a:solidFill>
                  <a:srgbClr val="8A8070"/>
                </a:solidFill>
                <a:latin typeface="Calibri" pitchFamily="34" charset="0"/>
                <a:ea typeface="Calibri" pitchFamily="34" charset="-122"/>
                <a:cs typeface="Calibri" pitchFamily="34" charset="-120"/>
              </a:rPr>
              <a:t>\\\\\\</a:t>
            </a:r>
            <a:endParaRPr lang="en-US" sz="1100" dirty="0"/>
          </a:p>
        </p:txBody>
      </p:sp>
      <p:sp>
        <p:nvSpPr>
          <p:cNvPr id="3" name="Text 1"/>
          <p:cNvSpPr/>
          <p:nvPr/>
        </p:nvSpPr>
        <p:spPr>
          <a:xfrm>
            <a:off x="109728" y="274320"/>
            <a:ext cx="1097280" cy="182880"/>
          </a:xfrm>
          <a:prstGeom prst="rect">
            <a:avLst/>
          </a:prstGeom>
          <a:noFill/>
          <a:ln/>
        </p:spPr>
        <p:txBody>
          <a:bodyPr wrap="square" lIns="0" tIns="0" rIns="0" bIns="0" rtlCol="0" anchor="ctr"/>
          <a:lstStyle/>
          <a:p>
            <a:pPr indent="0" marL="0">
              <a:buNone/>
            </a:pPr>
            <a:r>
              <a:rPr lang="en-US" sz="1100" b="1" spc="200" kern="0" dirty="0">
                <a:solidFill>
                  <a:srgbClr val="8A8070"/>
                </a:solidFill>
                <a:latin typeface="Calibri" pitchFamily="34" charset="0"/>
                <a:ea typeface="Calibri" pitchFamily="34" charset="-122"/>
                <a:cs typeface="Calibri" pitchFamily="34" charset="-120"/>
              </a:rPr>
              <a:t>\\\\\\</a:t>
            </a:r>
            <a:endParaRPr lang="en-US" sz="1100" dirty="0"/>
          </a:p>
        </p:txBody>
      </p:sp>
      <p:sp>
        <p:nvSpPr>
          <p:cNvPr id="4" name="Text 2"/>
          <p:cNvSpPr/>
          <p:nvPr/>
        </p:nvSpPr>
        <p:spPr>
          <a:xfrm>
            <a:off x="7772400" y="4773168"/>
            <a:ext cx="1371600" cy="182880"/>
          </a:xfrm>
          <a:prstGeom prst="rect">
            <a:avLst/>
          </a:prstGeom>
          <a:noFill/>
          <a:ln/>
        </p:spPr>
        <p:txBody>
          <a:bodyPr wrap="square" lIns="0" tIns="0" rIns="0" bIns="0" rtlCol="0" anchor="ctr"/>
          <a:lstStyle/>
          <a:p>
            <a:pPr indent="0" marL="0">
              <a:buNone/>
            </a:pPr>
            <a:r>
              <a:rPr lang="en-US" sz="900" spc="300" kern="0" dirty="0">
                <a:solidFill>
                  <a:srgbClr val="8A8070"/>
                </a:solidFill>
                <a:latin typeface="Calibri" pitchFamily="34" charset="0"/>
                <a:ea typeface="Calibri" pitchFamily="34" charset="-122"/>
                <a:cs typeface="Calibri" pitchFamily="34" charset="-120"/>
              </a:rPr>
              <a:t>× × × ×</a:t>
            </a:r>
            <a:endParaRPr lang="en-US" sz="900" dirty="0"/>
          </a:p>
        </p:txBody>
      </p:sp>
      <p:sp>
        <p:nvSpPr>
          <p:cNvPr id="5" name="Text 3"/>
          <p:cNvSpPr/>
          <p:nvPr/>
        </p:nvSpPr>
        <p:spPr>
          <a:xfrm>
            <a:off x="7772400" y="4956048"/>
            <a:ext cx="1371600" cy="182880"/>
          </a:xfrm>
          <a:prstGeom prst="rect">
            <a:avLst/>
          </a:prstGeom>
          <a:noFill/>
          <a:ln/>
        </p:spPr>
        <p:txBody>
          <a:bodyPr wrap="square" lIns="0" tIns="0" rIns="0" bIns="0" rtlCol="0" anchor="ctr"/>
          <a:lstStyle/>
          <a:p>
            <a:pPr indent="0" marL="0">
              <a:buNone/>
            </a:pPr>
            <a:r>
              <a:rPr lang="en-US" sz="900" spc="300" kern="0" dirty="0">
                <a:solidFill>
                  <a:srgbClr val="8A8070"/>
                </a:solidFill>
                <a:latin typeface="Calibri" pitchFamily="34" charset="0"/>
                <a:ea typeface="Calibri" pitchFamily="34" charset="-122"/>
                <a:cs typeface="Calibri" pitchFamily="34" charset="-120"/>
              </a:rPr>
              <a:t>× × × ×</a:t>
            </a:r>
            <a:endParaRPr lang="en-US" sz="900" dirty="0"/>
          </a:p>
        </p:txBody>
      </p:sp>
      <p:sp>
        <p:nvSpPr>
          <p:cNvPr id="6" name="Text 4"/>
          <p:cNvSpPr/>
          <p:nvPr/>
        </p:nvSpPr>
        <p:spPr>
          <a:xfrm>
            <a:off x="457200" y="201168"/>
            <a:ext cx="8229600" cy="594360"/>
          </a:xfrm>
          <a:prstGeom prst="rect">
            <a:avLst/>
          </a:prstGeom>
          <a:noFill/>
          <a:ln/>
        </p:spPr>
        <p:txBody>
          <a:bodyPr wrap="square" lIns="0" tIns="0" rIns="0" bIns="0" rtlCol="0" anchor="ctr"/>
          <a:lstStyle/>
          <a:p>
            <a:pPr algn="ctr" indent="0" marL="0">
              <a:buNone/>
            </a:pPr>
            <a:r>
              <a:rPr lang="en-US" sz="2600" b="1" dirty="0">
                <a:solidFill>
                  <a:srgbClr val="1E3A2F"/>
                </a:solidFill>
                <a:latin typeface="Calibri" pitchFamily="34" charset="0"/>
                <a:ea typeface="Calibri" pitchFamily="34" charset="-122"/>
                <a:cs typeface="Calibri" pitchFamily="34" charset="-120"/>
              </a:rPr>
              <a:t>COMPLEXITY COMPARISON</a:t>
            </a:r>
            <a:endParaRPr lang="en-US" sz="2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20040" y="868680"/>
          <a:ext cx="8503920" cy="3657600"/>
        </p:xfrm>
        <a:graphic>
          <a:graphicData uri="http://schemas.openxmlformats.org/drawingml/2006/table">
            <a:tbl>
              <a:tblPr/>
              <a:tblGrid>
                <a:gridCol w="2103120"/>
                <a:gridCol w="2011680"/>
                <a:gridCol w="777240"/>
                <a:gridCol w="1143000"/>
                <a:gridCol w="2468880"/>
              </a:tblGrid>
              <a:tr h="731520">
                <a:tc>
                  <a:txBody>
                    <a:bodyPr/>
                    <a:lstStyle/>
                    <a:p>
                      <a:pPr algn="l" indent="0" marL="0">
                        <a:buNone/>
                      </a:pPr>
                      <a:r>
                        <a:rPr lang="en-US" sz="1150" b="1" dirty="0">
                          <a:solidFill>
                            <a:srgbClr val="FFFFFF"/>
                          </a:solidFill>
                        </a:rPr>
                        <a:t>Algorithm</a:t>
                      </a:r>
                      <a:endParaRPr lang="en-US" sz="1150" dirty="0"/>
                    </a:p>
                  </a:txBody>
                  <a:tcPr marL="63500" marR="635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1E3A2F"/>
                    </a:solidFill>
                  </a:tcPr>
                </a:tc>
                <a:tc>
                  <a:txBody>
                    <a:bodyPr/>
                    <a:lstStyle/>
                    <a:p>
                      <a:pPr algn="ctr" indent="0" marL="0">
                        <a:buNone/>
                      </a:pPr>
                      <a:r>
                        <a:rPr lang="en-US" sz="1150" b="1" dirty="0">
                          <a:solidFill>
                            <a:srgbClr val="FFFFFF"/>
                          </a:solidFill>
                        </a:rPr>
                        <a:t>Time Complexity</a:t>
                      </a:r>
                      <a:endParaRPr lang="en-US" sz="1150" dirty="0"/>
                    </a:p>
                  </a:txBody>
                  <a:tcPr marL="63500" marR="635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1E3A2F"/>
                    </a:solidFill>
                  </a:tcPr>
                </a:tc>
                <a:tc>
                  <a:txBody>
                    <a:bodyPr/>
                    <a:lstStyle/>
                    <a:p>
                      <a:pPr algn="ctr" indent="0" marL="0">
                        <a:buNone/>
                      </a:pPr>
                      <a:r>
                        <a:rPr lang="en-US" sz="1150" b="1" dirty="0">
                          <a:solidFill>
                            <a:srgbClr val="FFFFFF"/>
                          </a:solidFill>
                        </a:rPr>
                        <a:t>Space</a:t>
                      </a:r>
                      <a:endParaRPr lang="en-US" sz="1150" dirty="0"/>
                    </a:p>
                  </a:txBody>
                  <a:tcPr marL="63500" marR="635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1E3A2F"/>
                    </a:solidFill>
                  </a:tcPr>
                </a:tc>
                <a:tc>
                  <a:txBody>
                    <a:bodyPr/>
                    <a:lstStyle/>
                    <a:p>
                      <a:pPr algn="ctr" indent="0" marL="0">
                        <a:buNone/>
                      </a:pPr>
                      <a:r>
                        <a:rPr lang="en-US" sz="1150" b="1" dirty="0">
                          <a:solidFill>
                            <a:srgbClr val="FFFFFF"/>
                          </a:solidFill>
                        </a:rPr>
                        <a:t>Handles Negatives</a:t>
                      </a:r>
                      <a:endParaRPr lang="en-US" sz="1150" dirty="0"/>
                    </a:p>
                  </a:txBody>
                  <a:tcPr marL="63500" marR="635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1E3A2F"/>
                    </a:solidFill>
                  </a:tcPr>
                </a:tc>
                <a:tc>
                  <a:txBody>
                    <a:bodyPr/>
                    <a:lstStyle/>
                    <a:p>
                      <a:pPr algn="ctr" indent="0" marL="0">
                        <a:buNone/>
                      </a:pPr>
                      <a:r>
                        <a:rPr lang="en-US" sz="1150" b="1" dirty="0">
                          <a:solidFill>
                            <a:srgbClr val="FFFFFF"/>
                          </a:solidFill>
                        </a:rPr>
                        <a:t>Best Use Case</a:t>
                      </a:r>
                      <a:endParaRPr lang="en-US" sz="1150" dirty="0"/>
                    </a:p>
                  </a:txBody>
                  <a:tcPr marL="63500" marR="635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1E3A2F"/>
                    </a:solidFill>
                  </a:tcPr>
                </a:tc>
              </a:tr>
              <a:tr h="731520">
                <a:tc>
                  <a:txBody>
                    <a:bodyPr/>
                    <a:lstStyle/>
                    <a:p>
                      <a:pPr algn="l" indent="0" marL="0">
                        <a:buNone/>
                      </a:pPr>
                      <a:r>
                        <a:rPr lang="en-US" sz="1100" b="1" dirty="0">
                          <a:solidFill>
                            <a:srgbClr val="1E3A2F"/>
                          </a:solidFill>
                        </a:rPr>
                        <a:t>Bidirectional Dijkstra</a:t>
                      </a:r>
                      <a:endParaRPr lang="en-US" sz="1100" dirty="0"/>
                    </a:p>
                  </a:txBody>
                  <a:tcPr marL="63500" marR="635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C8C0A8"/>
                    </a:solidFill>
                  </a:tcPr>
                </a:tc>
                <a:tc>
                  <a:txBody>
                    <a:bodyPr/>
                    <a:lstStyle/>
                    <a:p>
                      <a:pPr algn="ctr" indent="0" marL="0">
                        <a:buNone/>
                      </a:pPr>
                      <a:r>
                        <a:rPr lang="en-US" sz="1100" dirty="0">
                          <a:solidFill>
                            <a:srgbClr val="1E3A2F"/>
                          </a:solidFill>
                        </a:rPr>
                        <a:t>O((V+E) log V)</a:t>
                      </a:r>
                      <a:endParaRPr lang="en-US" sz="1100" dirty="0"/>
                    </a:p>
                  </a:txBody>
                  <a:tcPr marL="63500" marR="635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E0D8C8"/>
                    </a:solidFill>
                  </a:tcPr>
                </a:tc>
                <a:tc>
                  <a:txBody>
                    <a:bodyPr/>
                    <a:lstStyle/>
                    <a:p>
                      <a:pPr algn="ctr" indent="0" marL="0">
                        <a:buNone/>
                      </a:pPr>
                      <a:r>
                        <a:rPr lang="en-US" sz="1100" dirty="0">
                          <a:solidFill>
                            <a:srgbClr val="1E3A2F"/>
                          </a:solidFill>
                        </a:rPr>
                        <a:t>O(V)</a:t>
                      </a:r>
                      <a:endParaRPr lang="en-US" sz="1100" dirty="0"/>
                    </a:p>
                  </a:txBody>
                  <a:tcPr marL="63500" marR="635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E0D8C8"/>
                    </a:solidFill>
                  </a:tcPr>
                </a:tc>
                <a:tc>
                  <a:txBody>
                    <a:bodyPr/>
                    <a:lstStyle/>
                    <a:p>
                      <a:pPr algn="ctr" indent="0" marL="0">
                        <a:buNone/>
                      </a:pPr>
                      <a:r>
                        <a:rPr lang="en-US" sz="1100" dirty="0">
                          <a:solidFill>
                            <a:srgbClr val="1E3A2F"/>
                          </a:solidFill>
                        </a:rPr>
                        <a:t>No</a:t>
                      </a:r>
                      <a:endParaRPr lang="en-US" sz="1100" dirty="0"/>
                    </a:p>
                  </a:txBody>
                  <a:tcPr marL="63500" marR="635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E0D8C8"/>
                    </a:solidFill>
                  </a:tcPr>
                </a:tc>
                <a:tc>
                  <a:txBody>
                    <a:bodyPr/>
                    <a:lstStyle/>
                    <a:p>
                      <a:pPr algn="ctr" indent="0" marL="0">
                        <a:buNone/>
                      </a:pPr>
                      <a:r>
                        <a:rPr lang="en-US" sz="1100" dirty="0">
                          <a:solidFill>
                            <a:srgbClr val="1E3A2F"/>
                          </a:solidFill>
                        </a:rPr>
                        <a:t>Single-pair, general graphs</a:t>
                      </a:r>
                      <a:endParaRPr lang="en-US" sz="1100" dirty="0"/>
                    </a:p>
                  </a:txBody>
                  <a:tcPr marL="63500" marR="635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E0D8C8"/>
                    </a:solidFill>
                  </a:tcPr>
                </a:tc>
              </a:tr>
              <a:tr h="731520">
                <a:tc>
                  <a:txBody>
                    <a:bodyPr/>
                    <a:lstStyle/>
                    <a:p>
                      <a:pPr algn="l" indent="0" marL="0">
                        <a:buNone/>
                      </a:pPr>
                      <a:r>
                        <a:rPr lang="en-US" sz="1100" b="1" dirty="0">
                          <a:solidFill>
                            <a:srgbClr val="1E3A2F"/>
                          </a:solidFill>
                        </a:rPr>
                        <a:t>A* Search</a:t>
                      </a:r>
                      <a:endParaRPr lang="en-US" sz="1100" dirty="0"/>
                    </a:p>
                  </a:txBody>
                  <a:tcPr marL="63500" marR="635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C8C0A8"/>
                    </a:solidFill>
                  </a:tcPr>
                </a:tc>
                <a:tc>
                  <a:txBody>
                    <a:bodyPr/>
                    <a:lstStyle/>
                    <a:p>
                      <a:pPr algn="ctr" indent="0" marL="0">
                        <a:buNone/>
                      </a:pPr>
                      <a:r>
                        <a:rPr lang="en-US" sz="1100" dirty="0">
                          <a:solidFill>
                            <a:srgbClr val="1E3A2F"/>
                          </a:solidFill>
                        </a:rPr>
                        <a:t>O((V+E) log V)</a:t>
                      </a:r>
                      <a:endParaRPr lang="en-US" sz="1100" dirty="0"/>
                    </a:p>
                  </a:txBody>
                  <a:tcPr marL="63500" marR="635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8D0BC"/>
                    </a:solidFill>
                  </a:tcPr>
                </a:tc>
                <a:tc>
                  <a:txBody>
                    <a:bodyPr/>
                    <a:lstStyle/>
                    <a:p>
                      <a:pPr algn="ctr" indent="0" marL="0">
                        <a:buNone/>
                      </a:pPr>
                      <a:r>
                        <a:rPr lang="en-US" sz="1100" dirty="0">
                          <a:solidFill>
                            <a:srgbClr val="1E3A2F"/>
                          </a:solidFill>
                        </a:rPr>
                        <a:t>O(V)</a:t>
                      </a:r>
                      <a:endParaRPr lang="en-US" sz="1100" dirty="0"/>
                    </a:p>
                  </a:txBody>
                  <a:tcPr marL="63500" marR="635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8D0BC"/>
                    </a:solidFill>
                  </a:tcPr>
                </a:tc>
                <a:tc>
                  <a:txBody>
                    <a:bodyPr/>
                    <a:lstStyle/>
                    <a:p>
                      <a:pPr algn="ctr" indent="0" marL="0">
                        <a:buNone/>
                      </a:pPr>
                      <a:r>
                        <a:rPr lang="en-US" sz="1100" dirty="0">
                          <a:solidFill>
                            <a:srgbClr val="1E3A2F"/>
                          </a:solidFill>
                        </a:rPr>
                        <a:t>No</a:t>
                      </a:r>
                      <a:endParaRPr lang="en-US" sz="1100" dirty="0"/>
                    </a:p>
                  </a:txBody>
                  <a:tcPr marL="63500" marR="635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8D0BC"/>
                    </a:solidFill>
                  </a:tcPr>
                </a:tc>
                <a:tc>
                  <a:txBody>
                    <a:bodyPr/>
                    <a:lstStyle/>
                    <a:p>
                      <a:pPr algn="ctr" indent="0" marL="0">
                        <a:buNone/>
                      </a:pPr>
                      <a:r>
                        <a:rPr lang="en-US" sz="1100" dirty="0">
                          <a:solidFill>
                            <a:srgbClr val="1E3A2F"/>
                          </a:solidFill>
                        </a:rPr>
                        <a:t>Single-pair with heuristic</a:t>
                      </a:r>
                      <a:endParaRPr lang="en-US" sz="1100" dirty="0"/>
                    </a:p>
                  </a:txBody>
                  <a:tcPr marL="63500" marR="635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8D0BC"/>
                    </a:solidFill>
                  </a:tcPr>
                </a:tc>
              </a:tr>
              <a:tr h="731520">
                <a:tc>
                  <a:txBody>
                    <a:bodyPr/>
                    <a:lstStyle/>
                    <a:p>
                      <a:pPr algn="l" indent="0" marL="0">
                        <a:buNone/>
                      </a:pPr>
                      <a:r>
                        <a:rPr lang="en-US" sz="1100" b="1" dirty="0">
                          <a:solidFill>
                            <a:srgbClr val="1E3A2F"/>
                          </a:solidFill>
                        </a:rPr>
                        <a:t>Jump Point Search</a:t>
                      </a:r>
                      <a:endParaRPr lang="en-US" sz="1100" dirty="0"/>
                    </a:p>
                  </a:txBody>
                  <a:tcPr marL="63500" marR="635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C8C0A8"/>
                    </a:solidFill>
                  </a:tcPr>
                </a:tc>
                <a:tc>
                  <a:txBody>
                    <a:bodyPr/>
                    <a:lstStyle/>
                    <a:p>
                      <a:pPr algn="ctr" indent="0" marL="0">
                        <a:buNone/>
                      </a:pPr>
                      <a:r>
                        <a:rPr lang="en-US" sz="1100" dirty="0">
                          <a:solidFill>
                            <a:srgbClr val="1E3A2F"/>
                          </a:solidFill>
                        </a:rPr>
                        <a:t>O(√V)–O(V+E)</a:t>
                      </a:r>
                      <a:endParaRPr lang="en-US" sz="1100" dirty="0"/>
                    </a:p>
                  </a:txBody>
                  <a:tcPr marL="63500" marR="635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E0D8C8"/>
                    </a:solidFill>
                  </a:tcPr>
                </a:tc>
                <a:tc>
                  <a:txBody>
                    <a:bodyPr/>
                    <a:lstStyle/>
                    <a:p>
                      <a:pPr algn="ctr" indent="0" marL="0">
                        <a:buNone/>
                      </a:pPr>
                      <a:r>
                        <a:rPr lang="en-US" sz="1100" dirty="0">
                          <a:solidFill>
                            <a:srgbClr val="1E3A2F"/>
                          </a:solidFill>
                        </a:rPr>
                        <a:t>O(V)</a:t>
                      </a:r>
                      <a:endParaRPr lang="en-US" sz="1100" dirty="0"/>
                    </a:p>
                  </a:txBody>
                  <a:tcPr marL="63500" marR="635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E0D8C8"/>
                    </a:solidFill>
                  </a:tcPr>
                </a:tc>
                <a:tc>
                  <a:txBody>
                    <a:bodyPr/>
                    <a:lstStyle/>
                    <a:p>
                      <a:pPr algn="ctr" indent="0" marL="0">
                        <a:buNone/>
                      </a:pPr>
                      <a:r>
                        <a:rPr lang="en-US" sz="1100" dirty="0">
                          <a:solidFill>
                            <a:srgbClr val="1E3A2F"/>
                          </a:solidFill>
                        </a:rPr>
                        <a:t>No</a:t>
                      </a:r>
                      <a:endParaRPr lang="en-US" sz="1100" dirty="0"/>
                    </a:p>
                  </a:txBody>
                  <a:tcPr marL="63500" marR="635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E0D8C8"/>
                    </a:solidFill>
                  </a:tcPr>
                </a:tc>
                <a:tc>
                  <a:txBody>
                    <a:bodyPr/>
                    <a:lstStyle/>
                    <a:p>
                      <a:pPr algn="ctr" indent="0" marL="0">
                        <a:buNone/>
                      </a:pPr>
                      <a:r>
                        <a:rPr lang="en-US" sz="1100" dirty="0">
                          <a:solidFill>
                            <a:srgbClr val="1E3A2F"/>
                          </a:solidFill>
                        </a:rPr>
                        <a:t>Grid pathfinding, game AI</a:t>
                      </a:r>
                      <a:endParaRPr lang="en-US" sz="1100" dirty="0"/>
                    </a:p>
                  </a:txBody>
                  <a:tcPr marL="63500" marR="635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E0D8C8"/>
                    </a:solidFill>
                  </a:tcPr>
                </a:tc>
              </a:tr>
              <a:tr h="731520">
                <a:tc>
                  <a:txBody>
                    <a:bodyPr/>
                    <a:lstStyle/>
                    <a:p>
                      <a:pPr algn="l" indent="0" marL="0">
                        <a:buNone/>
                      </a:pPr>
                      <a:r>
                        <a:rPr lang="en-US" sz="1100" b="1" dirty="0">
                          <a:solidFill>
                            <a:srgbClr val="1E3A2F"/>
                          </a:solidFill>
                        </a:rPr>
                        <a:t>Contraction Hierarchies</a:t>
                      </a:r>
                      <a:endParaRPr lang="en-US" sz="1100" dirty="0"/>
                    </a:p>
                  </a:txBody>
                  <a:tcPr marL="63500" marR="635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C8C0A8"/>
                    </a:solidFill>
                  </a:tcPr>
                </a:tc>
                <a:tc>
                  <a:txBody>
                    <a:bodyPr/>
                    <a:lstStyle/>
                    <a:p>
                      <a:pPr algn="ctr" indent="0" marL="0">
                        <a:buNone/>
                      </a:pPr>
                      <a:r>
                        <a:rPr lang="en-US" sz="1100" dirty="0">
                          <a:solidFill>
                            <a:srgbClr val="1E3A2F"/>
                          </a:solidFill>
                        </a:rPr>
                        <a:t>O(log V) query*</a:t>
                      </a:r>
                      <a:endParaRPr lang="en-US" sz="1100" dirty="0"/>
                    </a:p>
                  </a:txBody>
                  <a:tcPr marL="63500" marR="635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8D0BC"/>
                    </a:solidFill>
                  </a:tcPr>
                </a:tc>
                <a:tc>
                  <a:txBody>
                    <a:bodyPr/>
                    <a:lstStyle/>
                    <a:p>
                      <a:pPr algn="ctr" indent="0" marL="0">
                        <a:buNone/>
                      </a:pPr>
                      <a:r>
                        <a:rPr lang="en-US" sz="1100" dirty="0">
                          <a:solidFill>
                            <a:srgbClr val="1E3A2F"/>
                          </a:solidFill>
                        </a:rPr>
                        <a:t>O(V+E+S)</a:t>
                      </a:r>
                      <a:endParaRPr lang="en-US" sz="1100" dirty="0"/>
                    </a:p>
                  </a:txBody>
                  <a:tcPr marL="63500" marR="635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8D0BC"/>
                    </a:solidFill>
                  </a:tcPr>
                </a:tc>
                <a:tc>
                  <a:txBody>
                    <a:bodyPr/>
                    <a:lstStyle/>
                    <a:p>
                      <a:pPr algn="ctr" indent="0" marL="0">
                        <a:buNone/>
                      </a:pPr>
                      <a:r>
                        <a:rPr lang="en-US" sz="1100" dirty="0">
                          <a:solidFill>
                            <a:srgbClr val="1E3A2F"/>
                          </a:solidFill>
                        </a:rPr>
                        <a:t>No</a:t>
                      </a:r>
                      <a:endParaRPr lang="en-US" sz="1100" dirty="0"/>
                    </a:p>
                  </a:txBody>
                  <a:tcPr marL="63500" marR="635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8D0BC"/>
                    </a:solidFill>
                  </a:tcPr>
                </a:tc>
                <a:tc>
                  <a:txBody>
                    <a:bodyPr/>
                    <a:lstStyle/>
                    <a:p>
                      <a:pPr algn="ctr" indent="0" marL="0">
                        <a:buNone/>
                      </a:pPr>
                      <a:r>
                        <a:rPr lang="en-US" sz="1100" dirty="0">
                          <a:solidFill>
                            <a:srgbClr val="1E3A2F"/>
                          </a:solidFill>
                        </a:rPr>
                        <a:t>Large road networks, many queries</a:t>
                      </a:r>
                      <a:endParaRPr lang="en-US" sz="1100" dirty="0"/>
                    </a:p>
                  </a:txBody>
                  <a:tcPr marL="63500" marR="63500" marT="50800" marB="50800">
                    <a:lnL w="12700" cap="flat" cmpd="sng" algn="ctr">
                      <a:solidFill>
                        <a:srgbClr val="A09880"/>
                      </a:solidFill>
                      <a:prstDash val="solid"/>
                      <a:round/>
                      <a:headEnd type="none" w="med" len="med"/>
                      <a:tailEnd type="none" w="med" len="med"/>
                    </a:lnL>
                    <a:lnR w="12700" cap="flat" cmpd="sng" algn="ctr">
                      <a:solidFill>
                        <a:srgbClr val="A09880"/>
                      </a:solidFill>
                      <a:prstDash val="solid"/>
                      <a:round/>
                      <a:headEnd type="none" w="med" len="med"/>
                      <a:tailEnd type="none" w="med" len="med"/>
                    </a:lnR>
                    <a:lnT w="12700" cap="flat" cmpd="sng" algn="ctr">
                      <a:solidFill>
                        <a:srgbClr val="A09880"/>
                      </a:solidFill>
                      <a:prstDash val="solid"/>
                      <a:round/>
                      <a:headEnd type="none" w="med" len="med"/>
                      <a:tailEnd type="none" w="med" len="med"/>
                    </a:lnT>
                    <a:lnB w="12700" cap="flat" cmpd="sng" algn="ctr">
                      <a:solidFill>
                        <a:srgbClr val="A09880"/>
                      </a:solidFill>
                      <a:prstDash val="solid"/>
                      <a:round/>
                      <a:headEnd type="none" w="med" len="med"/>
                      <a:tailEnd type="none" w="med" len="med"/>
                    </a:lnB>
                    <a:solidFill>
                      <a:srgbClr val="D8D0BC"/>
                    </a:solidFill>
                  </a:tcPr>
                </a:tc>
              </a:tr>
            </a:tbl>
          </a:graphicData>
        </a:graphic>
      </p:graphicFrame>
      <p:sp>
        <p:nvSpPr>
          <p:cNvPr id="8" name="Text 5"/>
          <p:cNvSpPr/>
          <p:nvPr/>
        </p:nvSpPr>
        <p:spPr>
          <a:xfrm>
            <a:off x="320040" y="4681728"/>
            <a:ext cx="8503920" cy="228600"/>
          </a:xfrm>
          <a:prstGeom prst="rect">
            <a:avLst/>
          </a:prstGeom>
          <a:noFill/>
          <a:ln/>
        </p:spPr>
        <p:txBody>
          <a:bodyPr wrap="square" lIns="0" tIns="0" rIns="0" bIns="0" rtlCol="0" anchor="ctr"/>
          <a:lstStyle/>
          <a:p>
            <a:pPr indent="0" marL="0">
              <a:buNone/>
            </a:pPr>
            <a:r>
              <a:rPr lang="en-US" sz="900" dirty="0">
                <a:solidFill>
                  <a:srgbClr val="5A5040"/>
                </a:solidFill>
                <a:latin typeface="Calibri" pitchFamily="34" charset="0"/>
                <a:ea typeface="Calibri" pitchFamily="34" charset="-122"/>
                <a:cs typeface="Calibri" pitchFamily="34" charset="-120"/>
              </a:rPr>
              <a:t>* After preprocessing phase O((V+E) log V)  ·  S = number of shortcut edges added</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EAD6"/>
        </a:solidFill>
      </p:bgPr>
    </p:bg>
    <p:spTree>
      <p:nvGrpSpPr>
        <p:cNvPr id="1" name=""/>
        <p:cNvGrpSpPr/>
        <p:nvPr/>
      </p:nvGrpSpPr>
      <p:grpSpPr>
        <a:xfrm>
          <a:off x="0" y="0"/>
          <a:ext cx="0" cy="0"/>
          <a:chOff x="0" y="0"/>
          <a:chExt cx="0" cy="0"/>
        </a:xfrm>
      </p:grpSpPr>
      <p:sp>
        <p:nvSpPr>
          <p:cNvPr id="2" name="Text 0"/>
          <p:cNvSpPr/>
          <p:nvPr/>
        </p:nvSpPr>
        <p:spPr>
          <a:xfrm>
            <a:off x="109728" y="73152"/>
            <a:ext cx="1097280" cy="182880"/>
          </a:xfrm>
          <a:prstGeom prst="rect">
            <a:avLst/>
          </a:prstGeom>
          <a:noFill/>
          <a:ln/>
        </p:spPr>
        <p:txBody>
          <a:bodyPr wrap="square" lIns="0" tIns="0" rIns="0" bIns="0" rtlCol="0" anchor="ctr"/>
          <a:lstStyle/>
          <a:p>
            <a:pPr indent="0" marL="0">
              <a:buNone/>
            </a:pPr>
            <a:r>
              <a:rPr lang="en-US" sz="1100" b="1" spc="200" kern="0" dirty="0">
                <a:solidFill>
                  <a:srgbClr val="8A8070"/>
                </a:solidFill>
                <a:latin typeface="Calibri" pitchFamily="34" charset="0"/>
                <a:ea typeface="Calibri" pitchFamily="34" charset="-122"/>
                <a:cs typeface="Calibri" pitchFamily="34" charset="-120"/>
              </a:rPr>
              <a:t>\\\\\\</a:t>
            </a:r>
            <a:endParaRPr lang="en-US" sz="1100" dirty="0"/>
          </a:p>
        </p:txBody>
      </p:sp>
      <p:sp>
        <p:nvSpPr>
          <p:cNvPr id="3" name="Text 1"/>
          <p:cNvSpPr/>
          <p:nvPr/>
        </p:nvSpPr>
        <p:spPr>
          <a:xfrm>
            <a:off x="109728" y="274320"/>
            <a:ext cx="1097280" cy="182880"/>
          </a:xfrm>
          <a:prstGeom prst="rect">
            <a:avLst/>
          </a:prstGeom>
          <a:noFill/>
          <a:ln/>
        </p:spPr>
        <p:txBody>
          <a:bodyPr wrap="square" lIns="0" tIns="0" rIns="0" bIns="0" rtlCol="0" anchor="ctr"/>
          <a:lstStyle/>
          <a:p>
            <a:pPr indent="0" marL="0">
              <a:buNone/>
            </a:pPr>
            <a:r>
              <a:rPr lang="en-US" sz="1100" b="1" spc="200" kern="0" dirty="0">
                <a:solidFill>
                  <a:srgbClr val="8A8070"/>
                </a:solidFill>
                <a:latin typeface="Calibri" pitchFamily="34" charset="0"/>
                <a:ea typeface="Calibri" pitchFamily="34" charset="-122"/>
                <a:cs typeface="Calibri" pitchFamily="34" charset="-120"/>
              </a:rPr>
              <a:t>\\\\\\</a:t>
            </a:r>
            <a:endParaRPr lang="en-US" sz="1100" dirty="0"/>
          </a:p>
        </p:txBody>
      </p:sp>
      <p:sp>
        <p:nvSpPr>
          <p:cNvPr id="4" name="Text 2"/>
          <p:cNvSpPr/>
          <p:nvPr/>
        </p:nvSpPr>
        <p:spPr>
          <a:xfrm>
            <a:off x="7772400" y="4773168"/>
            <a:ext cx="1371600" cy="182880"/>
          </a:xfrm>
          <a:prstGeom prst="rect">
            <a:avLst/>
          </a:prstGeom>
          <a:noFill/>
          <a:ln/>
        </p:spPr>
        <p:txBody>
          <a:bodyPr wrap="square" lIns="0" tIns="0" rIns="0" bIns="0" rtlCol="0" anchor="ctr"/>
          <a:lstStyle/>
          <a:p>
            <a:pPr indent="0" marL="0">
              <a:buNone/>
            </a:pPr>
            <a:r>
              <a:rPr lang="en-US" sz="900" spc="300" kern="0" dirty="0">
                <a:solidFill>
                  <a:srgbClr val="8A8070"/>
                </a:solidFill>
                <a:latin typeface="Calibri" pitchFamily="34" charset="0"/>
                <a:ea typeface="Calibri" pitchFamily="34" charset="-122"/>
                <a:cs typeface="Calibri" pitchFamily="34" charset="-120"/>
              </a:rPr>
              <a:t>× × × ×</a:t>
            </a:r>
            <a:endParaRPr lang="en-US" sz="900" dirty="0"/>
          </a:p>
        </p:txBody>
      </p:sp>
      <p:sp>
        <p:nvSpPr>
          <p:cNvPr id="5" name="Text 3"/>
          <p:cNvSpPr/>
          <p:nvPr/>
        </p:nvSpPr>
        <p:spPr>
          <a:xfrm>
            <a:off x="7772400" y="4956048"/>
            <a:ext cx="1371600" cy="182880"/>
          </a:xfrm>
          <a:prstGeom prst="rect">
            <a:avLst/>
          </a:prstGeom>
          <a:noFill/>
          <a:ln/>
        </p:spPr>
        <p:txBody>
          <a:bodyPr wrap="square" lIns="0" tIns="0" rIns="0" bIns="0" rtlCol="0" anchor="ctr"/>
          <a:lstStyle/>
          <a:p>
            <a:pPr indent="0" marL="0">
              <a:buNone/>
            </a:pPr>
            <a:r>
              <a:rPr lang="en-US" sz="900" spc="300" kern="0" dirty="0">
                <a:solidFill>
                  <a:srgbClr val="8A8070"/>
                </a:solidFill>
                <a:latin typeface="Calibri" pitchFamily="34" charset="0"/>
                <a:ea typeface="Calibri" pitchFamily="34" charset="-122"/>
                <a:cs typeface="Calibri" pitchFamily="34" charset="-120"/>
              </a:rPr>
              <a:t>× × × ×</a:t>
            </a:r>
            <a:endParaRPr lang="en-US" sz="900" dirty="0"/>
          </a:p>
        </p:txBody>
      </p:sp>
      <p:sp>
        <p:nvSpPr>
          <p:cNvPr id="6" name="Text 4"/>
          <p:cNvSpPr/>
          <p:nvPr/>
        </p:nvSpPr>
        <p:spPr>
          <a:xfrm>
            <a:off x="457200" y="201168"/>
            <a:ext cx="8229600" cy="594360"/>
          </a:xfrm>
          <a:prstGeom prst="rect">
            <a:avLst/>
          </a:prstGeom>
          <a:noFill/>
          <a:ln/>
        </p:spPr>
        <p:txBody>
          <a:bodyPr wrap="square" lIns="0" tIns="0" rIns="0" bIns="0" rtlCol="0" anchor="ctr"/>
          <a:lstStyle/>
          <a:p>
            <a:pPr algn="ctr" indent="0" marL="0">
              <a:buNone/>
            </a:pPr>
            <a:r>
              <a:rPr lang="en-US" sz="2600" b="1" dirty="0">
                <a:solidFill>
                  <a:srgbClr val="1E3A2F"/>
                </a:solidFill>
                <a:latin typeface="Calibri" pitchFamily="34" charset="0"/>
                <a:ea typeface="Calibri" pitchFamily="34" charset="-122"/>
                <a:cs typeface="Calibri" pitchFamily="34" charset="-120"/>
              </a:rPr>
              <a:t>EMPIRICAL BENCHMARK RESULTS</a:t>
            </a:r>
            <a:endParaRPr lang="en-US" sz="2600" dirty="0"/>
          </a:p>
        </p:txBody>
      </p:sp>
      <p:graphicFrame>
        <p:nvGraphicFramePr>
          <p:cNvPr id="7" name="Chart 0" descr=""/>
          <p:cNvGraphicFramePr/>
          <p:nvPr/>
        </p:nvGraphicFramePr>
        <p:xfrm>
          <a:off x="320040" y="868680"/>
          <a:ext cx="8503920" cy="37947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EAD6"/>
        </a:solidFill>
      </p:bgPr>
    </p:bg>
    <p:spTree>
      <p:nvGrpSpPr>
        <p:cNvPr id="1" name=""/>
        <p:cNvGrpSpPr/>
        <p:nvPr/>
      </p:nvGrpSpPr>
      <p:grpSpPr>
        <a:xfrm>
          <a:off x="0" y="0"/>
          <a:ext cx="0" cy="0"/>
          <a:chOff x="0" y="0"/>
          <a:chExt cx="0" cy="0"/>
        </a:xfrm>
      </p:grpSpPr>
      <p:sp>
        <p:nvSpPr>
          <p:cNvPr id="2" name="Text 0"/>
          <p:cNvSpPr/>
          <p:nvPr/>
        </p:nvSpPr>
        <p:spPr>
          <a:xfrm>
            <a:off x="109728" y="73152"/>
            <a:ext cx="1097280" cy="182880"/>
          </a:xfrm>
          <a:prstGeom prst="rect">
            <a:avLst/>
          </a:prstGeom>
          <a:noFill/>
          <a:ln/>
        </p:spPr>
        <p:txBody>
          <a:bodyPr wrap="square" lIns="0" tIns="0" rIns="0" bIns="0" rtlCol="0" anchor="ctr"/>
          <a:lstStyle/>
          <a:p>
            <a:pPr indent="0" marL="0">
              <a:buNone/>
            </a:pPr>
            <a:r>
              <a:rPr lang="en-US" sz="1100" b="1" spc="200" kern="0" dirty="0">
                <a:solidFill>
                  <a:srgbClr val="8A8070"/>
                </a:solidFill>
                <a:latin typeface="Calibri" pitchFamily="34" charset="0"/>
                <a:ea typeface="Calibri" pitchFamily="34" charset="-122"/>
                <a:cs typeface="Calibri" pitchFamily="34" charset="-120"/>
              </a:rPr>
              <a:t>\\\\\\</a:t>
            </a:r>
            <a:endParaRPr lang="en-US" sz="1100" dirty="0"/>
          </a:p>
        </p:txBody>
      </p:sp>
      <p:sp>
        <p:nvSpPr>
          <p:cNvPr id="3" name="Text 1"/>
          <p:cNvSpPr/>
          <p:nvPr/>
        </p:nvSpPr>
        <p:spPr>
          <a:xfrm>
            <a:off x="109728" y="274320"/>
            <a:ext cx="1097280" cy="182880"/>
          </a:xfrm>
          <a:prstGeom prst="rect">
            <a:avLst/>
          </a:prstGeom>
          <a:noFill/>
          <a:ln/>
        </p:spPr>
        <p:txBody>
          <a:bodyPr wrap="square" lIns="0" tIns="0" rIns="0" bIns="0" rtlCol="0" anchor="ctr"/>
          <a:lstStyle/>
          <a:p>
            <a:pPr indent="0" marL="0">
              <a:buNone/>
            </a:pPr>
            <a:r>
              <a:rPr lang="en-US" sz="1100" b="1" spc="200" kern="0" dirty="0">
                <a:solidFill>
                  <a:srgbClr val="8A8070"/>
                </a:solidFill>
                <a:latin typeface="Calibri" pitchFamily="34" charset="0"/>
                <a:ea typeface="Calibri" pitchFamily="34" charset="-122"/>
                <a:cs typeface="Calibri" pitchFamily="34" charset="-120"/>
              </a:rPr>
              <a:t>\\\\\\</a:t>
            </a:r>
            <a:endParaRPr lang="en-US" sz="1100" dirty="0"/>
          </a:p>
        </p:txBody>
      </p:sp>
      <p:sp>
        <p:nvSpPr>
          <p:cNvPr id="4" name="Text 2"/>
          <p:cNvSpPr/>
          <p:nvPr/>
        </p:nvSpPr>
        <p:spPr>
          <a:xfrm>
            <a:off x="7772400" y="4773168"/>
            <a:ext cx="1371600" cy="182880"/>
          </a:xfrm>
          <a:prstGeom prst="rect">
            <a:avLst/>
          </a:prstGeom>
          <a:noFill/>
          <a:ln/>
        </p:spPr>
        <p:txBody>
          <a:bodyPr wrap="square" lIns="0" tIns="0" rIns="0" bIns="0" rtlCol="0" anchor="ctr"/>
          <a:lstStyle/>
          <a:p>
            <a:pPr indent="0" marL="0">
              <a:buNone/>
            </a:pPr>
            <a:r>
              <a:rPr lang="en-US" sz="900" spc="300" kern="0" dirty="0">
                <a:solidFill>
                  <a:srgbClr val="8A8070"/>
                </a:solidFill>
                <a:latin typeface="Calibri" pitchFamily="34" charset="0"/>
                <a:ea typeface="Calibri" pitchFamily="34" charset="-122"/>
                <a:cs typeface="Calibri" pitchFamily="34" charset="-120"/>
              </a:rPr>
              <a:t>× × × ×</a:t>
            </a:r>
            <a:endParaRPr lang="en-US" sz="900" dirty="0"/>
          </a:p>
        </p:txBody>
      </p:sp>
      <p:sp>
        <p:nvSpPr>
          <p:cNvPr id="5" name="Text 3"/>
          <p:cNvSpPr/>
          <p:nvPr/>
        </p:nvSpPr>
        <p:spPr>
          <a:xfrm>
            <a:off x="7772400" y="4956048"/>
            <a:ext cx="1371600" cy="182880"/>
          </a:xfrm>
          <a:prstGeom prst="rect">
            <a:avLst/>
          </a:prstGeom>
          <a:noFill/>
          <a:ln/>
        </p:spPr>
        <p:txBody>
          <a:bodyPr wrap="square" lIns="0" tIns="0" rIns="0" bIns="0" rtlCol="0" anchor="ctr"/>
          <a:lstStyle/>
          <a:p>
            <a:pPr indent="0" marL="0">
              <a:buNone/>
            </a:pPr>
            <a:r>
              <a:rPr lang="en-US" sz="900" spc="300" kern="0" dirty="0">
                <a:solidFill>
                  <a:srgbClr val="8A8070"/>
                </a:solidFill>
                <a:latin typeface="Calibri" pitchFamily="34" charset="0"/>
                <a:ea typeface="Calibri" pitchFamily="34" charset="-122"/>
                <a:cs typeface="Calibri" pitchFamily="34" charset="-120"/>
              </a:rPr>
              <a:t>× × × ×</a:t>
            </a:r>
            <a:endParaRPr lang="en-US" sz="900" dirty="0"/>
          </a:p>
        </p:txBody>
      </p:sp>
      <p:sp>
        <p:nvSpPr>
          <p:cNvPr id="6" name="Text 4"/>
          <p:cNvSpPr/>
          <p:nvPr/>
        </p:nvSpPr>
        <p:spPr>
          <a:xfrm>
            <a:off x="457200" y="201168"/>
            <a:ext cx="8229600" cy="594360"/>
          </a:xfrm>
          <a:prstGeom prst="rect">
            <a:avLst/>
          </a:prstGeom>
          <a:noFill/>
          <a:ln/>
        </p:spPr>
        <p:txBody>
          <a:bodyPr wrap="square" lIns="0" tIns="0" rIns="0" bIns="0" rtlCol="0" anchor="ctr"/>
          <a:lstStyle/>
          <a:p>
            <a:pPr algn="ctr" indent="0" marL="0">
              <a:buNone/>
            </a:pPr>
            <a:r>
              <a:rPr lang="en-US" sz="2600" b="1" dirty="0">
                <a:solidFill>
                  <a:srgbClr val="1E3A2F"/>
                </a:solidFill>
                <a:latin typeface="Calibri" pitchFamily="34" charset="0"/>
                <a:ea typeface="Calibri" pitchFamily="34" charset="-122"/>
                <a:cs typeface="Calibri" pitchFamily="34" charset="-120"/>
              </a:rPr>
              <a:t>OPERATIONS &amp; COMPARISONS</a:t>
            </a:r>
            <a:endParaRPr lang="en-US" sz="2600" dirty="0"/>
          </a:p>
        </p:txBody>
      </p:sp>
      <p:graphicFrame>
        <p:nvGraphicFramePr>
          <p:cNvPr id="7" name="Chart 0" descr=""/>
          <p:cNvGraphicFramePr/>
          <p:nvPr/>
        </p:nvGraphicFramePr>
        <p:xfrm>
          <a:off x="320040" y="868680"/>
          <a:ext cx="8503920" cy="37947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EAD6"/>
        </a:solidFill>
      </p:bgPr>
    </p:bg>
    <p:spTree>
      <p:nvGrpSpPr>
        <p:cNvPr id="1" name=""/>
        <p:cNvGrpSpPr/>
        <p:nvPr/>
      </p:nvGrpSpPr>
      <p:grpSpPr>
        <a:xfrm>
          <a:off x="0" y="0"/>
          <a:ext cx="0" cy="0"/>
          <a:chOff x="0" y="0"/>
          <a:chExt cx="0" cy="0"/>
        </a:xfrm>
      </p:grpSpPr>
      <p:sp>
        <p:nvSpPr>
          <p:cNvPr id="2" name="Text 0"/>
          <p:cNvSpPr/>
          <p:nvPr/>
        </p:nvSpPr>
        <p:spPr>
          <a:xfrm>
            <a:off x="109728" y="73152"/>
            <a:ext cx="1097280" cy="182880"/>
          </a:xfrm>
          <a:prstGeom prst="rect">
            <a:avLst/>
          </a:prstGeom>
          <a:noFill/>
          <a:ln/>
        </p:spPr>
        <p:txBody>
          <a:bodyPr wrap="square" lIns="0" tIns="0" rIns="0" bIns="0" rtlCol="0" anchor="ctr"/>
          <a:lstStyle/>
          <a:p>
            <a:pPr indent="0" marL="0">
              <a:buNone/>
            </a:pPr>
            <a:r>
              <a:rPr lang="en-US" sz="1100" b="1" spc="200" kern="0" dirty="0">
                <a:solidFill>
                  <a:srgbClr val="8A8070"/>
                </a:solidFill>
                <a:latin typeface="Calibri" pitchFamily="34" charset="0"/>
                <a:ea typeface="Calibri" pitchFamily="34" charset="-122"/>
                <a:cs typeface="Calibri" pitchFamily="34" charset="-120"/>
              </a:rPr>
              <a:t>\\\\\\</a:t>
            </a:r>
            <a:endParaRPr lang="en-US" sz="1100" dirty="0"/>
          </a:p>
        </p:txBody>
      </p:sp>
      <p:sp>
        <p:nvSpPr>
          <p:cNvPr id="3" name="Text 1"/>
          <p:cNvSpPr/>
          <p:nvPr/>
        </p:nvSpPr>
        <p:spPr>
          <a:xfrm>
            <a:off x="109728" y="274320"/>
            <a:ext cx="1097280" cy="182880"/>
          </a:xfrm>
          <a:prstGeom prst="rect">
            <a:avLst/>
          </a:prstGeom>
          <a:noFill/>
          <a:ln/>
        </p:spPr>
        <p:txBody>
          <a:bodyPr wrap="square" lIns="0" tIns="0" rIns="0" bIns="0" rtlCol="0" anchor="ctr"/>
          <a:lstStyle/>
          <a:p>
            <a:pPr indent="0" marL="0">
              <a:buNone/>
            </a:pPr>
            <a:r>
              <a:rPr lang="en-US" sz="1100" b="1" spc="200" kern="0" dirty="0">
                <a:solidFill>
                  <a:srgbClr val="8A8070"/>
                </a:solidFill>
                <a:latin typeface="Calibri" pitchFamily="34" charset="0"/>
                <a:ea typeface="Calibri" pitchFamily="34" charset="-122"/>
                <a:cs typeface="Calibri" pitchFamily="34" charset="-120"/>
              </a:rPr>
              <a:t>\\\\\\</a:t>
            </a:r>
            <a:endParaRPr lang="en-US" sz="1100" dirty="0"/>
          </a:p>
        </p:txBody>
      </p:sp>
      <p:sp>
        <p:nvSpPr>
          <p:cNvPr id="4" name="Text 2"/>
          <p:cNvSpPr/>
          <p:nvPr/>
        </p:nvSpPr>
        <p:spPr>
          <a:xfrm>
            <a:off x="7772400" y="4773168"/>
            <a:ext cx="1371600" cy="182880"/>
          </a:xfrm>
          <a:prstGeom prst="rect">
            <a:avLst/>
          </a:prstGeom>
          <a:noFill/>
          <a:ln/>
        </p:spPr>
        <p:txBody>
          <a:bodyPr wrap="square" lIns="0" tIns="0" rIns="0" bIns="0" rtlCol="0" anchor="ctr"/>
          <a:lstStyle/>
          <a:p>
            <a:pPr indent="0" marL="0">
              <a:buNone/>
            </a:pPr>
            <a:r>
              <a:rPr lang="en-US" sz="900" spc="300" kern="0" dirty="0">
                <a:solidFill>
                  <a:srgbClr val="8A8070"/>
                </a:solidFill>
                <a:latin typeface="Calibri" pitchFamily="34" charset="0"/>
                <a:ea typeface="Calibri" pitchFamily="34" charset="-122"/>
                <a:cs typeface="Calibri" pitchFamily="34" charset="-120"/>
              </a:rPr>
              <a:t>× × × ×</a:t>
            </a:r>
            <a:endParaRPr lang="en-US" sz="900" dirty="0"/>
          </a:p>
        </p:txBody>
      </p:sp>
      <p:sp>
        <p:nvSpPr>
          <p:cNvPr id="5" name="Text 3"/>
          <p:cNvSpPr/>
          <p:nvPr/>
        </p:nvSpPr>
        <p:spPr>
          <a:xfrm>
            <a:off x="7772400" y="4956048"/>
            <a:ext cx="1371600" cy="182880"/>
          </a:xfrm>
          <a:prstGeom prst="rect">
            <a:avLst/>
          </a:prstGeom>
          <a:noFill/>
          <a:ln/>
        </p:spPr>
        <p:txBody>
          <a:bodyPr wrap="square" lIns="0" tIns="0" rIns="0" bIns="0" rtlCol="0" anchor="ctr"/>
          <a:lstStyle/>
          <a:p>
            <a:pPr indent="0" marL="0">
              <a:buNone/>
            </a:pPr>
            <a:r>
              <a:rPr lang="en-US" sz="900" spc="300" kern="0" dirty="0">
                <a:solidFill>
                  <a:srgbClr val="8A8070"/>
                </a:solidFill>
                <a:latin typeface="Calibri" pitchFamily="34" charset="0"/>
                <a:ea typeface="Calibri" pitchFamily="34" charset="-122"/>
                <a:cs typeface="Calibri" pitchFamily="34" charset="-120"/>
              </a:rPr>
              <a:t>× × × ×</a:t>
            </a:r>
            <a:endParaRPr lang="en-US" sz="900" dirty="0"/>
          </a:p>
        </p:txBody>
      </p:sp>
      <p:sp>
        <p:nvSpPr>
          <p:cNvPr id="6" name="Text 4"/>
          <p:cNvSpPr/>
          <p:nvPr/>
        </p:nvSpPr>
        <p:spPr>
          <a:xfrm>
            <a:off x="457200" y="201168"/>
            <a:ext cx="8229600" cy="594360"/>
          </a:xfrm>
          <a:prstGeom prst="rect">
            <a:avLst/>
          </a:prstGeom>
          <a:noFill/>
          <a:ln/>
        </p:spPr>
        <p:txBody>
          <a:bodyPr wrap="square" lIns="0" tIns="0" rIns="0" bIns="0" rtlCol="0" anchor="ctr"/>
          <a:lstStyle/>
          <a:p>
            <a:pPr algn="ctr" indent="0" marL="0">
              <a:buNone/>
            </a:pPr>
            <a:r>
              <a:rPr lang="en-US" sz="2600" b="1" dirty="0">
                <a:solidFill>
                  <a:srgbClr val="1E3A2F"/>
                </a:solidFill>
                <a:latin typeface="Calibri" pitchFamily="34" charset="0"/>
                <a:ea typeface="Calibri" pitchFamily="34" charset="-122"/>
                <a:cs typeface="Calibri" pitchFamily="34" charset="-120"/>
              </a:rPr>
              <a:t>WHEN TO USE WHICH ALGORITHM?</a:t>
            </a:r>
            <a:endParaRPr lang="en-US" sz="2600" dirty="0"/>
          </a:p>
        </p:txBody>
      </p:sp>
      <p:sp>
        <p:nvSpPr>
          <p:cNvPr id="7" name="Shape 5"/>
          <p:cNvSpPr/>
          <p:nvPr/>
        </p:nvSpPr>
        <p:spPr>
          <a:xfrm>
            <a:off x="365760" y="868680"/>
            <a:ext cx="4023360" cy="1737360"/>
          </a:xfrm>
          <a:prstGeom prst="rect">
            <a:avLst/>
          </a:prstGeom>
          <a:solidFill>
            <a:srgbClr val="D0C8B0"/>
          </a:solidFill>
          <a:ln w="12700">
            <a:solidFill>
              <a:srgbClr val="A09880"/>
            </a:solidFill>
            <a:prstDash val="solid"/>
          </a:ln>
          <a:effectLst>
            <a:outerShdw sx="100000" sy="100000" kx="0" ky="0" algn="bl" rotWithShape="0" blurRad="63500" dist="25400" dir="8100000">
              <a:srgbClr val="000000">
                <a:alpha val="10000"/>
              </a:srgbClr>
            </a:outerShdw>
          </a:effectLst>
        </p:spPr>
      </p:sp>
      <p:sp>
        <p:nvSpPr>
          <p:cNvPr id="8" name="Shape 6"/>
          <p:cNvSpPr/>
          <p:nvPr/>
        </p:nvSpPr>
        <p:spPr>
          <a:xfrm>
            <a:off x="502920" y="1005840"/>
            <a:ext cx="457200" cy="457200"/>
          </a:xfrm>
          <a:prstGeom prst="ellipse">
            <a:avLst/>
          </a:prstGeom>
          <a:solidFill>
            <a:srgbClr val="D4A017"/>
          </a:solidFill>
          <a:ln w="12700">
            <a:solidFill>
              <a:srgbClr val="D4A017"/>
            </a:solidFill>
            <a:prstDash val="solid"/>
          </a:ln>
        </p:spPr>
      </p:sp>
      <p:sp>
        <p:nvSpPr>
          <p:cNvPr id="9" name="Text 7"/>
          <p:cNvSpPr/>
          <p:nvPr/>
        </p:nvSpPr>
        <p:spPr>
          <a:xfrm>
            <a:off x="502920" y="1005840"/>
            <a:ext cx="457200" cy="457200"/>
          </a:xfrm>
          <a:prstGeom prst="rect">
            <a:avLst/>
          </a:prstGeom>
          <a:noFill/>
          <a:ln/>
        </p:spPr>
        <p:txBody>
          <a:bodyPr wrap="square" lIns="0" tIns="0" rIns="0" bIns="0" rtlCol="0" anchor="ctr"/>
          <a:lstStyle/>
          <a:p>
            <a:pPr algn="ctr" indent="0" marL="0">
              <a:buNone/>
            </a:pPr>
            <a:r>
              <a:rPr lang="en-US" sz="1300" b="1" dirty="0">
                <a:solidFill>
                  <a:srgbClr val="1E3A2F"/>
                </a:solidFill>
              </a:rPr>
              <a:t>01</a:t>
            </a:r>
            <a:endParaRPr lang="en-US" sz="1300" dirty="0"/>
          </a:p>
        </p:txBody>
      </p:sp>
      <p:sp>
        <p:nvSpPr>
          <p:cNvPr id="10" name="Text 8"/>
          <p:cNvSpPr/>
          <p:nvPr/>
        </p:nvSpPr>
        <p:spPr>
          <a:xfrm>
            <a:off x="1051560" y="960120"/>
            <a:ext cx="3200400" cy="457200"/>
          </a:xfrm>
          <a:prstGeom prst="rect">
            <a:avLst/>
          </a:prstGeom>
          <a:noFill/>
          <a:ln/>
        </p:spPr>
        <p:txBody>
          <a:bodyPr wrap="square" lIns="0" tIns="0" rIns="0" bIns="0" rtlCol="0" anchor="t"/>
          <a:lstStyle/>
          <a:p>
            <a:pPr indent="0" marL="0">
              <a:buNone/>
            </a:pPr>
            <a:r>
              <a:rPr lang="en-US" sz="1100" b="1" dirty="0">
                <a:solidFill>
                  <a:srgbClr val="1E3A2F"/>
                </a:solidFill>
                <a:latin typeface="Calibri" pitchFamily="34" charset="0"/>
                <a:ea typeface="Calibri" pitchFamily="34" charset="-122"/>
                <a:cs typeface="Calibri" pitchFamily="34" charset="-120"/>
              </a:rPr>
              <a:t>Single-Pair Query</a:t>
            </a:r>
            <a:endParaRPr lang="en-US" sz="1100" dirty="0"/>
          </a:p>
          <a:p>
            <a:pPr indent="0" marL="0">
              <a:buNone/>
            </a:pPr>
            <a:r>
              <a:rPr lang="en-US" sz="1100" b="1" dirty="0">
                <a:solidFill>
                  <a:srgbClr val="1E3A2F"/>
                </a:solidFill>
                <a:latin typeface="Calibri" pitchFamily="34" charset="0"/>
                <a:ea typeface="Calibri" pitchFamily="34" charset="-122"/>
                <a:cs typeface="Calibri" pitchFamily="34" charset="-120"/>
              </a:rPr>
              <a:t>(General Graph)</a:t>
            </a:r>
            <a:endParaRPr lang="en-US" sz="1100" dirty="0"/>
          </a:p>
        </p:txBody>
      </p:sp>
      <p:sp>
        <p:nvSpPr>
          <p:cNvPr id="11" name="Text 9"/>
          <p:cNvSpPr/>
          <p:nvPr/>
        </p:nvSpPr>
        <p:spPr>
          <a:xfrm>
            <a:off x="502920" y="1554480"/>
            <a:ext cx="3749040" cy="274320"/>
          </a:xfrm>
          <a:prstGeom prst="rect">
            <a:avLst/>
          </a:prstGeom>
          <a:noFill/>
          <a:ln/>
        </p:spPr>
        <p:txBody>
          <a:bodyPr wrap="square" lIns="0" tIns="0" rIns="0" bIns="0" rtlCol="0" anchor="ctr"/>
          <a:lstStyle/>
          <a:p>
            <a:pPr indent="0" marL="0">
              <a:buNone/>
            </a:pPr>
            <a:r>
              <a:rPr lang="en-US" sz="1200" b="1" dirty="0">
                <a:solidFill>
                  <a:srgbClr val="1E3A2F"/>
                </a:solidFill>
                <a:latin typeface="Calibri" pitchFamily="34" charset="0"/>
                <a:ea typeface="Calibri" pitchFamily="34" charset="-122"/>
                <a:cs typeface="Calibri" pitchFamily="34" charset="-120"/>
              </a:rPr>
              <a:t>→ Bidirectional Dijkstra</a:t>
            </a:r>
            <a:endParaRPr lang="en-US" sz="1200" dirty="0"/>
          </a:p>
        </p:txBody>
      </p:sp>
      <p:sp>
        <p:nvSpPr>
          <p:cNvPr id="12" name="Text 10"/>
          <p:cNvSpPr/>
          <p:nvPr/>
        </p:nvSpPr>
        <p:spPr>
          <a:xfrm>
            <a:off x="502920" y="1874520"/>
            <a:ext cx="3749040" cy="594360"/>
          </a:xfrm>
          <a:prstGeom prst="rect">
            <a:avLst/>
          </a:prstGeom>
          <a:noFill/>
          <a:ln/>
        </p:spPr>
        <p:txBody>
          <a:bodyPr wrap="square" lIns="0" tIns="0" rIns="0" bIns="0" rtlCol="0" anchor="ctr"/>
          <a:lstStyle/>
          <a:p>
            <a:pPr indent="0" marL="0">
              <a:buNone/>
            </a:pPr>
            <a:r>
              <a:rPr lang="en-US" sz="1050" dirty="0">
                <a:solidFill>
                  <a:srgbClr val="4A4030"/>
                </a:solidFill>
                <a:latin typeface="Calibri" pitchFamily="34" charset="0"/>
                <a:ea typeface="Calibri" pitchFamily="34" charset="-122"/>
                <a:cs typeface="Calibri" pitchFamily="34" charset="-120"/>
              </a:rPr>
              <a:t>Fast, linear space, no preprocessing</a:t>
            </a:r>
            <a:endParaRPr lang="en-US" sz="1050" dirty="0"/>
          </a:p>
        </p:txBody>
      </p:sp>
      <p:sp>
        <p:nvSpPr>
          <p:cNvPr id="13" name="Shape 11"/>
          <p:cNvSpPr/>
          <p:nvPr/>
        </p:nvSpPr>
        <p:spPr>
          <a:xfrm>
            <a:off x="4663440" y="868680"/>
            <a:ext cx="4023360" cy="1737360"/>
          </a:xfrm>
          <a:prstGeom prst="rect">
            <a:avLst/>
          </a:prstGeom>
          <a:solidFill>
            <a:srgbClr val="D0C8B0"/>
          </a:solidFill>
          <a:ln w="12700">
            <a:solidFill>
              <a:srgbClr val="A09880"/>
            </a:solidFill>
            <a:prstDash val="solid"/>
          </a:ln>
          <a:effectLst>
            <a:outerShdw sx="100000" sy="100000" kx="0" ky="0" algn="bl" rotWithShape="0" blurRad="63500" dist="25400" dir="8100000">
              <a:srgbClr val="000000">
                <a:alpha val="10000"/>
              </a:srgbClr>
            </a:outerShdw>
          </a:effectLst>
        </p:spPr>
      </p:sp>
      <p:sp>
        <p:nvSpPr>
          <p:cNvPr id="14" name="Shape 12"/>
          <p:cNvSpPr/>
          <p:nvPr/>
        </p:nvSpPr>
        <p:spPr>
          <a:xfrm>
            <a:off x="4800600" y="1005840"/>
            <a:ext cx="457200" cy="457200"/>
          </a:xfrm>
          <a:prstGeom prst="ellipse">
            <a:avLst/>
          </a:prstGeom>
          <a:solidFill>
            <a:srgbClr val="D4A017"/>
          </a:solidFill>
          <a:ln w="12700">
            <a:solidFill>
              <a:srgbClr val="D4A017"/>
            </a:solidFill>
            <a:prstDash val="solid"/>
          </a:ln>
        </p:spPr>
      </p:sp>
      <p:sp>
        <p:nvSpPr>
          <p:cNvPr id="15" name="Text 13"/>
          <p:cNvSpPr/>
          <p:nvPr/>
        </p:nvSpPr>
        <p:spPr>
          <a:xfrm>
            <a:off x="4800600" y="1005840"/>
            <a:ext cx="457200" cy="457200"/>
          </a:xfrm>
          <a:prstGeom prst="rect">
            <a:avLst/>
          </a:prstGeom>
          <a:noFill/>
          <a:ln/>
        </p:spPr>
        <p:txBody>
          <a:bodyPr wrap="square" lIns="0" tIns="0" rIns="0" bIns="0" rtlCol="0" anchor="ctr"/>
          <a:lstStyle/>
          <a:p>
            <a:pPr algn="ctr" indent="0" marL="0">
              <a:buNone/>
            </a:pPr>
            <a:r>
              <a:rPr lang="en-US" sz="1300" b="1" dirty="0">
                <a:solidFill>
                  <a:srgbClr val="1E3A2F"/>
                </a:solidFill>
              </a:rPr>
              <a:t>02</a:t>
            </a:r>
            <a:endParaRPr lang="en-US" sz="1300" dirty="0"/>
          </a:p>
        </p:txBody>
      </p:sp>
      <p:sp>
        <p:nvSpPr>
          <p:cNvPr id="16" name="Text 14"/>
          <p:cNvSpPr/>
          <p:nvPr/>
        </p:nvSpPr>
        <p:spPr>
          <a:xfrm>
            <a:off x="5349240" y="960120"/>
            <a:ext cx="3200400" cy="457200"/>
          </a:xfrm>
          <a:prstGeom prst="rect">
            <a:avLst/>
          </a:prstGeom>
          <a:noFill/>
          <a:ln/>
        </p:spPr>
        <p:txBody>
          <a:bodyPr wrap="square" lIns="0" tIns="0" rIns="0" bIns="0" rtlCol="0" anchor="t"/>
          <a:lstStyle/>
          <a:p>
            <a:pPr indent="0" marL="0">
              <a:buNone/>
            </a:pPr>
            <a:r>
              <a:rPr lang="en-US" sz="1100" b="1" dirty="0">
                <a:solidFill>
                  <a:srgbClr val="1E3A2F"/>
                </a:solidFill>
                <a:latin typeface="Calibri" pitchFamily="34" charset="0"/>
                <a:ea typeface="Calibri" pitchFamily="34" charset="-122"/>
                <a:cs typeface="Calibri" pitchFamily="34" charset="-120"/>
              </a:rPr>
              <a:t>Grid / Game AI</a:t>
            </a:r>
            <a:endParaRPr lang="en-US" sz="1100" dirty="0"/>
          </a:p>
          <a:p>
            <a:pPr indent="0" marL="0">
              <a:buNone/>
            </a:pPr>
            <a:r>
              <a:rPr lang="en-US" sz="1100" b="1" dirty="0">
                <a:solidFill>
                  <a:srgbClr val="1E3A2F"/>
                </a:solidFill>
                <a:latin typeface="Calibri" pitchFamily="34" charset="0"/>
                <a:ea typeface="Calibri" pitchFamily="34" charset="-122"/>
                <a:cs typeface="Calibri" pitchFamily="34" charset="-120"/>
              </a:rPr>
              <a:t>Pathfinding</a:t>
            </a:r>
            <a:endParaRPr lang="en-US" sz="1100" dirty="0"/>
          </a:p>
        </p:txBody>
      </p:sp>
      <p:sp>
        <p:nvSpPr>
          <p:cNvPr id="17" name="Text 15"/>
          <p:cNvSpPr/>
          <p:nvPr/>
        </p:nvSpPr>
        <p:spPr>
          <a:xfrm>
            <a:off x="4800600" y="1554480"/>
            <a:ext cx="3749040" cy="274320"/>
          </a:xfrm>
          <a:prstGeom prst="rect">
            <a:avLst/>
          </a:prstGeom>
          <a:noFill/>
          <a:ln/>
        </p:spPr>
        <p:txBody>
          <a:bodyPr wrap="square" lIns="0" tIns="0" rIns="0" bIns="0" rtlCol="0" anchor="ctr"/>
          <a:lstStyle/>
          <a:p>
            <a:pPr indent="0" marL="0">
              <a:buNone/>
            </a:pPr>
            <a:r>
              <a:rPr lang="en-US" sz="1200" b="1" dirty="0">
                <a:solidFill>
                  <a:srgbClr val="1E3A2F"/>
                </a:solidFill>
                <a:latin typeface="Calibri" pitchFamily="34" charset="0"/>
                <a:ea typeface="Calibri" pitchFamily="34" charset="-122"/>
                <a:cs typeface="Calibri" pitchFamily="34" charset="-120"/>
              </a:rPr>
              <a:t>→ Jump Point Search</a:t>
            </a:r>
            <a:endParaRPr lang="en-US" sz="1200" dirty="0"/>
          </a:p>
        </p:txBody>
      </p:sp>
      <p:sp>
        <p:nvSpPr>
          <p:cNvPr id="18" name="Text 16"/>
          <p:cNvSpPr/>
          <p:nvPr/>
        </p:nvSpPr>
        <p:spPr>
          <a:xfrm>
            <a:off x="4800600" y="1874520"/>
            <a:ext cx="3749040" cy="594360"/>
          </a:xfrm>
          <a:prstGeom prst="rect">
            <a:avLst/>
          </a:prstGeom>
          <a:noFill/>
          <a:ln/>
        </p:spPr>
        <p:txBody>
          <a:bodyPr wrap="square" lIns="0" tIns="0" rIns="0" bIns="0" rtlCol="0" anchor="ctr"/>
          <a:lstStyle/>
          <a:p>
            <a:pPr indent="0" marL="0">
              <a:buNone/>
            </a:pPr>
            <a:r>
              <a:rPr lang="en-US" sz="1050" dirty="0">
                <a:solidFill>
                  <a:srgbClr val="4A4030"/>
                </a:solidFill>
                <a:latin typeface="Calibri" pitchFamily="34" charset="0"/>
                <a:ea typeface="Calibri" pitchFamily="34" charset="-122"/>
                <a:cs typeface="Calibri" pitchFamily="34" charset="-120"/>
              </a:rPr>
              <a:t>10–40× faster than A* on uniform grids</a:t>
            </a:r>
            <a:endParaRPr lang="en-US" sz="1050" dirty="0"/>
          </a:p>
        </p:txBody>
      </p:sp>
      <p:sp>
        <p:nvSpPr>
          <p:cNvPr id="19" name="Shape 17"/>
          <p:cNvSpPr/>
          <p:nvPr/>
        </p:nvSpPr>
        <p:spPr>
          <a:xfrm>
            <a:off x="365760" y="2788920"/>
            <a:ext cx="4023360" cy="1737360"/>
          </a:xfrm>
          <a:prstGeom prst="rect">
            <a:avLst/>
          </a:prstGeom>
          <a:solidFill>
            <a:srgbClr val="D0C8B0"/>
          </a:solidFill>
          <a:ln w="12700">
            <a:solidFill>
              <a:srgbClr val="A09880"/>
            </a:solidFill>
            <a:prstDash val="solid"/>
          </a:ln>
          <a:effectLst>
            <a:outerShdw sx="100000" sy="100000" kx="0" ky="0" algn="bl" rotWithShape="0" blurRad="63500" dist="25400" dir="8100000">
              <a:srgbClr val="000000">
                <a:alpha val="10000"/>
              </a:srgbClr>
            </a:outerShdw>
          </a:effectLst>
        </p:spPr>
      </p:sp>
      <p:sp>
        <p:nvSpPr>
          <p:cNvPr id="20" name="Shape 18"/>
          <p:cNvSpPr/>
          <p:nvPr/>
        </p:nvSpPr>
        <p:spPr>
          <a:xfrm>
            <a:off x="502920" y="2926080"/>
            <a:ext cx="457200" cy="457200"/>
          </a:xfrm>
          <a:prstGeom prst="ellipse">
            <a:avLst/>
          </a:prstGeom>
          <a:solidFill>
            <a:srgbClr val="D4A017"/>
          </a:solidFill>
          <a:ln w="12700">
            <a:solidFill>
              <a:srgbClr val="D4A017"/>
            </a:solidFill>
            <a:prstDash val="solid"/>
          </a:ln>
        </p:spPr>
      </p:sp>
      <p:sp>
        <p:nvSpPr>
          <p:cNvPr id="21" name="Text 19"/>
          <p:cNvSpPr/>
          <p:nvPr/>
        </p:nvSpPr>
        <p:spPr>
          <a:xfrm>
            <a:off x="502920" y="2926080"/>
            <a:ext cx="457200" cy="457200"/>
          </a:xfrm>
          <a:prstGeom prst="rect">
            <a:avLst/>
          </a:prstGeom>
          <a:noFill/>
          <a:ln/>
        </p:spPr>
        <p:txBody>
          <a:bodyPr wrap="square" lIns="0" tIns="0" rIns="0" bIns="0" rtlCol="0" anchor="ctr"/>
          <a:lstStyle/>
          <a:p>
            <a:pPr algn="ctr" indent="0" marL="0">
              <a:buNone/>
            </a:pPr>
            <a:r>
              <a:rPr lang="en-US" sz="1300" b="1" dirty="0">
                <a:solidFill>
                  <a:srgbClr val="1E3A2F"/>
                </a:solidFill>
              </a:rPr>
              <a:t>03</a:t>
            </a:r>
            <a:endParaRPr lang="en-US" sz="1300" dirty="0"/>
          </a:p>
        </p:txBody>
      </p:sp>
      <p:sp>
        <p:nvSpPr>
          <p:cNvPr id="22" name="Text 20"/>
          <p:cNvSpPr/>
          <p:nvPr/>
        </p:nvSpPr>
        <p:spPr>
          <a:xfrm>
            <a:off x="1051560" y="2880360"/>
            <a:ext cx="3200400" cy="457200"/>
          </a:xfrm>
          <a:prstGeom prst="rect">
            <a:avLst/>
          </a:prstGeom>
          <a:noFill/>
          <a:ln/>
        </p:spPr>
        <p:txBody>
          <a:bodyPr wrap="square" lIns="0" tIns="0" rIns="0" bIns="0" rtlCol="0" anchor="t"/>
          <a:lstStyle/>
          <a:p>
            <a:pPr indent="0" marL="0">
              <a:buNone/>
            </a:pPr>
            <a:r>
              <a:rPr lang="en-US" sz="1100" b="1" dirty="0">
                <a:solidFill>
                  <a:srgbClr val="1E3A2F"/>
                </a:solidFill>
                <a:latin typeface="Calibri" pitchFamily="34" charset="0"/>
                <a:ea typeface="Calibri" pitchFamily="34" charset="-122"/>
                <a:cs typeface="Calibri" pitchFamily="34" charset="-120"/>
              </a:rPr>
              <a:t>With Spatial</a:t>
            </a:r>
            <a:endParaRPr lang="en-US" sz="1100" dirty="0"/>
          </a:p>
          <a:p>
            <a:pPr indent="0" marL="0">
              <a:buNone/>
            </a:pPr>
            <a:r>
              <a:rPr lang="en-US" sz="1100" b="1" dirty="0">
                <a:solidFill>
                  <a:srgbClr val="1E3A2F"/>
                </a:solidFill>
                <a:latin typeface="Calibri" pitchFamily="34" charset="0"/>
                <a:ea typeface="Calibri" pitchFamily="34" charset="-122"/>
                <a:cs typeface="Calibri" pitchFamily="34" charset="-120"/>
              </a:rPr>
              <a:t>Heuristic Available</a:t>
            </a:r>
            <a:endParaRPr lang="en-US" sz="1100" dirty="0"/>
          </a:p>
        </p:txBody>
      </p:sp>
      <p:sp>
        <p:nvSpPr>
          <p:cNvPr id="23" name="Text 21"/>
          <p:cNvSpPr/>
          <p:nvPr/>
        </p:nvSpPr>
        <p:spPr>
          <a:xfrm>
            <a:off x="502920" y="3474720"/>
            <a:ext cx="3749040" cy="274320"/>
          </a:xfrm>
          <a:prstGeom prst="rect">
            <a:avLst/>
          </a:prstGeom>
          <a:noFill/>
          <a:ln/>
        </p:spPr>
        <p:txBody>
          <a:bodyPr wrap="square" lIns="0" tIns="0" rIns="0" bIns="0" rtlCol="0" anchor="ctr"/>
          <a:lstStyle/>
          <a:p>
            <a:pPr indent="0" marL="0">
              <a:buNone/>
            </a:pPr>
            <a:r>
              <a:rPr lang="en-US" sz="1200" b="1" dirty="0">
                <a:solidFill>
                  <a:srgbClr val="1E3A2F"/>
                </a:solidFill>
                <a:latin typeface="Calibri" pitchFamily="34" charset="0"/>
                <a:ea typeface="Calibri" pitchFamily="34" charset="-122"/>
                <a:cs typeface="Calibri" pitchFamily="34" charset="-120"/>
              </a:rPr>
              <a:t>→ A* Search</a:t>
            </a:r>
            <a:endParaRPr lang="en-US" sz="1200" dirty="0"/>
          </a:p>
        </p:txBody>
      </p:sp>
      <p:sp>
        <p:nvSpPr>
          <p:cNvPr id="24" name="Text 22"/>
          <p:cNvSpPr/>
          <p:nvPr/>
        </p:nvSpPr>
        <p:spPr>
          <a:xfrm>
            <a:off x="502920" y="3794760"/>
            <a:ext cx="3749040" cy="594360"/>
          </a:xfrm>
          <a:prstGeom prst="rect">
            <a:avLst/>
          </a:prstGeom>
          <a:noFill/>
          <a:ln/>
        </p:spPr>
        <p:txBody>
          <a:bodyPr wrap="square" lIns="0" tIns="0" rIns="0" bIns="0" rtlCol="0" anchor="ctr"/>
          <a:lstStyle/>
          <a:p>
            <a:pPr indent="0" marL="0">
              <a:buNone/>
            </a:pPr>
            <a:r>
              <a:rPr lang="en-US" sz="1050" dirty="0">
                <a:solidFill>
                  <a:srgbClr val="4A4030"/>
                </a:solidFill>
                <a:latin typeface="Calibri" pitchFamily="34" charset="0"/>
                <a:ea typeface="Calibri" pitchFamily="34" charset="-122"/>
                <a:cs typeface="Calibri" pitchFamily="34" charset="-120"/>
              </a:rPr>
              <a:t>Guides search, reduces explored nodes</a:t>
            </a:r>
            <a:endParaRPr lang="en-US" sz="1050" dirty="0"/>
          </a:p>
        </p:txBody>
      </p:sp>
      <p:sp>
        <p:nvSpPr>
          <p:cNvPr id="25" name="Shape 23"/>
          <p:cNvSpPr/>
          <p:nvPr/>
        </p:nvSpPr>
        <p:spPr>
          <a:xfrm>
            <a:off x="4663440" y="2788920"/>
            <a:ext cx="4023360" cy="1737360"/>
          </a:xfrm>
          <a:prstGeom prst="rect">
            <a:avLst/>
          </a:prstGeom>
          <a:solidFill>
            <a:srgbClr val="D0C8B0"/>
          </a:solidFill>
          <a:ln w="12700">
            <a:solidFill>
              <a:srgbClr val="A09880"/>
            </a:solidFill>
            <a:prstDash val="solid"/>
          </a:ln>
          <a:effectLst>
            <a:outerShdw sx="100000" sy="100000" kx="0" ky="0" algn="bl" rotWithShape="0" blurRad="63500" dist="25400" dir="8100000">
              <a:srgbClr val="000000">
                <a:alpha val="10000"/>
              </a:srgbClr>
            </a:outerShdw>
          </a:effectLst>
        </p:spPr>
      </p:sp>
      <p:sp>
        <p:nvSpPr>
          <p:cNvPr id="26" name="Shape 24"/>
          <p:cNvSpPr/>
          <p:nvPr/>
        </p:nvSpPr>
        <p:spPr>
          <a:xfrm>
            <a:off x="4800600" y="2926080"/>
            <a:ext cx="457200" cy="457200"/>
          </a:xfrm>
          <a:prstGeom prst="ellipse">
            <a:avLst/>
          </a:prstGeom>
          <a:solidFill>
            <a:srgbClr val="D4A017"/>
          </a:solidFill>
          <a:ln w="12700">
            <a:solidFill>
              <a:srgbClr val="D4A017"/>
            </a:solidFill>
            <a:prstDash val="solid"/>
          </a:ln>
        </p:spPr>
      </p:sp>
      <p:sp>
        <p:nvSpPr>
          <p:cNvPr id="27" name="Text 25"/>
          <p:cNvSpPr/>
          <p:nvPr/>
        </p:nvSpPr>
        <p:spPr>
          <a:xfrm>
            <a:off x="4800600" y="2926080"/>
            <a:ext cx="457200" cy="457200"/>
          </a:xfrm>
          <a:prstGeom prst="rect">
            <a:avLst/>
          </a:prstGeom>
          <a:noFill/>
          <a:ln/>
        </p:spPr>
        <p:txBody>
          <a:bodyPr wrap="square" lIns="0" tIns="0" rIns="0" bIns="0" rtlCol="0" anchor="ctr"/>
          <a:lstStyle/>
          <a:p>
            <a:pPr algn="ctr" indent="0" marL="0">
              <a:buNone/>
            </a:pPr>
            <a:r>
              <a:rPr lang="en-US" sz="1300" b="1" dirty="0">
                <a:solidFill>
                  <a:srgbClr val="1E3A2F"/>
                </a:solidFill>
              </a:rPr>
              <a:t>04</a:t>
            </a:r>
            <a:endParaRPr lang="en-US" sz="1300" dirty="0"/>
          </a:p>
        </p:txBody>
      </p:sp>
      <p:sp>
        <p:nvSpPr>
          <p:cNvPr id="28" name="Text 26"/>
          <p:cNvSpPr/>
          <p:nvPr/>
        </p:nvSpPr>
        <p:spPr>
          <a:xfrm>
            <a:off x="5349240" y="2880360"/>
            <a:ext cx="3200400" cy="457200"/>
          </a:xfrm>
          <a:prstGeom prst="rect">
            <a:avLst/>
          </a:prstGeom>
          <a:noFill/>
          <a:ln/>
        </p:spPr>
        <p:txBody>
          <a:bodyPr wrap="square" lIns="0" tIns="0" rIns="0" bIns="0" rtlCol="0" anchor="t"/>
          <a:lstStyle/>
          <a:p>
            <a:pPr indent="0" marL="0">
              <a:buNone/>
            </a:pPr>
            <a:r>
              <a:rPr lang="en-US" sz="1100" b="1" dirty="0">
                <a:solidFill>
                  <a:srgbClr val="1E3A2F"/>
                </a:solidFill>
                <a:latin typeface="Calibri" pitchFamily="34" charset="0"/>
                <a:ea typeface="Calibri" pitchFamily="34" charset="-122"/>
                <a:cs typeface="Calibri" pitchFamily="34" charset="-120"/>
              </a:rPr>
              <a:t>Repeated Queries</a:t>
            </a:r>
            <a:endParaRPr lang="en-US" sz="1100" dirty="0"/>
          </a:p>
          <a:p>
            <a:pPr indent="0" marL="0">
              <a:buNone/>
            </a:pPr>
            <a:r>
              <a:rPr lang="en-US" sz="1100" b="1" dirty="0">
                <a:solidFill>
                  <a:srgbClr val="1E3A2F"/>
                </a:solidFill>
                <a:latin typeface="Calibri" pitchFamily="34" charset="0"/>
                <a:ea typeface="Calibri" pitchFamily="34" charset="-122"/>
                <a:cs typeface="Calibri" pitchFamily="34" charset="-120"/>
              </a:rPr>
              <a:t>(Road Networks)</a:t>
            </a:r>
            <a:endParaRPr lang="en-US" sz="1100" dirty="0"/>
          </a:p>
        </p:txBody>
      </p:sp>
      <p:sp>
        <p:nvSpPr>
          <p:cNvPr id="29" name="Text 27"/>
          <p:cNvSpPr/>
          <p:nvPr/>
        </p:nvSpPr>
        <p:spPr>
          <a:xfrm>
            <a:off x="4800600" y="3474720"/>
            <a:ext cx="3749040" cy="274320"/>
          </a:xfrm>
          <a:prstGeom prst="rect">
            <a:avLst/>
          </a:prstGeom>
          <a:noFill/>
          <a:ln/>
        </p:spPr>
        <p:txBody>
          <a:bodyPr wrap="square" lIns="0" tIns="0" rIns="0" bIns="0" rtlCol="0" anchor="ctr"/>
          <a:lstStyle/>
          <a:p>
            <a:pPr indent="0" marL="0">
              <a:buNone/>
            </a:pPr>
            <a:r>
              <a:rPr lang="en-US" sz="1200" b="1" dirty="0">
                <a:solidFill>
                  <a:srgbClr val="1E3A2F"/>
                </a:solidFill>
                <a:latin typeface="Calibri" pitchFamily="34" charset="0"/>
                <a:ea typeface="Calibri" pitchFamily="34" charset="-122"/>
                <a:cs typeface="Calibri" pitchFamily="34" charset="-120"/>
              </a:rPr>
              <a:t>→ Contraction Hierarchies</a:t>
            </a:r>
            <a:endParaRPr lang="en-US" sz="1200" dirty="0"/>
          </a:p>
        </p:txBody>
      </p:sp>
      <p:sp>
        <p:nvSpPr>
          <p:cNvPr id="30" name="Text 28"/>
          <p:cNvSpPr/>
          <p:nvPr/>
        </p:nvSpPr>
        <p:spPr>
          <a:xfrm>
            <a:off x="4800600" y="3794760"/>
            <a:ext cx="3749040" cy="594360"/>
          </a:xfrm>
          <a:prstGeom prst="rect">
            <a:avLst/>
          </a:prstGeom>
          <a:noFill/>
          <a:ln/>
        </p:spPr>
        <p:txBody>
          <a:bodyPr wrap="square" lIns="0" tIns="0" rIns="0" bIns="0" rtlCol="0" anchor="ctr"/>
          <a:lstStyle/>
          <a:p>
            <a:pPr indent="0" marL="0">
              <a:buNone/>
            </a:pPr>
            <a:r>
              <a:rPr lang="en-US" sz="1050" dirty="0">
                <a:solidFill>
                  <a:srgbClr val="4A4030"/>
                </a:solidFill>
                <a:latin typeface="Calibri" pitchFamily="34" charset="0"/>
                <a:ea typeface="Calibri" pitchFamily="34" charset="-122"/>
                <a:cs typeface="Calibri" pitchFamily="34" charset="-120"/>
              </a:rPr>
              <a:t>Near O(log V) per query after preprocessing</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E3A2F"/>
        </a:solidFill>
      </p:bgPr>
    </p:bg>
    <p:spTree>
      <p:nvGrpSpPr>
        <p:cNvPr id="1" name=""/>
        <p:cNvGrpSpPr/>
        <p:nvPr/>
      </p:nvGrpSpPr>
      <p:grpSpPr>
        <a:xfrm>
          <a:off x="0" y="0"/>
          <a:ext cx="0" cy="0"/>
          <a:chOff x="0" y="0"/>
          <a:chExt cx="0" cy="0"/>
        </a:xfrm>
      </p:grpSpPr>
      <p:sp>
        <p:nvSpPr>
          <p:cNvPr id="2" name="Text 0"/>
          <p:cNvSpPr/>
          <p:nvPr/>
        </p:nvSpPr>
        <p:spPr>
          <a:xfrm>
            <a:off x="7772400" y="7315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3" name="Text 1"/>
          <p:cNvSpPr/>
          <p:nvPr/>
        </p:nvSpPr>
        <p:spPr>
          <a:xfrm>
            <a:off x="7772400" y="256032"/>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4" name="Text 2"/>
          <p:cNvSpPr/>
          <p:nvPr/>
        </p:nvSpPr>
        <p:spPr>
          <a:xfrm>
            <a:off x="7772400" y="484632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5" name="Text 3"/>
          <p:cNvSpPr/>
          <p:nvPr/>
        </p:nvSpPr>
        <p:spPr>
          <a:xfrm>
            <a:off x="7772400" y="5029200"/>
            <a:ext cx="1371600" cy="182880"/>
          </a:xfrm>
          <a:prstGeom prst="rect">
            <a:avLst/>
          </a:prstGeom>
          <a:noFill/>
          <a:ln/>
        </p:spPr>
        <p:txBody>
          <a:bodyPr wrap="square" lIns="0" tIns="0" rIns="0" bIns="0" rtlCol="0" anchor="ctr"/>
          <a:lstStyle/>
          <a:p>
            <a:pPr indent="0" marL="0">
              <a:buNone/>
            </a:pPr>
            <a:r>
              <a:rPr lang="en-US" sz="900" spc="300" kern="0" dirty="0">
                <a:solidFill>
                  <a:srgbClr val="FFFFFF"/>
                </a:solidFill>
                <a:latin typeface="Calibri" pitchFamily="34" charset="0"/>
                <a:ea typeface="Calibri" pitchFamily="34" charset="-122"/>
                <a:cs typeface="Calibri" pitchFamily="34" charset="-120"/>
              </a:rPr>
              <a:t>× × × ×</a:t>
            </a:r>
            <a:endParaRPr lang="en-US" sz="900" dirty="0"/>
          </a:p>
        </p:txBody>
      </p:sp>
      <p:sp>
        <p:nvSpPr>
          <p:cNvPr id="6" name="Shape 4"/>
          <p:cNvSpPr/>
          <p:nvPr/>
        </p:nvSpPr>
        <p:spPr>
          <a:xfrm>
            <a:off x="457200" y="4754880"/>
            <a:ext cx="8229600" cy="0"/>
          </a:xfrm>
          <a:prstGeom prst="line">
            <a:avLst/>
          </a:prstGeom>
          <a:noFill/>
          <a:ln w="12700">
            <a:solidFill>
              <a:srgbClr val="D4A017"/>
            </a:solidFill>
            <a:prstDash val="solid"/>
          </a:ln>
        </p:spPr>
      </p:sp>
      <p:sp>
        <p:nvSpPr>
          <p:cNvPr id="7" name="Text 5"/>
          <p:cNvSpPr/>
          <p:nvPr/>
        </p:nvSpPr>
        <p:spPr>
          <a:xfrm>
            <a:off x="457200" y="201168"/>
            <a:ext cx="73152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IMPLEMENTATION NOTES &amp; KNOWN ISSUES</a:t>
            </a:r>
            <a:endParaRPr lang="en-US" sz="2600" dirty="0"/>
          </a:p>
        </p:txBody>
      </p:sp>
      <p:sp>
        <p:nvSpPr>
          <p:cNvPr id="8" name="Shape 6"/>
          <p:cNvSpPr/>
          <p:nvPr/>
        </p:nvSpPr>
        <p:spPr>
          <a:xfrm>
            <a:off x="274320" y="896112"/>
            <a:ext cx="320040" cy="320040"/>
          </a:xfrm>
          <a:prstGeom prst="ellipse">
            <a:avLst/>
          </a:prstGeom>
          <a:solidFill>
            <a:srgbClr val="4CAF50"/>
          </a:solidFill>
          <a:ln w="12700">
            <a:solidFill>
              <a:srgbClr val="4CAF50"/>
            </a:solidFill>
            <a:prstDash val="solid"/>
          </a:ln>
        </p:spPr>
      </p:sp>
      <p:sp>
        <p:nvSpPr>
          <p:cNvPr id="9" name="Text 7"/>
          <p:cNvSpPr/>
          <p:nvPr/>
        </p:nvSpPr>
        <p:spPr>
          <a:xfrm>
            <a:off x="274320" y="896112"/>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0" name="Text 8"/>
          <p:cNvSpPr/>
          <p:nvPr/>
        </p:nvSpPr>
        <p:spPr>
          <a:xfrm>
            <a:off x="713232" y="886968"/>
            <a:ext cx="2286000" cy="274320"/>
          </a:xfrm>
          <a:prstGeom prst="rect">
            <a:avLst/>
          </a:prstGeom>
          <a:noFill/>
          <a:ln/>
        </p:spPr>
        <p:txBody>
          <a:bodyPr wrap="square" lIns="0" tIns="0" rIns="0" bIns="0" rtlCol="0" anchor="ctr"/>
          <a:lstStyle/>
          <a:p>
            <a:pPr indent="0" marL="0">
              <a:buNone/>
            </a:pPr>
            <a:r>
              <a:rPr lang="en-US" sz="1200" b="1" dirty="0">
                <a:solidFill>
                  <a:srgbClr val="D4A017"/>
                </a:solidFill>
                <a:latin typeface="Calibri" pitchFamily="34" charset="0"/>
                <a:ea typeface="Calibri" pitchFamily="34" charset="-122"/>
                <a:cs typeface="Calibri" pitchFamily="34" charset="-120"/>
              </a:rPr>
              <a:t>Bidirectional Dijkstra</a:t>
            </a:r>
            <a:endParaRPr lang="en-US" sz="1200" dirty="0"/>
          </a:p>
        </p:txBody>
      </p:sp>
      <p:sp>
        <p:nvSpPr>
          <p:cNvPr id="11" name="Text 9"/>
          <p:cNvSpPr/>
          <p:nvPr/>
        </p:nvSpPr>
        <p:spPr>
          <a:xfrm>
            <a:off x="713232" y="1170432"/>
            <a:ext cx="7955280" cy="5943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Correct. Bidirectional meeting-point detection and path reconstruction implemented. Runs on undirected adjacency list.</a:t>
            </a:r>
            <a:endParaRPr lang="en-US" sz="1100" dirty="0"/>
          </a:p>
        </p:txBody>
      </p:sp>
      <p:sp>
        <p:nvSpPr>
          <p:cNvPr id="12" name="Shape 10"/>
          <p:cNvSpPr/>
          <p:nvPr/>
        </p:nvSpPr>
        <p:spPr>
          <a:xfrm>
            <a:off x="274320" y="1901952"/>
            <a:ext cx="320040" cy="320040"/>
          </a:xfrm>
          <a:prstGeom prst="ellipse">
            <a:avLst/>
          </a:prstGeom>
          <a:solidFill>
            <a:srgbClr val="4CAF50"/>
          </a:solidFill>
          <a:ln w="12700">
            <a:solidFill>
              <a:srgbClr val="4CAF50"/>
            </a:solidFill>
            <a:prstDash val="solid"/>
          </a:ln>
        </p:spPr>
      </p:sp>
      <p:sp>
        <p:nvSpPr>
          <p:cNvPr id="13" name="Text 11"/>
          <p:cNvSpPr/>
          <p:nvPr/>
        </p:nvSpPr>
        <p:spPr>
          <a:xfrm>
            <a:off x="274320" y="1901952"/>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4" name="Text 12"/>
          <p:cNvSpPr/>
          <p:nvPr/>
        </p:nvSpPr>
        <p:spPr>
          <a:xfrm>
            <a:off x="713232" y="1892808"/>
            <a:ext cx="2286000" cy="274320"/>
          </a:xfrm>
          <a:prstGeom prst="rect">
            <a:avLst/>
          </a:prstGeom>
          <a:noFill/>
          <a:ln/>
        </p:spPr>
        <p:txBody>
          <a:bodyPr wrap="square" lIns="0" tIns="0" rIns="0" bIns="0" rtlCol="0" anchor="ctr"/>
          <a:lstStyle/>
          <a:p>
            <a:pPr indent="0" marL="0">
              <a:buNone/>
            </a:pPr>
            <a:r>
              <a:rPr lang="en-US" sz="1200" b="1" dirty="0">
                <a:solidFill>
                  <a:srgbClr val="D4A017"/>
                </a:solidFill>
                <a:latin typeface="Calibri" pitchFamily="34" charset="0"/>
                <a:ea typeface="Calibri" pitchFamily="34" charset="-122"/>
                <a:cs typeface="Calibri" pitchFamily="34" charset="-120"/>
              </a:rPr>
              <a:t>A* Search</a:t>
            </a:r>
            <a:endParaRPr lang="en-US" sz="1200" dirty="0"/>
          </a:p>
        </p:txBody>
      </p:sp>
      <p:sp>
        <p:nvSpPr>
          <p:cNvPr id="15" name="Text 13"/>
          <p:cNvSpPr/>
          <p:nvPr/>
        </p:nvSpPr>
        <p:spPr>
          <a:xfrm>
            <a:off x="713232" y="2176272"/>
            <a:ext cx="7955280" cy="5943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Correct. Zero heuristic fallback degrades gracefully to Dijkstra. Custom heuristics (Manhattan, Euclidean) supported via constructor.</a:t>
            </a:r>
            <a:endParaRPr lang="en-US" sz="1100" dirty="0"/>
          </a:p>
        </p:txBody>
      </p:sp>
      <p:sp>
        <p:nvSpPr>
          <p:cNvPr id="16" name="Shape 14"/>
          <p:cNvSpPr/>
          <p:nvPr/>
        </p:nvSpPr>
        <p:spPr>
          <a:xfrm>
            <a:off x="274320" y="2907792"/>
            <a:ext cx="320040" cy="320040"/>
          </a:xfrm>
          <a:prstGeom prst="ellipse">
            <a:avLst/>
          </a:prstGeom>
          <a:solidFill>
            <a:srgbClr val="F5A623"/>
          </a:solidFill>
          <a:ln w="12700">
            <a:solidFill>
              <a:srgbClr val="F5A623"/>
            </a:solidFill>
            <a:prstDash val="solid"/>
          </a:ln>
        </p:spPr>
      </p:sp>
      <p:sp>
        <p:nvSpPr>
          <p:cNvPr id="17" name="Text 15"/>
          <p:cNvSpPr/>
          <p:nvPr/>
        </p:nvSpPr>
        <p:spPr>
          <a:xfrm>
            <a:off x="274320" y="2907792"/>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8" name="Text 16"/>
          <p:cNvSpPr/>
          <p:nvPr/>
        </p:nvSpPr>
        <p:spPr>
          <a:xfrm>
            <a:off x="713232" y="2898648"/>
            <a:ext cx="2286000" cy="274320"/>
          </a:xfrm>
          <a:prstGeom prst="rect">
            <a:avLst/>
          </a:prstGeom>
          <a:noFill/>
          <a:ln/>
        </p:spPr>
        <p:txBody>
          <a:bodyPr wrap="square" lIns="0" tIns="0" rIns="0" bIns="0" rtlCol="0" anchor="ctr"/>
          <a:lstStyle/>
          <a:p>
            <a:pPr indent="0" marL="0">
              <a:buNone/>
            </a:pPr>
            <a:r>
              <a:rPr lang="en-US" sz="1200" b="1" dirty="0">
                <a:solidFill>
                  <a:srgbClr val="D4A017"/>
                </a:solidFill>
                <a:latin typeface="Calibri" pitchFamily="34" charset="0"/>
                <a:ea typeface="Calibri" pitchFamily="34" charset="-122"/>
                <a:cs typeface="Calibri" pitchFamily="34" charset="-120"/>
              </a:rPr>
              <a:t>Jump Point Search</a:t>
            </a:r>
            <a:endParaRPr lang="en-US" sz="1200" dirty="0"/>
          </a:p>
        </p:txBody>
      </p:sp>
      <p:sp>
        <p:nvSpPr>
          <p:cNvPr id="19" name="Text 17"/>
          <p:cNvSpPr/>
          <p:nvPr/>
        </p:nvSpPr>
        <p:spPr>
          <a:xfrm>
            <a:off x="713232" y="3182112"/>
            <a:ext cx="7955280" cy="5943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Partially adapted. Forced-neighbour logic is generalised for arbitrary graphs (not grid-specific). 10–40× speedup requires true grid structure; on general graphs, savings are 2–4×.</a:t>
            </a:r>
            <a:endParaRPr lang="en-US" sz="1100" dirty="0"/>
          </a:p>
        </p:txBody>
      </p:sp>
      <p:sp>
        <p:nvSpPr>
          <p:cNvPr id="20" name="Shape 18"/>
          <p:cNvSpPr/>
          <p:nvPr/>
        </p:nvSpPr>
        <p:spPr>
          <a:xfrm>
            <a:off x="274320" y="3913632"/>
            <a:ext cx="320040" cy="320040"/>
          </a:xfrm>
          <a:prstGeom prst="ellipse">
            <a:avLst/>
          </a:prstGeom>
          <a:solidFill>
            <a:srgbClr val="F5A623"/>
          </a:solidFill>
          <a:ln w="12700">
            <a:solidFill>
              <a:srgbClr val="F5A623"/>
            </a:solidFill>
            <a:prstDash val="solid"/>
          </a:ln>
        </p:spPr>
      </p:sp>
      <p:sp>
        <p:nvSpPr>
          <p:cNvPr id="21" name="Text 19"/>
          <p:cNvSpPr/>
          <p:nvPr/>
        </p:nvSpPr>
        <p:spPr>
          <a:xfrm>
            <a:off x="274320" y="3913632"/>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2" name="Text 20"/>
          <p:cNvSpPr/>
          <p:nvPr/>
        </p:nvSpPr>
        <p:spPr>
          <a:xfrm>
            <a:off x="713232" y="3904488"/>
            <a:ext cx="2286000" cy="274320"/>
          </a:xfrm>
          <a:prstGeom prst="rect">
            <a:avLst/>
          </a:prstGeom>
          <a:noFill/>
          <a:ln/>
        </p:spPr>
        <p:txBody>
          <a:bodyPr wrap="square" lIns="0" tIns="0" rIns="0" bIns="0" rtlCol="0" anchor="ctr"/>
          <a:lstStyle/>
          <a:p>
            <a:pPr indent="0" marL="0">
              <a:buNone/>
            </a:pPr>
            <a:r>
              <a:rPr lang="en-US" sz="1200" b="1" dirty="0">
                <a:solidFill>
                  <a:srgbClr val="D4A017"/>
                </a:solidFill>
                <a:latin typeface="Calibri" pitchFamily="34" charset="0"/>
                <a:ea typeface="Calibri" pitchFamily="34" charset="-122"/>
                <a:cs typeface="Calibri" pitchFamily="34" charset="-120"/>
              </a:rPr>
              <a:t>Contraction Hierarchies</a:t>
            </a:r>
            <a:endParaRPr lang="en-US" sz="1200" dirty="0"/>
          </a:p>
        </p:txBody>
      </p:sp>
      <p:sp>
        <p:nvSpPr>
          <p:cNvPr id="23" name="Text 21"/>
          <p:cNvSpPr/>
          <p:nvPr/>
        </p:nvSpPr>
        <p:spPr>
          <a:xfrm>
            <a:off x="713232" y="4187952"/>
            <a:ext cx="7955280" cy="59436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Simplified implementation. Vertex ordering uses edge-count heuristic instead of edge-difference. Query falls back to BiDijkstra on original graph — full hierarchy-restricted query not implemented.</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3A2F"/>
        </a:solidFill>
      </p:bgPr>
    </p:bg>
    <p:spTree>
      <p:nvGrpSpPr>
        <p:cNvPr id="1" name=""/>
        <p:cNvGrpSpPr/>
        <p:nvPr/>
      </p:nvGrpSpPr>
      <p:grpSpPr>
        <a:xfrm>
          <a:off x="0" y="0"/>
          <a:ext cx="0" cy="0"/>
          <a:chOff x="0" y="0"/>
          <a:chExt cx="0" cy="0"/>
        </a:xfrm>
      </p:grpSpPr>
      <p:sp>
        <p:nvSpPr>
          <p:cNvPr id="2" name="Text 0"/>
          <p:cNvSpPr/>
          <p:nvPr/>
        </p:nvSpPr>
        <p:spPr>
          <a:xfrm>
            <a:off x="137160" y="91440"/>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3" name="Text 1"/>
          <p:cNvSpPr/>
          <p:nvPr/>
        </p:nvSpPr>
        <p:spPr>
          <a:xfrm>
            <a:off x="137160" y="292608"/>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4" name="Text 2"/>
          <p:cNvSpPr/>
          <p:nvPr/>
        </p:nvSpPr>
        <p:spPr>
          <a:xfrm>
            <a:off x="7909560" y="4754880"/>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5" name="Text 3"/>
          <p:cNvSpPr/>
          <p:nvPr/>
        </p:nvSpPr>
        <p:spPr>
          <a:xfrm>
            <a:off x="7909560" y="4956048"/>
            <a:ext cx="1097280" cy="18288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t>
            </a:r>
            <a:endParaRPr lang="en-US" sz="1100" dirty="0"/>
          </a:p>
        </p:txBody>
      </p:sp>
      <p:sp>
        <p:nvSpPr>
          <p:cNvPr id="6" name="Shape 4"/>
          <p:cNvSpPr/>
          <p:nvPr/>
        </p:nvSpPr>
        <p:spPr>
          <a:xfrm>
            <a:off x="8138160" y="-502920"/>
            <a:ext cx="1828800" cy="1828800"/>
          </a:xfrm>
          <a:prstGeom prst="ellipse">
            <a:avLst/>
          </a:prstGeom>
          <a:ln w="101600">
            <a:solidFill>
              <a:srgbClr val="FFFFFF"/>
            </a:solidFill>
            <a:prstDash val="solid"/>
          </a:ln>
        </p:spPr>
      </p:sp>
      <p:sp>
        <p:nvSpPr>
          <p:cNvPr id="7" name="Shape 5"/>
          <p:cNvSpPr/>
          <p:nvPr/>
        </p:nvSpPr>
        <p:spPr>
          <a:xfrm>
            <a:off x="-640080" y="3749040"/>
            <a:ext cx="1828800" cy="1828800"/>
          </a:xfrm>
          <a:prstGeom prst="ellipse">
            <a:avLst/>
          </a:prstGeom>
          <a:ln w="101600">
            <a:solidFill>
              <a:srgbClr val="FFFFFF"/>
            </a:solidFill>
            <a:prstDash val="solid"/>
          </a:ln>
        </p:spPr>
      </p:sp>
      <p:sp>
        <p:nvSpPr>
          <p:cNvPr id="8" name="Text 6"/>
          <p:cNvSpPr/>
          <p:nvPr/>
        </p:nvSpPr>
        <p:spPr>
          <a:xfrm>
            <a:off x="457200" y="274320"/>
            <a:ext cx="8229600" cy="594360"/>
          </a:xfrm>
          <a:prstGeom prst="rect">
            <a:avLst/>
          </a:prstGeom>
          <a:noFill/>
          <a:ln/>
        </p:spPr>
        <p:txBody>
          <a:bodyPr wrap="square" lIns="0" tIns="0" rIns="0" bIns="0" rtlCol="0" anchor="ctr"/>
          <a:lstStyle/>
          <a:p>
            <a:pPr algn="ctr" indent="0" marL="0">
              <a:buNone/>
            </a:pPr>
            <a:r>
              <a:rPr lang="en-US" sz="3200" b="1" dirty="0">
                <a:solidFill>
                  <a:srgbClr val="D4A017"/>
                </a:solidFill>
                <a:latin typeface="Arial Black" pitchFamily="34" charset="0"/>
                <a:ea typeface="Arial Black" pitchFamily="34" charset="-122"/>
                <a:cs typeface="Arial Black" pitchFamily="34" charset="-120"/>
              </a:rPr>
              <a:t>KEY TAKEAWAYS</a:t>
            </a:r>
            <a:endParaRPr lang="en-US" sz="3200" dirty="0"/>
          </a:p>
        </p:txBody>
      </p:sp>
      <p:sp>
        <p:nvSpPr>
          <p:cNvPr id="9" name="Shape 7"/>
          <p:cNvSpPr/>
          <p:nvPr/>
        </p:nvSpPr>
        <p:spPr>
          <a:xfrm>
            <a:off x="914400" y="914400"/>
            <a:ext cx="7315200" cy="0"/>
          </a:xfrm>
          <a:prstGeom prst="line">
            <a:avLst/>
          </a:prstGeom>
          <a:noFill/>
          <a:ln w="12700">
            <a:solidFill>
              <a:srgbClr val="D4A017"/>
            </a:solidFill>
            <a:prstDash val="solid"/>
          </a:ln>
        </p:spPr>
      </p:sp>
      <p:sp>
        <p:nvSpPr>
          <p:cNvPr id="10" name="Shape 8"/>
          <p:cNvSpPr/>
          <p:nvPr/>
        </p:nvSpPr>
        <p:spPr>
          <a:xfrm>
            <a:off x="365760" y="1051560"/>
            <a:ext cx="274320" cy="274320"/>
          </a:xfrm>
          <a:prstGeom prst="ellipse">
            <a:avLst/>
          </a:prstGeom>
          <a:solidFill>
            <a:srgbClr val="D4A017"/>
          </a:solidFill>
          <a:ln w="12700">
            <a:solidFill>
              <a:srgbClr val="D4A017"/>
            </a:solidFill>
            <a:prstDash val="solid"/>
          </a:ln>
        </p:spPr>
      </p:sp>
      <p:sp>
        <p:nvSpPr>
          <p:cNvPr id="11" name="Text 9"/>
          <p:cNvSpPr/>
          <p:nvPr/>
        </p:nvSpPr>
        <p:spPr>
          <a:xfrm>
            <a:off x="749808" y="1024128"/>
            <a:ext cx="1920240" cy="274320"/>
          </a:xfrm>
          <a:prstGeom prst="rect">
            <a:avLst/>
          </a:prstGeom>
          <a:noFill/>
          <a:ln/>
        </p:spPr>
        <p:txBody>
          <a:bodyPr wrap="square" lIns="0" tIns="0" rIns="0" bIns="0" rtlCol="0" anchor="ctr"/>
          <a:lstStyle/>
          <a:p>
            <a:pPr indent="0" marL="0">
              <a:buNone/>
            </a:pPr>
            <a:r>
              <a:rPr lang="en-US" sz="1150" b="1" dirty="0">
                <a:solidFill>
                  <a:srgbClr val="D4A017"/>
                </a:solidFill>
                <a:latin typeface="Calibri" pitchFamily="34" charset="0"/>
                <a:ea typeface="Calibri" pitchFamily="34" charset="-122"/>
                <a:cs typeface="Calibri" pitchFamily="34" charset="-120"/>
              </a:rPr>
              <a:t>BiDijkstra: </a:t>
            </a:r>
            <a:endParaRPr lang="en-US" sz="1150" dirty="0"/>
          </a:p>
        </p:txBody>
      </p:sp>
      <p:sp>
        <p:nvSpPr>
          <p:cNvPr id="12" name="Text 10"/>
          <p:cNvSpPr/>
          <p:nvPr/>
        </p:nvSpPr>
        <p:spPr>
          <a:xfrm>
            <a:off x="2697480" y="1024128"/>
            <a:ext cx="6035040"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Best for single-pair queries on general graphs — fast, simple, linear space.</a:t>
            </a:r>
            <a:endParaRPr lang="en-US" sz="1150" dirty="0"/>
          </a:p>
        </p:txBody>
      </p:sp>
      <p:sp>
        <p:nvSpPr>
          <p:cNvPr id="13" name="Shape 11"/>
          <p:cNvSpPr/>
          <p:nvPr/>
        </p:nvSpPr>
        <p:spPr>
          <a:xfrm>
            <a:off x="365760" y="1801368"/>
            <a:ext cx="274320" cy="274320"/>
          </a:xfrm>
          <a:prstGeom prst="ellipse">
            <a:avLst/>
          </a:prstGeom>
          <a:solidFill>
            <a:srgbClr val="D4A017"/>
          </a:solidFill>
          <a:ln w="12700">
            <a:solidFill>
              <a:srgbClr val="D4A017"/>
            </a:solidFill>
            <a:prstDash val="solid"/>
          </a:ln>
        </p:spPr>
      </p:sp>
      <p:sp>
        <p:nvSpPr>
          <p:cNvPr id="14" name="Text 12"/>
          <p:cNvSpPr/>
          <p:nvPr/>
        </p:nvSpPr>
        <p:spPr>
          <a:xfrm>
            <a:off x="749808" y="1773936"/>
            <a:ext cx="1920240" cy="274320"/>
          </a:xfrm>
          <a:prstGeom prst="rect">
            <a:avLst/>
          </a:prstGeom>
          <a:noFill/>
          <a:ln/>
        </p:spPr>
        <p:txBody>
          <a:bodyPr wrap="square" lIns="0" tIns="0" rIns="0" bIns="0" rtlCol="0" anchor="ctr"/>
          <a:lstStyle/>
          <a:p>
            <a:pPr indent="0" marL="0">
              <a:buNone/>
            </a:pPr>
            <a:r>
              <a:rPr lang="en-US" sz="1150" b="1" dirty="0">
                <a:solidFill>
                  <a:srgbClr val="D4A017"/>
                </a:solidFill>
                <a:latin typeface="Calibri" pitchFamily="34" charset="0"/>
                <a:ea typeface="Calibri" pitchFamily="34" charset="-122"/>
                <a:cs typeface="Calibri" pitchFamily="34" charset="-120"/>
              </a:rPr>
              <a:t>A* Search: </a:t>
            </a:r>
            <a:endParaRPr lang="en-US" sz="1150" dirty="0"/>
          </a:p>
        </p:txBody>
      </p:sp>
      <p:sp>
        <p:nvSpPr>
          <p:cNvPr id="15" name="Text 13"/>
          <p:cNvSpPr/>
          <p:nvPr/>
        </p:nvSpPr>
        <p:spPr>
          <a:xfrm>
            <a:off x="2697480" y="1773936"/>
            <a:ext cx="6035040"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Adds heuristic guidance — optimal with admissible h(n), fewer expansions.</a:t>
            </a:r>
            <a:endParaRPr lang="en-US" sz="1150" dirty="0"/>
          </a:p>
        </p:txBody>
      </p:sp>
      <p:sp>
        <p:nvSpPr>
          <p:cNvPr id="16" name="Shape 14"/>
          <p:cNvSpPr/>
          <p:nvPr/>
        </p:nvSpPr>
        <p:spPr>
          <a:xfrm>
            <a:off x="365760" y="2551176"/>
            <a:ext cx="274320" cy="274320"/>
          </a:xfrm>
          <a:prstGeom prst="ellipse">
            <a:avLst/>
          </a:prstGeom>
          <a:solidFill>
            <a:srgbClr val="D4A017"/>
          </a:solidFill>
          <a:ln w="12700">
            <a:solidFill>
              <a:srgbClr val="D4A017"/>
            </a:solidFill>
            <a:prstDash val="solid"/>
          </a:ln>
        </p:spPr>
      </p:sp>
      <p:sp>
        <p:nvSpPr>
          <p:cNvPr id="17" name="Text 15"/>
          <p:cNvSpPr/>
          <p:nvPr/>
        </p:nvSpPr>
        <p:spPr>
          <a:xfrm>
            <a:off x="749808" y="2523744"/>
            <a:ext cx="1920240" cy="274320"/>
          </a:xfrm>
          <a:prstGeom prst="rect">
            <a:avLst/>
          </a:prstGeom>
          <a:noFill/>
          <a:ln/>
        </p:spPr>
        <p:txBody>
          <a:bodyPr wrap="square" lIns="0" tIns="0" rIns="0" bIns="0" rtlCol="0" anchor="ctr"/>
          <a:lstStyle/>
          <a:p>
            <a:pPr indent="0" marL="0">
              <a:buNone/>
            </a:pPr>
            <a:r>
              <a:rPr lang="en-US" sz="1150" b="1" dirty="0">
                <a:solidFill>
                  <a:srgbClr val="D4A017"/>
                </a:solidFill>
                <a:latin typeface="Calibri" pitchFamily="34" charset="0"/>
                <a:ea typeface="Calibri" pitchFamily="34" charset="-122"/>
                <a:cs typeface="Calibri" pitchFamily="34" charset="-120"/>
              </a:rPr>
              <a:t>Jump Point Search: </a:t>
            </a:r>
            <a:endParaRPr lang="en-US" sz="1150" dirty="0"/>
          </a:p>
        </p:txBody>
      </p:sp>
      <p:sp>
        <p:nvSpPr>
          <p:cNvPr id="18" name="Text 16"/>
          <p:cNvSpPr/>
          <p:nvPr/>
        </p:nvSpPr>
        <p:spPr>
          <a:xfrm>
            <a:off x="2697480" y="2523744"/>
            <a:ext cx="6035040"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Ideal for grid-based pathfinding: 10–40× A* speedup by skipping symmetric paths.</a:t>
            </a:r>
            <a:endParaRPr lang="en-US" sz="1150" dirty="0"/>
          </a:p>
        </p:txBody>
      </p:sp>
      <p:sp>
        <p:nvSpPr>
          <p:cNvPr id="19" name="Shape 17"/>
          <p:cNvSpPr/>
          <p:nvPr/>
        </p:nvSpPr>
        <p:spPr>
          <a:xfrm>
            <a:off x="365760" y="3300984"/>
            <a:ext cx="274320" cy="274320"/>
          </a:xfrm>
          <a:prstGeom prst="ellipse">
            <a:avLst/>
          </a:prstGeom>
          <a:solidFill>
            <a:srgbClr val="D4A017"/>
          </a:solidFill>
          <a:ln w="12700">
            <a:solidFill>
              <a:srgbClr val="D4A017"/>
            </a:solidFill>
            <a:prstDash val="solid"/>
          </a:ln>
        </p:spPr>
      </p:sp>
      <p:sp>
        <p:nvSpPr>
          <p:cNvPr id="20" name="Text 18"/>
          <p:cNvSpPr/>
          <p:nvPr/>
        </p:nvSpPr>
        <p:spPr>
          <a:xfrm>
            <a:off x="749808" y="3273552"/>
            <a:ext cx="1920240" cy="274320"/>
          </a:xfrm>
          <a:prstGeom prst="rect">
            <a:avLst/>
          </a:prstGeom>
          <a:noFill/>
          <a:ln/>
        </p:spPr>
        <p:txBody>
          <a:bodyPr wrap="square" lIns="0" tIns="0" rIns="0" bIns="0" rtlCol="0" anchor="ctr"/>
          <a:lstStyle/>
          <a:p>
            <a:pPr indent="0" marL="0">
              <a:buNone/>
            </a:pPr>
            <a:r>
              <a:rPr lang="en-US" sz="1150" b="1" dirty="0">
                <a:solidFill>
                  <a:srgbClr val="D4A017"/>
                </a:solidFill>
                <a:latin typeface="Calibri" pitchFamily="34" charset="0"/>
                <a:ea typeface="Calibri" pitchFamily="34" charset="-122"/>
                <a:cs typeface="Calibri" pitchFamily="34" charset="-120"/>
              </a:rPr>
              <a:t>Contraction Hierarchies: </a:t>
            </a:r>
            <a:endParaRPr lang="en-US" sz="1150" dirty="0"/>
          </a:p>
        </p:txBody>
      </p:sp>
      <p:sp>
        <p:nvSpPr>
          <p:cNvPr id="21" name="Text 19"/>
          <p:cNvSpPr/>
          <p:nvPr/>
        </p:nvSpPr>
        <p:spPr>
          <a:xfrm>
            <a:off x="2697480" y="3273552"/>
            <a:ext cx="6035040"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Best for large road-network routing — negligible query time after preprocessing.</a:t>
            </a:r>
            <a:endParaRPr lang="en-US" sz="1150" dirty="0"/>
          </a:p>
        </p:txBody>
      </p:sp>
      <p:sp>
        <p:nvSpPr>
          <p:cNvPr id="22" name="Shape 20"/>
          <p:cNvSpPr/>
          <p:nvPr/>
        </p:nvSpPr>
        <p:spPr>
          <a:xfrm>
            <a:off x="365760" y="4050792"/>
            <a:ext cx="274320" cy="274320"/>
          </a:xfrm>
          <a:prstGeom prst="ellipse">
            <a:avLst/>
          </a:prstGeom>
          <a:solidFill>
            <a:srgbClr val="D4A017"/>
          </a:solidFill>
          <a:ln w="12700">
            <a:solidFill>
              <a:srgbClr val="D4A017"/>
            </a:solidFill>
            <a:prstDash val="solid"/>
          </a:ln>
        </p:spPr>
      </p:sp>
      <p:sp>
        <p:nvSpPr>
          <p:cNvPr id="23" name="Text 21"/>
          <p:cNvSpPr/>
          <p:nvPr/>
        </p:nvSpPr>
        <p:spPr>
          <a:xfrm>
            <a:off x="749808" y="4023360"/>
            <a:ext cx="1920240" cy="274320"/>
          </a:xfrm>
          <a:prstGeom prst="rect">
            <a:avLst/>
          </a:prstGeom>
          <a:noFill/>
          <a:ln/>
        </p:spPr>
        <p:txBody>
          <a:bodyPr wrap="square" lIns="0" tIns="0" rIns="0" bIns="0" rtlCol="0" anchor="ctr"/>
          <a:lstStyle/>
          <a:p>
            <a:pPr indent="0" marL="0">
              <a:buNone/>
            </a:pPr>
            <a:r>
              <a:rPr lang="en-US" sz="1150" b="1" dirty="0">
                <a:solidFill>
                  <a:srgbClr val="D4A017"/>
                </a:solidFill>
                <a:latin typeface="Calibri" pitchFamily="34" charset="0"/>
                <a:ea typeface="Calibri" pitchFamily="34" charset="-122"/>
                <a:cs typeface="Calibri" pitchFamily="34" charset="-120"/>
              </a:rPr>
              <a:t>Algorithm choice matters: </a:t>
            </a:r>
            <a:endParaRPr lang="en-US" sz="1150" dirty="0"/>
          </a:p>
        </p:txBody>
      </p:sp>
      <p:sp>
        <p:nvSpPr>
          <p:cNvPr id="24" name="Text 22"/>
          <p:cNvSpPr/>
          <p:nvPr/>
        </p:nvSpPr>
        <p:spPr>
          <a:xfrm>
            <a:off x="2697480" y="4023360"/>
            <a:ext cx="6035040"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No universally 'best' algorithm — problem structure determines the winner.</a:t>
            </a:r>
            <a:endParaRPr lang="en-US" sz="1150" dirty="0"/>
          </a:p>
        </p:txBody>
      </p:sp>
      <p:sp>
        <p:nvSpPr>
          <p:cNvPr id="25" name="Text 23"/>
          <p:cNvSpPr/>
          <p:nvPr/>
        </p:nvSpPr>
        <p:spPr>
          <a:xfrm>
            <a:off x="457200" y="4663440"/>
            <a:ext cx="8229600" cy="274320"/>
          </a:xfrm>
          <a:prstGeom prst="rect">
            <a:avLst/>
          </a:prstGeom>
          <a:noFill/>
          <a:ln/>
        </p:spPr>
        <p:txBody>
          <a:bodyPr wrap="square" lIns="0" tIns="0" rIns="0" bIns="0" rtlCol="0" anchor="ctr"/>
          <a:lstStyle/>
          <a:p>
            <a:pPr algn="ctr" indent="0" marL="0">
              <a:buNone/>
            </a:pPr>
            <a:r>
              <a:rPr lang="en-US" sz="1000" dirty="0">
                <a:solidFill>
                  <a:srgbClr val="C8C0A8"/>
                </a:solidFill>
                <a:latin typeface="Calibri" pitchFamily="34" charset="0"/>
                <a:ea typeface="Calibri" pitchFamily="34" charset="-122"/>
                <a:cs typeface="Calibri" pitchFamily="34" charset="-120"/>
              </a:rPr>
              <a:t>CSE 317 — Spring 2026  |  Arhum · Ammar · Sumaiya · Fatima · Zainab</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Shortest Path Algorithms — CSE 317</dc:title>
  <dc:subject>PptxGenJS Presentation</dc:subject>
  <dc:creator>PptxGenJS</dc:creator>
  <cp:lastModifiedBy>PptxGenJS</cp:lastModifiedBy>
  <cp:revision>1</cp:revision>
  <dcterms:created xsi:type="dcterms:W3CDTF">2026-05-11T16:36:08Z</dcterms:created>
  <dcterms:modified xsi:type="dcterms:W3CDTF">2026-05-11T16:36:08Z</dcterms:modified>
</cp:coreProperties>
</file>